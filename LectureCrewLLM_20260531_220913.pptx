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大家好，今天我为大家介绍 LectureCrewLLM，一个基于多智能体协作的讲座智能分析系统。这个项目从基础架构起步，经过七个阶段的迭代优化，目前已经通过了全部一百三十一项测试。让我们从项目概述开始，逐步深入了解这个系统的设计理念和技术实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LectureCrewLLM 定位为面向教育资源的 RAG 问答系统，支持 PDF、PPTX、DOCX 等多种讲座课件格式。它的核心能力是实现多模态文档解析、向量化存储、意图路由、智能体协作到结构化回答的完整闭环。用户可以通过 Flask Web UI 获得带有实时进度反馈的交互体验，也可以通过命令行模式进行批量操作。整个开发周期跨越七个阶段，从最初的基础架构搭建，到最终的交互增强和上传链路优化。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接下来我们看系统架构。整体采用四层架构设计：最上层是交互层，包括 Flask Web UI、CLI 命令行和 REST API 三种访问方式；第二层是路由层，核心是四级缓存检查和双路由策略——关键词规则匹配优先，LLM 仅在无法匹配时兜底；第三层是处理层，RAG 检索、Web 搜索和相似度门控在这里协同；底层是数据层，ChromaDB 向量库、缓存存储和文件系统共同支撑。这个架构的核心特征是：四级缓存最大化复用，三档门控减少不必要的 LLM 调用，双路由策略让常见问题零成本路由。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系统中有三个核心智能体协同工作。第一个是意图路由器，温度设为零点一，仅消耗约五十个 token，负责将用户问题分类为讲座查询、网络搜索、混合模式或未知类型。它优先使用规则关键词匹配，只有在无法匹配时才调用 LLM。第二个是相关性验证员，判断 RAG 检索结果是否语义相关——它只在相似度处于零点五五到零点八二之间的边界案例时触发，通过区分关键词重叠和真正语义相关来保证答案质量。第三个是讲座分析师，温度设为零点七，综合 RAG 和搜索结果生成结构化的中文 Markdown 回答。编排模式从最初的分层模式迁移到顺序模式后，每次查询的 LLM 调用从五次降至两到三次，响应时间从约二十四秒降至约八秒。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 管道是系统的核心引擎，分为五个阶段。第一阶段是文档解析，支持 PDF、PPTX 和 DOCX 格式，采用语义分块策略，块大小在一百到一千二百字符之间。第二阶段是多模态提取，使用 BLIP 模型批量生成图片描述，将表格转换为 Markdown 字符串，避免直接嵌入图片从而无需多模态嵌入模型。第三阶段是向量化存储，用多语言 MiniLM 模型生成三百八十四维向量，存入本地 ChromaDB。第四阶段是混合检索，余弦相似度搜索和 BM25 统计重排序按七十比三十的权重融合，代替了原来耗时较长的 CrossEncoder。第五阶段是答案生成，经过相似度门控和可选的 Guard 验证后，由分析师生成最终的结构化回答。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技术栈方面，我们使用了十一项核心技术。DeepSeek Chat API 作为核心推理引擎，通过 LLM_MODEL 环境变量可以灵活切换模型。CrewAI 一点十四点三版本提供多智能体编排，ChromaDB 一点一点一版本负责本地向量存储。嵌入模型选用了多语言 MiniLM，仅三百八十四维就实现了高效的中英文混合检索。PyTorch 和 BLIP 用于图片描述生成，BM25 来自 scikit-learn 用于统计重排序。文档解析由 PyMuPDF、python-pptx 和 python-docx 三个库协同完成，Tavily API 提供可选的联网搜索能力。Web 层用 Flask 三点零版本、SSE 和零框架纯 JavaScript 前端构建。中文分词使用 jieba，测试框架为 pytest 九点零三版本。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这个系统提供了十大核心功能。多智能体协作让四个 Agent 通过顺序流程高效协同；多模态 RAG 将文本、图片和表格统一向量化检索；联网搜索通过 Tavily API 补充外部知识，带有一小时缓存；四级缓存体系从答案到检索到搜索再到 RAG 持久化，最大化复用已有结果；SSE 实时进度让前端展示四步处理进度和计时器；文件管理支持上传、删除和 SHA 二五六增量索引；历史搜索支持 CLI 和 Web 双端的跨会话全文检索；多会话支持让对话历史持久化并且可以自由切换；自动定位通过浏览器 API 让天气等查询自动附带城市信息；优雅降级确保在搜索或 BLIP 失败时系统依然可用。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在开发过程中我们做出了十一项关键设计决策，每一项都有可量化的效果。用顺序流程替代分层编排，去掉了 Manager Agent，节省约三次 LLM 调用和十六秒响应时间。用 BM25 加嵌入相似度融合替代 CrossEncoder，每次查询节省一到两秒。RAG 上下文从四千字符减到两千，省下约五百个 token。三档阈值门控让 Guard 只在零点五五到零点八二的边界区间触发。双路由策略让天气和新闻类常见问题享受零路由成本。图片通过 BLIP 转为文字描述，避免了多模态嵌入模型的额外开销。缓存归一化用 MD5 哈希实现了不同语序的等效匹配。单文件索引函数将上传复杂度从 O(N) 降到 O(1)。批量 BLIP 推理让多图文档获得两到五倍加速。模型环境变量统一管理让切换模型无需改动任何代码。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性能优化贯穿了八个维度。架构层面从分层切换到顺序流程，减少了三次 LLM 调用。算法层面移除 CrossEncoder，每次查询节省一到两秒。Token 层面将 RAG 上下文减半，每次节省约五百个 token。检索层面将 ChromaDB 候选数量从十二降到八，减少百分之三十三的检索开销。路由层面移除了 Guard 重试路径，省去约百分之三请求中的一次额外 LLM 调用。IO 层面用单文件索引函数让上传从 O(N) 降到 O(1)。GPU 层面用批量 BLIP 推理替代逐个处理，多图场景获得两到五倍加速。前端层面实现了侧边栏自动刷新，缓存和文件列表实时更新。这八个维度的累积效果是：每次查询从五次 LLM 调用降到两到三次，响应时间从约二十四秒降至约八秒。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测试是系统可靠性的基石。我们总共编写了一百三十一项测试，分布在八个模块中，全部通过。最大的模块是 test_web_api，覆盖了四十二个测试用例，验证 Flask API、HTML 模板、SSE 和聊天端点。test_rag 模块包含三十七个用例，覆盖语义分块、向量 CRUD 和混合检索。test_conversation_manager 有十六个用例，test_session_manager 有十五个，test_answer_cache 有十二个，test_status_tracker 有六个，test_local_file_tool 有三个。所有测试使用 pytest 九点零三版本运行，可以在项目目录下通过一行命令执行。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系统提供了十二个 REST 端点，覆盖系统状态、会话管理、聊天交互、历史搜索、知识库管理和缓存控制。聊天相关的端点最为丰富：task 端点获取 SSE 任务 ID，chat 端点发送消息，stream 端点提供实时进度流。会话端点支持列表、创建、切换和删除操作。知识库端点提供文件上传、列表查看、删除和索引重建功能。缓存端点可以查看统计信息和手动清除。所有端点基于 Flask 三点零版本构建，聊天交互通过 SSE 实现实时推送，前端使用零框架纯 JavaScript 进行 Markdown 渲染。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项目结构按照模块化设计组织。入口层由 main.py 和 web_ui.py 组成，分别提供 CLI 和 Web 两种访问方式。tools 目录下包含九个核心模块：rag_store 负责 ChromaDB 和 BM25 混合检索，document_processor 处理文档解析和语义分块，image_captioner 执行 BLIP 批量图片描述，conversation_manager 管理对话历史并自动生成不超过三百 token 的摘要，session_manager 支持多会话和跨会话搜索，answer_cache 实现精确哈希加相似度回退的两级缓存匹配，status_tracker 驱动 SSE 进度推送。前端由单个 HTML 模板和两个静态文件组成，零框架依赖，纯 JavaScript 实现 Markdown 渲染。tests 目录包含八个测试模块共一百三十一项测试。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开发经历了八个阶段的持续迭代。第一阶段搭建了基础架构，包括 CrewAI、ChromaDB、DeepSeek 和 Flask Web UI。第二阶段增强了 RAG 能力，加入了语义分块、BLIP 图片描述和 DOCX 支持。第三阶段是关键的架构优化，用顺序流程替代分层编排、移除 CrossEncoder，实现了显著的性能提升。第四阶段优化了用户体验，增加了中文界面、SSE 四步进度和实时计时器。第五阶段引入智能路由，用规则匹配加 LLM 双路由和三档门控大幅减少了不必要的推理开销。第六阶段加固了系统稳定性，处理了路径穿越防护和文件名清理等安全问题。第七阶段增强了交互功能，在 CLI 和 Web 两端都实现了历史搜索。最新的第八阶段优化了上传链路，单文件索引降到 O(1)，批量 BLIP 获得两到五倍加速。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系统通过六个环境变量进行配置。DEEPSEEK_API_KEY 是必填项，提供 DeepSeek API 的访问密钥。LLM_MODEL 用于指定模型名称，默认为 deepseek-chat，设置为其他 provider 和 model 组合即可切换模型，无需改动代码。TAVILY_API_KEY 为可选，不填则仅使用本地 RAG 而不启用联网搜索。FLASK_SECRET_KEY 在 Web UI 模式下必填，用于 Flask 会话签名。WEB_UI_PORT 默认为七八六零端口。FLASK_DEBUG 控制调试模式，生产环境建议设为零。所有密钥信息存储在 .env 文件中，该文件已加入 .gitignore，不会被提交到版本控制。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启动系统只需三步。第一步，复制 .env.example 为 .env 并填入 API 密钥。第二步，用 pip 安装依赖。第三步，运行 python web_ui.py 启动 Web 界面，然后在浏览器中打开 localhost 的七八六零端口即可使用。如果你偏好命令行，也可以运行 python main.py 进入 CLI 模式，支持 find、history、sessions 和 cache 等命令。最后，运行 pytest 可以执行全部一百三十一项测试来验证系统状态。知识库文件放在 knowledge 目录下，支持 PDF、PPTX 和 DOCX 格式，可以通过 Web UI 上传或直接放入目录后重建索引。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 LectureCrewLLM 的五个核心特点。第一，全链路优化——从用户提问到答案生成的每一层都经过了针对性调优，响应时间从二十四秒降到八秒。第二，多模态支持——文本、图片、表格和网页搜索结果统一向量化，无需额外的多模态嵌入模型。第三，智能缓存体系——四级缓存加相似度回退匹配，最大化已有计算结果的复用。第四，工程完备——一百三十一项测试覆盖八个模块，SVG 架构图、中英文文档齐全，模型切换零代码变更。第五，实战可部署——增量索引、单文件快速上传、SSE 实时反馈和优雅降级，确保了生产环境的可靠性。感谢各位的聆听。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00"/>
          </a:xfrm>
          <a:prstGeom prst="rect">
            <a:avLst/>
          </a:prstGeom>
          <a:gradFill>
            <a:gsLst>
              <a:gs pos="0">
                <a:srgbClr val="1E40AF">
                  <a:alpha val="4000"/>
                </a:srgbClr>
              </a:gs>
              <a:gs pos="100000">
                <a:srgbClr val="1E40AF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6366F1"/>
              </a:gs>
            </a:gsLst>
            <a:lin ang="270000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763000" y="-285750"/>
            <a:ext cx="3429000" cy="3429000"/>
          </a:xfrm>
          <a:prstGeom prst="ellipse">
            <a:avLst/>
          </a:prstGeom>
          <a:solidFill>
            <a:srgbClr val="1E40AF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9525000" y="95250"/>
            <a:ext cx="2286000" cy="2286000"/>
          </a:xfrm>
          <a:prstGeom prst="ellipse">
            <a:avLst/>
          </a:prstGeom>
          <a:solidFill>
            <a:srgbClr val="6366F1">
              <a:alpha val="4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9334500" y="4762500"/>
            <a:ext cx="1905000" cy="1905000"/>
          </a:xfrm>
          <a:prstGeom prst="ellipse">
            <a:avLst/>
          </a:prstGeom>
          <a:solidFill>
            <a:srgbClr val="0284C7">
              <a:alpha val="3000"/>
            </a:srgbClr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143500" y="1905000"/>
            <a:ext cx="609600" cy="571500"/>
          </a:xfrm>
          <a:custGeom>
            <a:avLst/>
            <a:gdLst/>
            <a:ahLst/>
            <a:cxnLst/>
            <a:rect l="l" t="t" r="r" b="b"/>
            <a:pathLst>
              <a:path w="609600" h="571500">
                <a:moveTo>
                  <a:pt x="342900" y="0"/>
                </a:moveTo>
                <a:lnTo>
                  <a:pt x="342900" y="76200"/>
                </a:lnTo>
                <a:lnTo>
                  <a:pt x="495300" y="76200"/>
                </a:lnTo>
                <a:lnTo>
                  <a:pt x="609600" y="323850"/>
                </a:lnTo>
                <a:lnTo>
                  <a:pt x="495300" y="571500"/>
                </a:lnTo>
                <a:lnTo>
                  <a:pt x="114300" y="571500"/>
                </a:lnTo>
                <a:lnTo>
                  <a:pt x="0" y="323850"/>
                </a:lnTo>
                <a:lnTo>
                  <a:pt x="114300" y="76200"/>
                </a:lnTo>
                <a:lnTo>
                  <a:pt x="266700" y="76200"/>
                </a:lnTo>
                <a:lnTo>
                  <a:pt x="266700" y="0"/>
                </a:lnTo>
                <a:lnTo>
                  <a:pt x="342900" y="0"/>
                </a:lnTo>
                <a:close/>
                <a:moveTo>
                  <a:pt x="175182" y="447233"/>
                </a:moveTo>
                <a:lnTo>
                  <a:pt x="304800" y="467175"/>
                </a:lnTo>
                <a:lnTo>
                  <a:pt x="434420" y="447233"/>
                </a:lnTo>
                <a:lnTo>
                  <a:pt x="422830" y="371918"/>
                </a:lnTo>
                <a:lnTo>
                  <a:pt x="304800" y="390075"/>
                </a:lnTo>
                <a:lnTo>
                  <a:pt x="186768" y="371918"/>
                </a:lnTo>
                <a:lnTo>
                  <a:pt x="175182" y="447233"/>
                </a:lnTo>
                <a:close/>
                <a:moveTo>
                  <a:pt x="266700" y="257175"/>
                </a:moveTo>
                <a:cubicBezTo>
                  <a:pt x="266700" y="283478"/>
                  <a:pt x="245378" y="304800"/>
                  <a:pt x="219075" y="304800"/>
                </a:cubicBezTo>
                <a:cubicBezTo>
                  <a:pt x="192772" y="304800"/>
                  <a:pt x="171450" y="283478"/>
                  <a:pt x="171450" y="257175"/>
                </a:cubicBezTo>
                <a:cubicBezTo>
                  <a:pt x="171450" y="230872"/>
                  <a:pt x="192772" y="209550"/>
                  <a:pt x="219075" y="209550"/>
                </a:cubicBezTo>
                <a:cubicBezTo>
                  <a:pt x="245378" y="209550"/>
                  <a:pt x="266700" y="230872"/>
                  <a:pt x="266700" y="257175"/>
                </a:cubicBezTo>
                <a:close/>
                <a:moveTo>
                  <a:pt x="390525" y="304800"/>
                </a:moveTo>
                <a:cubicBezTo>
                  <a:pt x="416829" y="304800"/>
                  <a:pt x="438150" y="283478"/>
                  <a:pt x="438150" y="257175"/>
                </a:cubicBezTo>
                <a:cubicBezTo>
                  <a:pt x="438150" y="230872"/>
                  <a:pt x="416829" y="209550"/>
                  <a:pt x="390525" y="209550"/>
                </a:cubicBezTo>
                <a:cubicBezTo>
                  <a:pt x="364222" y="209550"/>
                  <a:pt x="342900" y="230872"/>
                  <a:pt x="342900" y="257175"/>
                </a:cubicBezTo>
                <a:cubicBezTo>
                  <a:pt x="342900" y="283478"/>
                  <a:pt x="364222" y="304800"/>
                  <a:pt x="390525" y="304800"/>
                </a:cubicBezTo>
                <a:close/>
              </a:path>
            </a:pathLst>
          </a:custGeom>
          <a:solidFill>
            <a:srgbClr val="1E40AF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853112" y="19812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83344" y="83344"/>
                </a:moveTo>
                <a:lnTo>
                  <a:pt x="95250" y="0"/>
                </a:lnTo>
                <a:lnTo>
                  <a:pt x="71438" y="0"/>
                </a:lnTo>
                <a:lnTo>
                  <a:pt x="0" y="83344"/>
                </a:lnTo>
                <a:lnTo>
                  <a:pt x="0" y="107156"/>
                </a:lnTo>
                <a:lnTo>
                  <a:pt x="59531" y="107156"/>
                </a:lnTo>
                <a:lnTo>
                  <a:pt x="47625" y="190500"/>
                </a:lnTo>
                <a:lnTo>
                  <a:pt x="71438" y="190500"/>
                </a:lnTo>
                <a:lnTo>
                  <a:pt x="142875" y="107156"/>
                </a:lnTo>
                <a:lnTo>
                  <a:pt x="142875" y="83344"/>
                </a:lnTo>
                <a:lnTo>
                  <a:pt x="83344" y="83344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6001438" y="2076450"/>
            <a:ext cx="131975" cy="125515"/>
          </a:xfrm>
          <a:custGeom>
            <a:avLst/>
            <a:gdLst/>
            <a:ahLst/>
            <a:cxnLst/>
            <a:rect l="l" t="t" r="r" b="b"/>
            <a:pathLst>
              <a:path w="131975" h="125515">
                <a:moveTo>
                  <a:pt x="74322" y="0"/>
                </a:moveTo>
                <a:lnTo>
                  <a:pt x="57653" y="0"/>
                </a:lnTo>
                <a:lnTo>
                  <a:pt x="45259" y="38145"/>
                </a:lnTo>
                <a:lnTo>
                  <a:pt x="5151" y="38145"/>
                </a:lnTo>
                <a:lnTo>
                  <a:pt x="0" y="53998"/>
                </a:lnTo>
                <a:lnTo>
                  <a:pt x="32448" y="77573"/>
                </a:lnTo>
                <a:lnTo>
                  <a:pt x="20054" y="115717"/>
                </a:lnTo>
                <a:lnTo>
                  <a:pt x="33540" y="125515"/>
                </a:lnTo>
                <a:lnTo>
                  <a:pt x="65987" y="101940"/>
                </a:lnTo>
                <a:lnTo>
                  <a:pt x="98435" y="125515"/>
                </a:lnTo>
                <a:lnTo>
                  <a:pt x="111920" y="115717"/>
                </a:lnTo>
                <a:lnTo>
                  <a:pt x="99526" y="77573"/>
                </a:lnTo>
                <a:lnTo>
                  <a:pt x="131975" y="53998"/>
                </a:lnTo>
                <a:lnTo>
                  <a:pt x="126823" y="38145"/>
                </a:lnTo>
                <a:lnTo>
                  <a:pt x="86716" y="38145"/>
                </a:lnTo>
                <a:lnTo>
                  <a:pt x="74322" y="0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747928" y="2801302"/>
            <a:ext cx="4696144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LectureCrewLLM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143500" y="3409950"/>
            <a:ext cx="1905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E40AF"/>
              </a:gs>
              <a:gs pos="100000">
                <a:srgbClr val="6366F1"/>
              </a:gs>
            </a:gsLst>
            <a:lin ang="2700000" scaled="1"/>
          </a:gra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408337" y="3727132"/>
            <a:ext cx="337532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多智能体讲座分析系统 · 项目总结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048250" y="426720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95542" y="4382452"/>
            <a:ext cx="20009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2026年5月 | 131 项测试全部通过</a:t>
            </a:r>
          </a:p>
        </p:txBody>
      </p:sp>
      <p:sp>
        <p:nvSpPr>
          <p:cNvPr id="16" name="Line 16"/>
          <p:cNvSpPr/>
          <p:nvPr/>
        </p:nvSpPr>
        <p:spPr>
          <a:xfrm>
            <a:off x="3810000" y="59055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523327" y="6102191"/>
            <a:ext cx="31453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基于 CrewAI + ChromaDB + DeepSeek 的多智能体 RAG 问答系统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96483" y="657844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01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5334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2925" y="119062"/>
            <a:ext cx="13173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项目概述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E40AF"/>
              </a:gs>
              <a:gs pos="100000">
                <a:srgbClr val="6366F1"/>
              </a:gs>
            </a:gsLst>
            <a:lin ang="5400000" scaled="1"/>
          </a:gra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571500" y="762000"/>
            <a:ext cx="5334000" cy="1285875"/>
            <a:chOff x="571500" y="762000"/>
            <a:chExt cx="5334000" cy="1285875"/>
          </a:xfrm>
        </p:grpSpPr>
        <p:sp>
          <p:nvSpPr>
            <p:cNvPr id="7" name="Rectangle 7"/>
            <p:cNvSpPr/>
            <p:nvPr/>
          </p:nvSpPr>
          <p:spPr>
            <a:xfrm>
              <a:off x="571500" y="762000"/>
              <a:ext cx="5334000" cy="1285875"/>
            </a:xfrm>
            <a:prstGeom prst="roundRect">
              <a:avLst>
                <a:gd name="adj" fmla="val 8889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762000"/>
              <a:ext cx="38100" cy="1285875"/>
            </a:xfrm>
            <a:prstGeom prst="roundRect">
              <a:avLst>
                <a:gd name="adj" fmla="val 5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7250" y="1000125"/>
              <a:ext cx="342900" cy="321469"/>
            </a:xfrm>
            <a:custGeom>
              <a:avLst/>
              <a:gdLst/>
              <a:ahLst/>
              <a:cxnLst/>
              <a:rect l="l" t="t" r="r" b="b"/>
              <a:pathLst>
                <a:path w="342900" h="321469">
                  <a:moveTo>
                    <a:pt x="192881" y="0"/>
                  </a:moveTo>
                  <a:lnTo>
                    <a:pt x="192881" y="42862"/>
                  </a:lnTo>
                  <a:lnTo>
                    <a:pt x="278606" y="42862"/>
                  </a:lnTo>
                  <a:lnTo>
                    <a:pt x="342900" y="182166"/>
                  </a:lnTo>
                  <a:lnTo>
                    <a:pt x="278606" y="321469"/>
                  </a:lnTo>
                  <a:lnTo>
                    <a:pt x="64294" y="321469"/>
                  </a:lnTo>
                  <a:lnTo>
                    <a:pt x="0" y="182166"/>
                  </a:lnTo>
                  <a:lnTo>
                    <a:pt x="64294" y="42862"/>
                  </a:lnTo>
                  <a:lnTo>
                    <a:pt x="150019" y="42862"/>
                  </a:lnTo>
                  <a:lnTo>
                    <a:pt x="150019" y="0"/>
                  </a:lnTo>
                  <a:lnTo>
                    <a:pt x="192881" y="0"/>
                  </a:lnTo>
                  <a:close/>
                  <a:moveTo>
                    <a:pt x="98540" y="251569"/>
                  </a:moveTo>
                  <a:lnTo>
                    <a:pt x="171450" y="262786"/>
                  </a:lnTo>
                  <a:lnTo>
                    <a:pt x="244361" y="251569"/>
                  </a:lnTo>
                  <a:lnTo>
                    <a:pt x="237842" y="209204"/>
                  </a:lnTo>
                  <a:lnTo>
                    <a:pt x="171450" y="219417"/>
                  </a:lnTo>
                  <a:lnTo>
                    <a:pt x="105057" y="209204"/>
                  </a:lnTo>
                  <a:lnTo>
                    <a:pt x="98540" y="251569"/>
                  </a:lnTo>
                  <a:close/>
                  <a:moveTo>
                    <a:pt x="150019" y="144661"/>
                  </a:moveTo>
                  <a:cubicBezTo>
                    <a:pt x="150019" y="159456"/>
                    <a:pt x="138025" y="171450"/>
                    <a:pt x="123230" y="171450"/>
                  </a:cubicBezTo>
                  <a:cubicBezTo>
                    <a:pt x="108434" y="171450"/>
                    <a:pt x="96441" y="159456"/>
                    <a:pt x="96441" y="144661"/>
                  </a:cubicBezTo>
                  <a:cubicBezTo>
                    <a:pt x="96441" y="129866"/>
                    <a:pt x="108434" y="117872"/>
                    <a:pt x="123230" y="117872"/>
                  </a:cubicBezTo>
                  <a:cubicBezTo>
                    <a:pt x="138025" y="117872"/>
                    <a:pt x="150019" y="129866"/>
                    <a:pt x="150019" y="144661"/>
                  </a:cubicBezTo>
                  <a:close/>
                  <a:moveTo>
                    <a:pt x="219670" y="171450"/>
                  </a:moveTo>
                  <a:cubicBezTo>
                    <a:pt x="234466" y="171450"/>
                    <a:pt x="246459" y="159456"/>
                    <a:pt x="246459" y="144661"/>
                  </a:cubicBezTo>
                  <a:cubicBezTo>
                    <a:pt x="246459" y="129866"/>
                    <a:pt x="234466" y="117872"/>
                    <a:pt x="219670" y="117872"/>
                  </a:cubicBezTo>
                  <a:cubicBezTo>
                    <a:pt x="204875" y="117872"/>
                    <a:pt x="192881" y="129866"/>
                    <a:pt x="192881" y="144661"/>
                  </a:cubicBezTo>
                  <a:cubicBezTo>
                    <a:pt x="192881" y="159456"/>
                    <a:pt x="204875" y="171450"/>
                    <a:pt x="219670" y="171450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2545" y="945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6355" y="126396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面向教育资源（PDF / PPTX / DOCX 讲座课件）的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16355" y="1530668"/>
              <a:ext cx="11054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RAG 问答系统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0165" y="1829752"/>
              <a:ext cx="18118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Multi-modal document Q&amp;A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762000"/>
            <a:ext cx="5334000" cy="1285875"/>
            <a:chOff x="6286500" y="762000"/>
            <a:chExt cx="53340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6286500" y="762000"/>
              <a:ext cx="5334000" cy="1285875"/>
            </a:xfrm>
            <a:prstGeom prst="roundRect">
              <a:avLst>
                <a:gd name="adj" fmla="val 8889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86500" y="762000"/>
              <a:ext cx="381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593681" y="1000125"/>
              <a:ext cx="300038" cy="342900"/>
              <a:chOff x="6593681" y="1000125"/>
              <a:chExt cx="300038" cy="3429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593681" y="1000125"/>
                <a:ext cx="30003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71450">
                    <a:moveTo>
                      <a:pt x="0" y="107156"/>
                    </a:moveTo>
                    <a:lnTo>
                      <a:pt x="0" y="64294"/>
                    </a:lnTo>
                    <a:lnTo>
                      <a:pt x="150019" y="0"/>
                    </a:lnTo>
                    <a:lnTo>
                      <a:pt x="300038" y="64294"/>
                    </a:lnTo>
                    <a:lnTo>
                      <a:pt x="300038" y="107156"/>
                    </a:lnTo>
                    <a:lnTo>
                      <a:pt x="150019" y="171450"/>
                    </a:lnTo>
                    <a:lnTo>
                      <a:pt x="0" y="107156"/>
                    </a:ln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593681" y="1235869"/>
                <a:ext cx="3000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07156">
                    <a:moveTo>
                      <a:pt x="150019" y="107156"/>
                    </a:moveTo>
                    <a:lnTo>
                      <a:pt x="0" y="42862"/>
                    </a:lnTo>
                    <a:lnTo>
                      <a:pt x="0" y="0"/>
                    </a:lnTo>
                    <a:lnTo>
                      <a:pt x="150019" y="64294"/>
                    </a:lnTo>
                    <a:lnTo>
                      <a:pt x="300038" y="0"/>
                    </a:lnTo>
                    <a:lnTo>
                      <a:pt x="300038" y="42862"/>
                    </a:lnTo>
                    <a:lnTo>
                      <a:pt x="150019" y="107156"/>
                    </a:ln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93681" y="1150144"/>
                <a:ext cx="3000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07156">
                    <a:moveTo>
                      <a:pt x="0" y="42862"/>
                    </a:moveTo>
                    <a:lnTo>
                      <a:pt x="150019" y="107156"/>
                    </a:lnTo>
                    <a:lnTo>
                      <a:pt x="300038" y="42862"/>
                    </a:lnTo>
                    <a:lnTo>
                      <a:pt x="300038" y="0"/>
                    </a:lnTo>
                    <a:lnTo>
                      <a:pt x="150019" y="64294"/>
                    </a:lnTo>
                    <a:lnTo>
                      <a:pt x="0" y="0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027545" y="945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1355" y="1263968"/>
              <a:ext cx="33287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多模态文档解析 → 向量化存储 → 意图路由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1355" y="15306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→ 智能体协作 → 结构化回答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5165" y="1829752"/>
              <a:ext cx="20989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End-to-end intelligent pipeline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2286000"/>
            <a:ext cx="5334000" cy="1285875"/>
            <a:chOff x="571500" y="2286000"/>
            <a:chExt cx="5334000" cy="1285875"/>
          </a:xfrm>
        </p:grpSpPr>
        <p:sp>
          <p:nvSpPr>
            <p:cNvPr id="26" name="Rectangle 26"/>
            <p:cNvSpPr/>
            <p:nvPr/>
          </p:nvSpPr>
          <p:spPr>
            <a:xfrm>
              <a:off x="571500" y="2286000"/>
              <a:ext cx="5334000" cy="1285875"/>
            </a:xfrm>
            <a:prstGeom prst="roundRect">
              <a:avLst>
                <a:gd name="adj" fmla="val 8889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1500" y="2286000"/>
              <a:ext cx="38100" cy="1285875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74239" y="2573265"/>
              <a:ext cx="304482" cy="272328"/>
              <a:chOff x="874239" y="2573265"/>
              <a:chExt cx="304482" cy="27232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74239" y="2573265"/>
                <a:ext cx="152619" cy="244620"/>
              </a:xfrm>
              <a:custGeom>
                <a:avLst/>
                <a:gdLst/>
                <a:ahLst/>
                <a:cxnLst/>
                <a:rect l="l" t="t" r="r" b="b"/>
                <a:pathLst>
                  <a:path w="152619" h="244620">
                    <a:moveTo>
                      <a:pt x="0" y="214312"/>
                    </a:moveTo>
                    <a:lnTo>
                      <a:pt x="92002" y="122311"/>
                    </a:lnTo>
                    <a:lnTo>
                      <a:pt x="0" y="30308"/>
                    </a:lnTo>
                    <a:lnTo>
                      <a:pt x="30308" y="0"/>
                    </a:lnTo>
                    <a:lnTo>
                      <a:pt x="152619" y="122311"/>
                    </a:lnTo>
                    <a:lnTo>
                      <a:pt x="30308" y="244620"/>
                    </a:lnTo>
                    <a:lnTo>
                      <a:pt x="0" y="214312"/>
                    </a:lnTo>
                    <a:close/>
                  </a:path>
                </a:pathLst>
              </a:custGeom>
              <a:solidFill>
                <a:srgbClr val="0284C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07270" y="2802731"/>
                <a:ext cx="17145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71451" h="42862">
                    <a:moveTo>
                      <a:pt x="0" y="42862"/>
                    </a:moveTo>
                    <a:lnTo>
                      <a:pt x="171451" y="42862"/>
                    </a:lnTo>
                    <a:lnTo>
                      <a:pt x="171451" y="0"/>
                    </a:lnTo>
                    <a:lnTo>
                      <a:pt x="0" y="0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rgbClr val="0284C7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312545" y="2469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交互方式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6355" y="2787968"/>
              <a:ext cx="3022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Flask Web UI（推荐）+ SSE 实时进度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16355" y="3054668"/>
              <a:ext cx="13934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+ CLI 命令行模式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0165" y="3353752"/>
              <a:ext cx="20359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Web + Terminal dual interface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2286000"/>
            <a:ext cx="5334000" cy="1285875"/>
            <a:chOff x="6286500" y="2286000"/>
            <a:chExt cx="5334000" cy="1285875"/>
          </a:xfrm>
        </p:grpSpPr>
        <p:sp>
          <p:nvSpPr>
            <p:cNvPr id="36" name="Rectangle 36"/>
            <p:cNvSpPr/>
            <p:nvPr/>
          </p:nvSpPr>
          <p:spPr>
            <a:xfrm>
              <a:off x="6286500" y="2286000"/>
              <a:ext cx="5334000" cy="1285875"/>
            </a:xfrm>
            <a:prstGeom prst="roundRect">
              <a:avLst>
                <a:gd name="adj" fmla="val 8889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86500" y="2286000"/>
              <a:ext cx="38100" cy="1285875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593681" y="2524125"/>
              <a:ext cx="300038" cy="321469"/>
              <a:chOff x="6593681" y="2524125"/>
              <a:chExt cx="300038" cy="32146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593681" y="2524125"/>
                <a:ext cx="3000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07156">
                    <a:moveTo>
                      <a:pt x="107156" y="0"/>
                    </a:moveTo>
                    <a:lnTo>
                      <a:pt x="42862" y="0"/>
                    </a:lnTo>
                    <a:lnTo>
                      <a:pt x="42862" y="42862"/>
                    </a:lnTo>
                    <a:lnTo>
                      <a:pt x="0" y="42862"/>
                    </a:lnTo>
                    <a:lnTo>
                      <a:pt x="0" y="107156"/>
                    </a:lnTo>
                    <a:lnTo>
                      <a:pt x="300038" y="107156"/>
                    </a:lnTo>
                    <a:lnTo>
                      <a:pt x="300038" y="42862"/>
                    </a:lnTo>
                    <a:lnTo>
                      <a:pt x="257175" y="42862"/>
                    </a:lnTo>
                    <a:lnTo>
                      <a:pt x="257175" y="0"/>
                    </a:lnTo>
                    <a:lnTo>
                      <a:pt x="192881" y="0"/>
                    </a:lnTo>
                    <a:lnTo>
                      <a:pt x="192881" y="42862"/>
                    </a:lnTo>
                    <a:lnTo>
                      <a:pt x="107156" y="42862"/>
                    </a:lnTo>
                    <a:lnTo>
                      <a:pt x="107156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93681" y="2674144"/>
                <a:ext cx="30003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71450">
                    <a:moveTo>
                      <a:pt x="300038" y="0"/>
                    </a:moveTo>
                    <a:lnTo>
                      <a:pt x="0" y="0"/>
                    </a:lnTo>
                    <a:lnTo>
                      <a:pt x="0" y="171450"/>
                    </a:lnTo>
                    <a:lnTo>
                      <a:pt x="300038" y="171450"/>
                    </a:lnTo>
                    <a:lnTo>
                      <a:pt x="300038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027545" y="2469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开发周期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31355" y="278796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7 个阶段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74355" y="278796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迭代，从基础架构到交互增强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31355" y="3054668"/>
              <a:ext cx="28156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131 项测试全部通过 · Python 3.11+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35165" y="3353752"/>
              <a:ext cx="26940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7 phases from prototype to production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571500" y="3905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54355" y="41405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关键指标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571500" y="4476750"/>
            <a:ext cx="2571750" cy="876300"/>
            <a:chOff x="571500" y="4476750"/>
            <a:chExt cx="2571750" cy="876300"/>
          </a:xfrm>
        </p:grpSpPr>
        <p:sp>
          <p:nvSpPr>
            <p:cNvPr id="49" name="Rectangle 49"/>
            <p:cNvSpPr/>
            <p:nvPr/>
          </p:nvSpPr>
          <p:spPr>
            <a:xfrm>
              <a:off x="571500" y="4476750"/>
              <a:ext cx="257175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6290" y="4696778"/>
              <a:ext cx="873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Agent 角色数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5335" y="4804410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02105" y="495014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协同工作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381375" y="4476750"/>
            <a:ext cx="2571750" cy="876300"/>
            <a:chOff x="3381375" y="4476750"/>
            <a:chExt cx="2571750" cy="876300"/>
          </a:xfrm>
        </p:grpSpPr>
        <p:sp>
          <p:nvSpPr>
            <p:cNvPr id="54" name="Rectangle 54"/>
            <p:cNvSpPr/>
            <p:nvPr/>
          </p:nvSpPr>
          <p:spPr>
            <a:xfrm>
              <a:off x="3381375" y="4476750"/>
              <a:ext cx="257175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606165" y="46967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响应时间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585210" y="4804410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~8s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97730" y="4950142"/>
              <a:ext cx="574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优化后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191250" y="4476750"/>
            <a:ext cx="2571750" cy="876300"/>
            <a:chOff x="6191250" y="4476750"/>
            <a:chExt cx="2571750" cy="876300"/>
          </a:xfrm>
        </p:grpSpPr>
        <p:sp>
          <p:nvSpPr>
            <p:cNvPr id="59" name="Rectangle 59"/>
            <p:cNvSpPr/>
            <p:nvPr/>
          </p:nvSpPr>
          <p:spPr>
            <a:xfrm>
              <a:off x="6191250" y="4476750"/>
              <a:ext cx="257175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16040" y="46967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测试覆盖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95085" y="4804410"/>
              <a:ext cx="50333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131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07605" y="4950142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项全部通过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001125" y="4476750"/>
            <a:ext cx="2619375" cy="876300"/>
            <a:chOff x="9001125" y="4476750"/>
            <a:chExt cx="2619375" cy="876300"/>
          </a:xfrm>
        </p:grpSpPr>
        <p:sp>
          <p:nvSpPr>
            <p:cNvPr id="64" name="Rectangle 64"/>
            <p:cNvSpPr/>
            <p:nvPr/>
          </p:nvSpPr>
          <p:spPr>
            <a:xfrm>
              <a:off x="9001125" y="4476750"/>
              <a:ext cx="2619375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225915" y="4696778"/>
              <a:ext cx="60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LLM 调用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04960" y="4804410"/>
              <a:ext cx="10704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2-3次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03230" y="495014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每次查询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268980" y="6578441"/>
            <a:ext cx="3619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02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19473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系统架构概览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2308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4 层架构：交互 → 路由 → 处理 → 数据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342900" cy="1238250"/>
          </a:xfrm>
          <a:prstGeom prst="roundRect">
            <a:avLst>
              <a:gd name="adj" fmla="val 22222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45470" y="1454468"/>
            <a:ext cx="194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Rectangle 8"/>
          <p:cNvSpPr/>
          <p:nvPr/>
        </p:nvSpPr>
        <p:spPr>
          <a:xfrm>
            <a:off x="1047750" y="904875"/>
            <a:ext cx="8001000" cy="1238250"/>
          </a:xfrm>
          <a:prstGeom prst="roundRect">
            <a:avLst>
              <a:gd name="adj" fmla="val 7692"/>
            </a:avLst>
          </a:prstGeom>
          <a:solidFill>
            <a:srgbClr val="F0F4F8">
              <a:alpha val="60000"/>
            </a:srgbClr>
          </a:solidFill>
          <a:ln w="14288">
            <a:solidFill>
              <a:srgbClr val="93C5FD"/>
            </a:solidFill>
            <a:custDash>
              <a:ds d="400000" sp="266666"/>
            </a:custDash>
          </a:ln>
        </p:spPr>
      </p:sp>
      <p:sp>
        <p:nvSpPr>
          <p:cNvPr id="9" name="TextBox 9"/>
          <p:cNvSpPr txBox="1"/>
          <p:nvPr/>
        </p:nvSpPr>
        <p:spPr>
          <a:xfrm>
            <a:off x="4220868" y="1026795"/>
            <a:ext cx="16547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交互层 · INTERACTION LAYER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0150" y="1285875"/>
            <a:ext cx="2286000" cy="704850"/>
            <a:chOff x="1200150" y="1285875"/>
            <a:chExt cx="2286000" cy="70485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1200150" y="1285875"/>
              <a:ext cx="22860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grpSp>
          <p:nvGrpSpPr>
            <p:cNvPr id="15" name="Group 15"/>
            <p:cNvGrpSpPr/>
            <p:nvPr/>
          </p:nvGrpSpPr>
          <p:grpSpPr>
            <a:xfrm>
              <a:off x="1353655" y="1447800"/>
              <a:ext cx="283539" cy="285750"/>
              <a:chOff x="1353655" y="1447800"/>
              <a:chExt cx="283539" cy="285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353655" y="1506879"/>
                <a:ext cx="283539" cy="65937"/>
              </a:xfrm>
              <a:custGeom>
                <a:avLst/>
                <a:gdLst/>
                <a:ahLst/>
                <a:cxnLst/>
                <a:rect l="l" t="t" r="r" b="b"/>
                <a:pathLst>
                  <a:path w="283539" h="65937">
                    <a:moveTo>
                      <a:pt x="26035" y="0"/>
                    </a:moveTo>
                    <a:cubicBezTo>
                      <a:pt x="12261" y="18992"/>
                      <a:pt x="3046" y="41507"/>
                      <a:pt x="0" y="65937"/>
                    </a:cubicBezTo>
                    <a:lnTo>
                      <a:pt x="283539" y="65937"/>
                    </a:lnTo>
                    <a:cubicBezTo>
                      <a:pt x="280492" y="41506"/>
                      <a:pt x="271279" y="18992"/>
                      <a:pt x="257504" y="0"/>
                    </a:cubicBezTo>
                    <a:cubicBezTo>
                      <a:pt x="256761" y="416"/>
                      <a:pt x="256007" y="832"/>
                      <a:pt x="255245" y="1248"/>
                    </a:cubicBezTo>
                    <a:cubicBezTo>
                      <a:pt x="228716" y="15718"/>
                      <a:pt x="190070" y="30218"/>
                      <a:pt x="141769" y="30218"/>
                    </a:cubicBezTo>
                    <a:cubicBezTo>
                      <a:pt x="93468" y="30218"/>
                      <a:pt x="54821" y="15718"/>
                      <a:pt x="28293" y="1248"/>
                    </a:cubicBezTo>
                    <a:cubicBezTo>
                      <a:pt x="27531" y="832"/>
                      <a:pt x="26778" y="416"/>
                      <a:pt x="26035" y="0"/>
                    </a:cubicBez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05124" y="1447800"/>
                <a:ext cx="180602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180602" h="53578">
                    <a:moveTo>
                      <a:pt x="180602" y="32149"/>
                    </a:moveTo>
                    <a:cubicBezTo>
                      <a:pt x="158371" y="43318"/>
                      <a:pt x="127761" y="53578"/>
                      <a:pt x="90301" y="53578"/>
                    </a:cubicBezTo>
                    <a:cubicBezTo>
                      <a:pt x="52841" y="53578"/>
                      <a:pt x="22232" y="43318"/>
                      <a:pt x="0" y="32149"/>
                    </a:cubicBezTo>
                    <a:cubicBezTo>
                      <a:pt x="24612" y="12053"/>
                      <a:pt x="56049" y="0"/>
                      <a:pt x="90301" y="0"/>
                    </a:cubicBezTo>
                    <a:cubicBezTo>
                      <a:pt x="124553" y="0"/>
                      <a:pt x="155990" y="12053"/>
                      <a:pt x="180602" y="32149"/>
                    </a:cubicBez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353655" y="1608534"/>
                <a:ext cx="283539" cy="65937"/>
              </a:xfrm>
              <a:custGeom>
                <a:avLst/>
                <a:gdLst/>
                <a:ahLst/>
                <a:cxnLst/>
                <a:rect l="l" t="t" r="r" b="b"/>
                <a:pathLst>
                  <a:path w="283539" h="65937">
                    <a:moveTo>
                      <a:pt x="0" y="0"/>
                    </a:moveTo>
                    <a:cubicBezTo>
                      <a:pt x="3046" y="24430"/>
                      <a:pt x="12261" y="46945"/>
                      <a:pt x="26035" y="65937"/>
                    </a:cubicBezTo>
                    <a:cubicBezTo>
                      <a:pt x="26778" y="65521"/>
                      <a:pt x="27531" y="65105"/>
                      <a:pt x="28294" y="64688"/>
                    </a:cubicBezTo>
                    <a:cubicBezTo>
                      <a:pt x="54822" y="50219"/>
                      <a:pt x="93469" y="35719"/>
                      <a:pt x="141770" y="35719"/>
                    </a:cubicBezTo>
                    <a:cubicBezTo>
                      <a:pt x="190070" y="35719"/>
                      <a:pt x="228718" y="50219"/>
                      <a:pt x="255245" y="64688"/>
                    </a:cubicBezTo>
                    <a:cubicBezTo>
                      <a:pt x="256009" y="65105"/>
                      <a:pt x="256761" y="65521"/>
                      <a:pt x="257504" y="65937"/>
                    </a:cubicBezTo>
                    <a:cubicBezTo>
                      <a:pt x="271279" y="46945"/>
                      <a:pt x="280492" y="24430"/>
                      <a:pt x="28353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05124" y="1679972"/>
                <a:ext cx="180602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180602" h="53578">
                    <a:moveTo>
                      <a:pt x="90301" y="53578"/>
                    </a:moveTo>
                    <a:cubicBezTo>
                      <a:pt x="56049" y="53578"/>
                      <a:pt x="24612" y="41525"/>
                      <a:pt x="0" y="21429"/>
                    </a:cubicBezTo>
                    <a:cubicBezTo>
                      <a:pt x="22232" y="10260"/>
                      <a:pt x="52841" y="0"/>
                      <a:pt x="90301" y="0"/>
                    </a:cubicBezTo>
                    <a:cubicBezTo>
                      <a:pt x="127761" y="0"/>
                      <a:pt x="158370" y="10260"/>
                      <a:pt x="180602" y="21429"/>
                    </a:cubicBezTo>
                    <a:cubicBezTo>
                      <a:pt x="155990" y="41525"/>
                      <a:pt x="124553" y="53578"/>
                      <a:pt x="90301" y="53578"/>
                    </a:cubicBez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719262" y="1478756"/>
              <a:ext cx="942189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Flask Web UI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22120" y="1674495"/>
              <a:ext cx="1727073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SSE 实时进度 · Markdown 渲染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23072" y="1815941"/>
              <a:ext cx="1286113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推荐交互方式，端口 7860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76650" y="1285875"/>
            <a:ext cx="2453068" cy="704850"/>
            <a:chOff x="3676650" y="1285875"/>
            <a:chExt cx="2453068" cy="70485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20" name="Rectangle 20"/>
            <p:cNvSpPr/>
            <p:nvPr/>
          </p:nvSpPr>
          <p:spPr>
            <a:xfrm>
              <a:off x="3676650" y="1285875"/>
              <a:ext cx="22860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3843208" y="1488750"/>
              <a:ext cx="253735" cy="226941"/>
              <a:chOff x="3843208" y="1488750"/>
              <a:chExt cx="253735" cy="22694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843208" y="1488750"/>
                <a:ext cx="127182" cy="203850"/>
              </a:xfrm>
              <a:custGeom>
                <a:avLst/>
                <a:gdLst/>
                <a:ahLst/>
                <a:cxnLst/>
                <a:rect l="l" t="t" r="r" b="b"/>
                <a:pathLst>
                  <a:path w="127182" h="203850">
                    <a:moveTo>
                      <a:pt x="0" y="178594"/>
                    </a:moveTo>
                    <a:lnTo>
                      <a:pt x="76668" y="101925"/>
                    </a:lnTo>
                    <a:lnTo>
                      <a:pt x="0" y="25257"/>
                    </a:lnTo>
                    <a:lnTo>
                      <a:pt x="25257" y="0"/>
                    </a:lnTo>
                    <a:lnTo>
                      <a:pt x="127182" y="101925"/>
                    </a:lnTo>
                    <a:lnTo>
                      <a:pt x="25257" y="203850"/>
                    </a:lnTo>
                    <a:lnTo>
                      <a:pt x="0" y="178594"/>
                    </a:ln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954067" y="1679972"/>
                <a:ext cx="142876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6" h="35719">
                    <a:moveTo>
                      <a:pt x="0" y="35719"/>
                    </a:moveTo>
                    <a:lnTo>
                      <a:pt x="142876" y="35719"/>
                    </a:lnTo>
                    <a:lnTo>
                      <a:pt x="142876" y="0"/>
                    </a:lnTo>
                    <a:lnTo>
                      <a:pt x="0" y="0"/>
                    </a:lnTo>
                    <a:lnTo>
                      <a:pt x="0" y="35719"/>
                    </a:ln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195762" y="1478756"/>
              <a:ext cx="768918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CLI 命令行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98620" y="1674495"/>
              <a:ext cx="1931098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find / history / sessions / cache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99572" y="1815941"/>
              <a:ext cx="835057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python main.py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53150" y="1285875"/>
            <a:ext cx="2807113" cy="704850"/>
            <a:chOff x="6153150" y="1285875"/>
            <a:chExt cx="2807113" cy="70485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6153150" y="1285875"/>
              <a:ext cx="27432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grpSp>
          <p:nvGrpSpPr>
            <p:cNvPr id="31" name="Group 31"/>
            <p:cNvGrpSpPr/>
            <p:nvPr/>
          </p:nvGrpSpPr>
          <p:grpSpPr>
            <a:xfrm>
              <a:off x="6305550" y="1483519"/>
              <a:ext cx="285750" cy="214312"/>
              <a:chOff x="6305550" y="1483519"/>
              <a:chExt cx="285750" cy="21431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305550" y="1483519"/>
                <a:ext cx="285750" cy="89297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89297">
                    <a:moveTo>
                      <a:pt x="285750" y="0"/>
                    </a:moveTo>
                    <a:lnTo>
                      <a:pt x="0" y="0"/>
                    </a:lnTo>
                    <a:lnTo>
                      <a:pt x="0" y="89297"/>
                    </a:lnTo>
                    <a:lnTo>
                      <a:pt x="285750" y="89297"/>
                    </a:lnTo>
                    <a:lnTo>
                      <a:pt x="285750" y="0"/>
                    </a:lnTo>
                    <a:close/>
                    <a:moveTo>
                      <a:pt x="71438" y="44648"/>
                    </a:moveTo>
                    <a:cubicBezTo>
                      <a:pt x="71438" y="54512"/>
                      <a:pt x="63442" y="62508"/>
                      <a:pt x="53578" y="62508"/>
                    </a:cubicBezTo>
                    <a:cubicBezTo>
                      <a:pt x="43715" y="62508"/>
                      <a:pt x="35719" y="54512"/>
                      <a:pt x="35719" y="44648"/>
                    </a:cubicBezTo>
                    <a:cubicBezTo>
                      <a:pt x="35719" y="34785"/>
                      <a:pt x="43715" y="26789"/>
                      <a:pt x="53578" y="26789"/>
                    </a:cubicBezTo>
                    <a:cubicBezTo>
                      <a:pt x="63442" y="26789"/>
                      <a:pt x="71438" y="34785"/>
                      <a:pt x="71438" y="44648"/>
                    </a:cubicBez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305550" y="1608534"/>
                <a:ext cx="285750" cy="89297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89297">
                    <a:moveTo>
                      <a:pt x="285750" y="0"/>
                    </a:moveTo>
                    <a:lnTo>
                      <a:pt x="0" y="0"/>
                    </a:lnTo>
                    <a:lnTo>
                      <a:pt x="0" y="89297"/>
                    </a:lnTo>
                    <a:lnTo>
                      <a:pt x="285750" y="89297"/>
                    </a:lnTo>
                    <a:lnTo>
                      <a:pt x="285750" y="0"/>
                    </a:lnTo>
                    <a:close/>
                    <a:moveTo>
                      <a:pt x="53578" y="62508"/>
                    </a:moveTo>
                    <a:cubicBezTo>
                      <a:pt x="63442" y="62508"/>
                      <a:pt x="71438" y="54512"/>
                      <a:pt x="71438" y="44648"/>
                    </a:cubicBezTo>
                    <a:cubicBezTo>
                      <a:pt x="71438" y="34785"/>
                      <a:pt x="63442" y="26789"/>
                      <a:pt x="53578" y="26789"/>
                    </a:cubicBezTo>
                    <a:cubicBezTo>
                      <a:pt x="43715" y="26789"/>
                      <a:pt x="35719" y="34785"/>
                      <a:pt x="35719" y="44648"/>
                    </a:cubicBezTo>
                    <a:cubicBezTo>
                      <a:pt x="35719" y="54512"/>
                      <a:pt x="43715" y="62508"/>
                      <a:pt x="53578" y="62508"/>
                    </a:cubicBez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672262" y="1478756"/>
              <a:ext cx="642902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REST API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75120" y="1674495"/>
              <a:ext cx="2285143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12 个端点 · chat / sessions / knowledge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76072" y="1815941"/>
              <a:ext cx="1264110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SSE streaming endpoint</a:t>
              </a:r>
            </a:p>
          </p:txBody>
        </p:sp>
      </p:grpSp>
      <p:sp>
        <p:nvSpPr>
          <p:cNvPr id="36" name="Freeform 36"/>
          <p:cNvSpPr/>
          <p:nvPr/>
        </p:nvSpPr>
        <p:spPr>
          <a:xfrm>
            <a:off x="5048250" y="2114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57150"/>
                </a:moveTo>
                <a:lnTo>
                  <a:pt x="76200" y="57150"/>
                </a:lnTo>
                <a:lnTo>
                  <a:pt x="76200" y="0"/>
                </a:lnTo>
                <a:lnTo>
                  <a:pt x="142875" y="95250"/>
                </a:lnTo>
                <a:lnTo>
                  <a:pt x="76200" y="190500"/>
                </a:lnTo>
                <a:lnTo>
                  <a:pt x="762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571500" y="2333625"/>
            <a:ext cx="342900" cy="1238250"/>
          </a:xfrm>
          <a:prstGeom prst="roundRect">
            <a:avLst>
              <a:gd name="adj" fmla="val 22222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1842" y="288321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047750" y="2333625"/>
            <a:ext cx="8001000" cy="1238250"/>
          </a:xfrm>
          <a:prstGeom prst="roundRect">
            <a:avLst>
              <a:gd name="adj" fmla="val 7692"/>
            </a:avLst>
          </a:prstGeom>
          <a:solidFill>
            <a:srgbClr val="EEF2FF">
              <a:alpha val="40000"/>
            </a:srgbClr>
          </a:solidFill>
          <a:ln w="14288">
            <a:solidFill>
              <a:srgbClr val="A5B4FC"/>
            </a:solidFill>
            <a:custDash>
              <a:ds d="400000" sp="266666"/>
            </a:custDash>
          </a:ln>
        </p:spPr>
      </p:sp>
      <p:sp>
        <p:nvSpPr>
          <p:cNvPr id="40" name="TextBox 40"/>
          <p:cNvSpPr txBox="1"/>
          <p:nvPr/>
        </p:nvSpPr>
        <p:spPr>
          <a:xfrm>
            <a:off x="4343733" y="245554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路由层 · ROUTING LAYER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200150" y="2714625"/>
            <a:ext cx="2286000" cy="704850"/>
            <a:chOff x="1200150" y="2714625"/>
            <a:chExt cx="2286000" cy="70485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41" name="Rectangle 41"/>
            <p:cNvSpPr/>
            <p:nvPr/>
          </p:nvSpPr>
          <p:spPr>
            <a:xfrm>
              <a:off x="1200150" y="2714625"/>
              <a:ext cx="22860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grpSp>
          <p:nvGrpSpPr>
            <p:cNvPr id="45" name="Group 45"/>
            <p:cNvGrpSpPr/>
            <p:nvPr/>
          </p:nvGrpSpPr>
          <p:grpSpPr>
            <a:xfrm>
              <a:off x="1388269" y="2876550"/>
              <a:ext cx="214312" cy="285750"/>
              <a:chOff x="1388269" y="2876550"/>
              <a:chExt cx="214312" cy="2857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388269" y="2990850"/>
                <a:ext cx="214312" cy="82153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82153">
                    <a:moveTo>
                      <a:pt x="198902" y="9111"/>
                    </a:moveTo>
                    <a:cubicBezTo>
                      <a:pt x="203925" y="6599"/>
                      <a:pt x="209174" y="3568"/>
                      <a:pt x="214312" y="0"/>
                    </a:cubicBezTo>
                    <a:lnTo>
                      <a:pt x="214312" y="28575"/>
                    </a:lnTo>
                    <a:cubicBezTo>
                      <a:pt x="214312" y="58165"/>
                      <a:pt x="166337" y="82153"/>
                      <a:pt x="107156" y="82153"/>
                    </a:cubicBezTo>
                    <a:cubicBezTo>
                      <a:pt x="47975" y="82153"/>
                      <a:pt x="0" y="58165"/>
                      <a:pt x="0" y="28575"/>
                    </a:cubicBezTo>
                    <a:lnTo>
                      <a:pt x="0" y="0"/>
                    </a:lnTo>
                    <a:cubicBezTo>
                      <a:pt x="5138" y="3568"/>
                      <a:pt x="10387" y="6599"/>
                      <a:pt x="15411" y="9111"/>
                    </a:cubicBezTo>
                    <a:cubicBezTo>
                      <a:pt x="40737" y="21774"/>
                      <a:pt x="73223" y="28575"/>
                      <a:pt x="107156" y="28575"/>
                    </a:cubicBezTo>
                    <a:cubicBezTo>
                      <a:pt x="141089" y="28575"/>
                      <a:pt x="173575" y="21774"/>
                      <a:pt x="198902" y="9111"/>
                    </a:cubicBez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388269" y="3080147"/>
                <a:ext cx="214312" cy="82153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82153">
                    <a:moveTo>
                      <a:pt x="0" y="0"/>
                    </a:moveTo>
                    <a:lnTo>
                      <a:pt x="0" y="28575"/>
                    </a:lnTo>
                    <a:cubicBezTo>
                      <a:pt x="0" y="58166"/>
                      <a:pt x="47975" y="82153"/>
                      <a:pt x="107156" y="82153"/>
                    </a:cubicBezTo>
                    <a:cubicBezTo>
                      <a:pt x="166337" y="82153"/>
                      <a:pt x="214312" y="58166"/>
                      <a:pt x="214312" y="28575"/>
                    </a:cubicBezTo>
                    <a:lnTo>
                      <a:pt x="214312" y="0"/>
                    </a:lnTo>
                    <a:cubicBezTo>
                      <a:pt x="209174" y="3568"/>
                      <a:pt x="203925" y="6599"/>
                      <a:pt x="198902" y="9112"/>
                    </a:cubicBezTo>
                    <a:cubicBezTo>
                      <a:pt x="173575" y="21774"/>
                      <a:pt x="141089" y="28575"/>
                      <a:pt x="107156" y="28575"/>
                    </a:cubicBezTo>
                    <a:cubicBezTo>
                      <a:pt x="73223" y="28575"/>
                      <a:pt x="40737" y="21774"/>
                      <a:pt x="15411" y="9112"/>
                    </a:cubicBezTo>
                    <a:cubicBezTo>
                      <a:pt x="10387" y="6599"/>
                      <a:pt x="5138" y="3568"/>
                      <a:pt x="0" y="0"/>
                    </a:cubicBez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388269" y="2876550"/>
                <a:ext cx="21431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7156">
                    <a:moveTo>
                      <a:pt x="107156" y="0"/>
                    </a:moveTo>
                    <a:cubicBezTo>
                      <a:pt x="166337" y="0"/>
                      <a:pt x="214312" y="23988"/>
                      <a:pt x="214312" y="53578"/>
                    </a:cubicBezTo>
                    <a:cubicBezTo>
                      <a:pt x="214312" y="83168"/>
                      <a:pt x="166337" y="107156"/>
                      <a:pt x="107156" y="107156"/>
                    </a:cubicBezTo>
                    <a:cubicBezTo>
                      <a:pt x="47975" y="107156"/>
                      <a:pt x="0" y="83168"/>
                      <a:pt x="0" y="53578"/>
                    </a:cubicBezTo>
                    <a:cubicBezTo>
                      <a:pt x="0" y="23988"/>
                      <a:pt x="47975" y="0"/>
                      <a:pt x="107156" y="0"/>
                    </a:cubicBez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719262" y="2907506"/>
              <a:ext cx="950065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4 级缓存检查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22120" y="3103245"/>
              <a:ext cx="1643062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答案 → 检索 → 搜索 → web→RAG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23072" y="3244691"/>
              <a:ext cx="807553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MD5 归一化匹配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676650" y="2714625"/>
            <a:ext cx="2286000" cy="704850"/>
            <a:chOff x="3676650" y="2714625"/>
            <a:chExt cx="2286000" cy="70485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50" name="Rectangle 50"/>
            <p:cNvSpPr/>
            <p:nvPr/>
          </p:nvSpPr>
          <p:spPr>
            <a:xfrm>
              <a:off x="3676650" y="2714625"/>
              <a:ext cx="22860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1" name="Freeform 51"/>
            <p:cNvSpPr/>
            <p:nvPr/>
          </p:nvSpPr>
          <p:spPr>
            <a:xfrm>
              <a:off x="3864769" y="2876550"/>
              <a:ext cx="214312" cy="285750"/>
            </a:xfrm>
            <a:custGeom>
              <a:avLst/>
              <a:gdLst/>
              <a:ahLst/>
              <a:cxnLst/>
              <a:rect l="l" t="t" r="r" b="b"/>
              <a:pathLst>
                <a:path w="214312" h="285750">
                  <a:moveTo>
                    <a:pt x="125016" y="125016"/>
                  </a:moveTo>
                  <a:lnTo>
                    <a:pt x="142875" y="0"/>
                  </a:lnTo>
                  <a:lnTo>
                    <a:pt x="107156" y="0"/>
                  </a:lnTo>
                  <a:lnTo>
                    <a:pt x="0" y="125016"/>
                  </a:lnTo>
                  <a:lnTo>
                    <a:pt x="0" y="160734"/>
                  </a:lnTo>
                  <a:lnTo>
                    <a:pt x="89297" y="160734"/>
                  </a:lnTo>
                  <a:lnTo>
                    <a:pt x="71438" y="285750"/>
                  </a:lnTo>
                  <a:lnTo>
                    <a:pt x="107156" y="285750"/>
                  </a:lnTo>
                  <a:lnTo>
                    <a:pt x="214312" y="160734"/>
                  </a:lnTo>
                  <a:lnTo>
                    <a:pt x="214312" y="125016"/>
                  </a:lnTo>
                  <a:lnTo>
                    <a:pt x="125016" y="125016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2" name="TextBox 52"/>
            <p:cNvSpPr txBox="1"/>
            <p:nvPr/>
          </p:nvSpPr>
          <p:spPr>
            <a:xfrm>
              <a:off x="4195762" y="2907506"/>
              <a:ext cx="816173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规则路由器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98620" y="3103245"/>
              <a:ext cx="1415034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关键词匹配 · 零 LLM 调用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199572" y="3244691"/>
              <a:ext cx="1467636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天气 / 新闻类问题零路由成本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153150" y="2714625"/>
            <a:ext cx="2743200" cy="704850"/>
            <a:chOff x="6153150" y="2714625"/>
            <a:chExt cx="2743200" cy="70485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56" name="Rectangle 56"/>
            <p:cNvSpPr/>
            <p:nvPr/>
          </p:nvSpPr>
          <p:spPr>
            <a:xfrm>
              <a:off x="6153150" y="2714625"/>
              <a:ext cx="27432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7" name="Freeform 57"/>
            <p:cNvSpPr/>
            <p:nvPr/>
          </p:nvSpPr>
          <p:spPr>
            <a:xfrm>
              <a:off x="6305550" y="2876550"/>
              <a:ext cx="285750" cy="267891"/>
            </a:xfrm>
            <a:custGeom>
              <a:avLst/>
              <a:gdLst/>
              <a:ahLst/>
              <a:cxnLst/>
              <a:rect l="l" t="t" r="r" b="b"/>
              <a:pathLst>
                <a:path w="285750" h="267891">
                  <a:moveTo>
                    <a:pt x="160734" y="0"/>
                  </a:moveTo>
                  <a:lnTo>
                    <a:pt x="160734" y="35719"/>
                  </a:lnTo>
                  <a:lnTo>
                    <a:pt x="232172" y="35719"/>
                  </a:lnTo>
                  <a:lnTo>
                    <a:pt x="285750" y="151805"/>
                  </a:lnTo>
                  <a:lnTo>
                    <a:pt x="232172" y="267891"/>
                  </a:lnTo>
                  <a:lnTo>
                    <a:pt x="53578" y="267891"/>
                  </a:lnTo>
                  <a:lnTo>
                    <a:pt x="0" y="151805"/>
                  </a:lnTo>
                  <a:lnTo>
                    <a:pt x="53578" y="35719"/>
                  </a:lnTo>
                  <a:lnTo>
                    <a:pt x="125016" y="35719"/>
                  </a:lnTo>
                  <a:lnTo>
                    <a:pt x="125016" y="0"/>
                  </a:lnTo>
                  <a:lnTo>
                    <a:pt x="160734" y="0"/>
                  </a:lnTo>
                  <a:close/>
                  <a:moveTo>
                    <a:pt x="82116" y="209640"/>
                  </a:moveTo>
                  <a:lnTo>
                    <a:pt x="142875" y="218988"/>
                  </a:lnTo>
                  <a:lnTo>
                    <a:pt x="203634" y="209640"/>
                  </a:lnTo>
                  <a:lnTo>
                    <a:pt x="198202" y="174337"/>
                  </a:lnTo>
                  <a:lnTo>
                    <a:pt x="142875" y="182848"/>
                  </a:lnTo>
                  <a:lnTo>
                    <a:pt x="87548" y="174337"/>
                  </a:lnTo>
                  <a:lnTo>
                    <a:pt x="82116" y="209640"/>
                  </a:lnTo>
                  <a:close/>
                  <a:moveTo>
                    <a:pt x="125016" y="120551"/>
                  </a:moveTo>
                  <a:cubicBezTo>
                    <a:pt x="125016" y="132880"/>
                    <a:pt x="115021" y="142875"/>
                    <a:pt x="102691" y="142875"/>
                  </a:cubicBezTo>
                  <a:cubicBezTo>
                    <a:pt x="90362" y="142875"/>
                    <a:pt x="80367" y="132880"/>
                    <a:pt x="80367" y="120551"/>
                  </a:cubicBezTo>
                  <a:cubicBezTo>
                    <a:pt x="80367" y="108221"/>
                    <a:pt x="90362" y="98227"/>
                    <a:pt x="102691" y="98227"/>
                  </a:cubicBezTo>
                  <a:cubicBezTo>
                    <a:pt x="115021" y="98227"/>
                    <a:pt x="125016" y="108221"/>
                    <a:pt x="125016" y="120551"/>
                  </a:cubicBezTo>
                  <a:close/>
                  <a:moveTo>
                    <a:pt x="183059" y="142875"/>
                  </a:moveTo>
                  <a:cubicBezTo>
                    <a:pt x="195389" y="142875"/>
                    <a:pt x="205383" y="132880"/>
                    <a:pt x="205383" y="120551"/>
                  </a:cubicBezTo>
                  <a:cubicBezTo>
                    <a:pt x="205383" y="108221"/>
                    <a:pt x="195389" y="98227"/>
                    <a:pt x="183059" y="98227"/>
                  </a:cubicBezTo>
                  <a:cubicBezTo>
                    <a:pt x="170729" y="98227"/>
                    <a:pt x="160734" y="108221"/>
                    <a:pt x="160734" y="120551"/>
                  </a:cubicBezTo>
                  <a:cubicBezTo>
                    <a:pt x="160734" y="132880"/>
                    <a:pt x="170729" y="142875"/>
                    <a:pt x="183059" y="142875"/>
                  </a:cubicBez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6672262" y="2907506"/>
              <a:ext cx="1469880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LLM 路由器（兜底）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75120" y="3103245"/>
              <a:ext cx="1901095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三路分发: lecture / web / hybrid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76072" y="3244691"/>
              <a:ext cx="1143095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temp=0.1 · ~50 token</a:t>
              </a:r>
            </a:p>
          </p:txBody>
        </p:sp>
      </p:grpSp>
      <p:sp>
        <p:nvSpPr>
          <p:cNvPr id="62" name="Freeform 62"/>
          <p:cNvSpPr/>
          <p:nvPr/>
        </p:nvSpPr>
        <p:spPr>
          <a:xfrm>
            <a:off x="5048250" y="35433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57150"/>
                </a:moveTo>
                <a:lnTo>
                  <a:pt x="76200" y="57150"/>
                </a:lnTo>
                <a:lnTo>
                  <a:pt x="76200" y="0"/>
                </a:lnTo>
                <a:lnTo>
                  <a:pt x="142875" y="95250"/>
                </a:lnTo>
                <a:lnTo>
                  <a:pt x="76200" y="190500"/>
                </a:lnTo>
                <a:lnTo>
                  <a:pt x="762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571500" y="3762375"/>
            <a:ext cx="342900" cy="123825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21842" y="431196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5" name="Rectangle 65"/>
          <p:cNvSpPr/>
          <p:nvPr/>
        </p:nvSpPr>
        <p:spPr>
          <a:xfrm>
            <a:off x="1047750" y="3762375"/>
            <a:ext cx="8001000" cy="1238250"/>
          </a:xfrm>
          <a:prstGeom prst="roundRect">
            <a:avLst>
              <a:gd name="adj" fmla="val 7692"/>
            </a:avLst>
          </a:prstGeom>
          <a:solidFill>
            <a:srgbClr val="E0F2FE">
              <a:alpha val="40000"/>
            </a:srgbClr>
          </a:solidFill>
          <a:ln w="14288">
            <a:solidFill>
              <a:srgbClr val="7DD3FC"/>
            </a:solidFill>
            <a:custDash>
              <a:ds d="400000" sp="266666"/>
            </a:custDash>
          </a:ln>
        </p:spPr>
      </p:sp>
      <p:sp>
        <p:nvSpPr>
          <p:cNvPr id="66" name="TextBox 66"/>
          <p:cNvSpPr txBox="1"/>
          <p:nvPr/>
        </p:nvSpPr>
        <p:spPr>
          <a:xfrm>
            <a:off x="4239770" y="3884295"/>
            <a:ext cx="16169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处理层 · PROCESSING LAYER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1200150" y="4143375"/>
            <a:ext cx="1714500" cy="704850"/>
            <a:chOff x="1200150" y="4143375"/>
            <a:chExt cx="1714500" cy="70485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67" name="Rectangle 67"/>
            <p:cNvSpPr/>
            <p:nvPr/>
          </p:nvSpPr>
          <p:spPr>
            <a:xfrm>
              <a:off x="1200150" y="4143375"/>
              <a:ext cx="17145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68" name="Freeform 68"/>
            <p:cNvSpPr/>
            <p:nvPr/>
          </p:nvSpPr>
          <p:spPr>
            <a:xfrm>
              <a:off x="1352550" y="4305300"/>
              <a:ext cx="280519" cy="280519"/>
            </a:xfrm>
            <a:custGeom>
              <a:avLst/>
              <a:gdLst/>
              <a:ahLst/>
              <a:cxnLst/>
              <a:rect l="l" t="t" r="r" b="b"/>
              <a:pathLst>
                <a:path w="280519" h="280519">
                  <a:moveTo>
                    <a:pt x="199886" y="225142"/>
                  </a:moveTo>
                  <a:cubicBezTo>
                    <a:pt x="179015" y="240773"/>
                    <a:pt x="153097" y="250031"/>
                    <a:pt x="125016" y="250031"/>
                  </a:cubicBezTo>
                  <a:cubicBezTo>
                    <a:pt x="55971" y="250031"/>
                    <a:pt x="0" y="194060"/>
                    <a:pt x="0" y="125016"/>
                  </a:cubicBezTo>
                  <a:cubicBezTo>
                    <a:pt x="0" y="55971"/>
                    <a:pt x="55971" y="0"/>
                    <a:pt x="125016" y="0"/>
                  </a:cubicBezTo>
                  <a:cubicBezTo>
                    <a:pt x="194060" y="0"/>
                    <a:pt x="250031" y="55971"/>
                    <a:pt x="250031" y="125016"/>
                  </a:cubicBezTo>
                  <a:cubicBezTo>
                    <a:pt x="250031" y="153097"/>
                    <a:pt x="240773" y="179015"/>
                    <a:pt x="225142" y="199886"/>
                  </a:cubicBezTo>
                  <a:lnTo>
                    <a:pt x="280519" y="255262"/>
                  </a:lnTo>
                  <a:lnTo>
                    <a:pt x="255262" y="280519"/>
                  </a:lnTo>
                  <a:lnTo>
                    <a:pt x="199886" y="225142"/>
                  </a:lnTo>
                  <a:close/>
                  <a:moveTo>
                    <a:pt x="99759" y="150273"/>
                  </a:moveTo>
                  <a:lnTo>
                    <a:pt x="74502" y="175530"/>
                  </a:lnTo>
                  <a:cubicBezTo>
                    <a:pt x="46604" y="147631"/>
                    <a:pt x="46604" y="102400"/>
                    <a:pt x="74502" y="74502"/>
                  </a:cubicBezTo>
                  <a:cubicBezTo>
                    <a:pt x="102400" y="46604"/>
                    <a:pt x="147631" y="46604"/>
                    <a:pt x="175530" y="74502"/>
                  </a:cubicBezTo>
                  <a:lnTo>
                    <a:pt x="150273" y="99759"/>
                  </a:lnTo>
                  <a:cubicBezTo>
                    <a:pt x="136323" y="85810"/>
                    <a:pt x="113708" y="85810"/>
                    <a:pt x="99759" y="99759"/>
                  </a:cubicBezTo>
                  <a:cubicBezTo>
                    <a:pt x="85810" y="113708"/>
                    <a:pt x="85810" y="136323"/>
                    <a:pt x="99759" y="150273"/>
                  </a:cubicBez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69" name="TextBox 69"/>
            <p:cNvSpPr txBox="1"/>
            <p:nvPr/>
          </p:nvSpPr>
          <p:spPr>
            <a:xfrm>
              <a:off x="1719262" y="4336256"/>
              <a:ext cx="650778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RAG 检索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722120" y="4531995"/>
              <a:ext cx="922972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余弦 ANN + BM25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723072" y="4673441"/>
              <a:ext cx="796552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70/30 混合排序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048000" y="4143375"/>
            <a:ext cx="1714500" cy="704850"/>
            <a:chOff x="3048000" y="4143375"/>
            <a:chExt cx="1714500" cy="70485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73" name="Rectangle 73"/>
            <p:cNvSpPr/>
            <p:nvPr/>
          </p:nvSpPr>
          <p:spPr>
            <a:xfrm>
              <a:off x="3048000" y="4143375"/>
              <a:ext cx="17145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grpSp>
          <p:nvGrpSpPr>
            <p:cNvPr id="78" name="Group 78"/>
            <p:cNvGrpSpPr/>
            <p:nvPr/>
          </p:nvGrpSpPr>
          <p:grpSpPr>
            <a:xfrm>
              <a:off x="3201505" y="4305300"/>
              <a:ext cx="283539" cy="285750"/>
              <a:chOff x="3201505" y="4305300"/>
              <a:chExt cx="283539" cy="28575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3201505" y="4364379"/>
                <a:ext cx="283539" cy="65937"/>
              </a:xfrm>
              <a:custGeom>
                <a:avLst/>
                <a:gdLst/>
                <a:ahLst/>
                <a:cxnLst/>
                <a:rect l="l" t="t" r="r" b="b"/>
                <a:pathLst>
                  <a:path w="283539" h="65937">
                    <a:moveTo>
                      <a:pt x="26035" y="0"/>
                    </a:moveTo>
                    <a:cubicBezTo>
                      <a:pt x="12261" y="18992"/>
                      <a:pt x="3046" y="41507"/>
                      <a:pt x="0" y="65937"/>
                    </a:cubicBezTo>
                    <a:lnTo>
                      <a:pt x="283539" y="65937"/>
                    </a:lnTo>
                    <a:cubicBezTo>
                      <a:pt x="280492" y="41506"/>
                      <a:pt x="271279" y="18992"/>
                      <a:pt x="257504" y="0"/>
                    </a:cubicBezTo>
                    <a:cubicBezTo>
                      <a:pt x="256761" y="416"/>
                      <a:pt x="256007" y="832"/>
                      <a:pt x="255245" y="1248"/>
                    </a:cubicBezTo>
                    <a:cubicBezTo>
                      <a:pt x="228716" y="15718"/>
                      <a:pt x="190070" y="30218"/>
                      <a:pt x="141769" y="30218"/>
                    </a:cubicBezTo>
                    <a:cubicBezTo>
                      <a:pt x="93468" y="30218"/>
                      <a:pt x="54821" y="15718"/>
                      <a:pt x="28293" y="1248"/>
                    </a:cubicBezTo>
                    <a:cubicBezTo>
                      <a:pt x="27531" y="832"/>
                      <a:pt x="26778" y="416"/>
                      <a:pt x="26035" y="0"/>
                    </a:cubicBezTo>
                    <a:close/>
                  </a:path>
                </a:pathLst>
              </a:custGeom>
              <a:solidFill>
                <a:srgbClr val="0284C7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75" name="Freeform 75"/>
              <p:cNvSpPr/>
              <p:nvPr/>
            </p:nvSpPr>
            <p:spPr>
              <a:xfrm>
                <a:off x="3252974" y="4305300"/>
                <a:ext cx="180602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180602" h="53578">
                    <a:moveTo>
                      <a:pt x="180602" y="32149"/>
                    </a:moveTo>
                    <a:cubicBezTo>
                      <a:pt x="158371" y="43318"/>
                      <a:pt x="127761" y="53578"/>
                      <a:pt x="90301" y="53578"/>
                    </a:cubicBezTo>
                    <a:cubicBezTo>
                      <a:pt x="52841" y="53578"/>
                      <a:pt x="22232" y="43318"/>
                      <a:pt x="0" y="32149"/>
                    </a:cubicBezTo>
                    <a:cubicBezTo>
                      <a:pt x="24612" y="12053"/>
                      <a:pt x="56049" y="0"/>
                      <a:pt x="90301" y="0"/>
                    </a:cubicBezTo>
                    <a:cubicBezTo>
                      <a:pt x="124553" y="0"/>
                      <a:pt x="155990" y="12053"/>
                      <a:pt x="180602" y="32149"/>
                    </a:cubicBezTo>
                    <a:close/>
                  </a:path>
                </a:pathLst>
              </a:custGeom>
              <a:solidFill>
                <a:srgbClr val="0284C7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76" name="Freeform 76"/>
              <p:cNvSpPr/>
              <p:nvPr/>
            </p:nvSpPr>
            <p:spPr>
              <a:xfrm>
                <a:off x="3201505" y="4466034"/>
                <a:ext cx="283539" cy="65937"/>
              </a:xfrm>
              <a:custGeom>
                <a:avLst/>
                <a:gdLst/>
                <a:ahLst/>
                <a:cxnLst/>
                <a:rect l="l" t="t" r="r" b="b"/>
                <a:pathLst>
                  <a:path w="283539" h="65937">
                    <a:moveTo>
                      <a:pt x="0" y="0"/>
                    </a:moveTo>
                    <a:cubicBezTo>
                      <a:pt x="3046" y="24430"/>
                      <a:pt x="12261" y="46945"/>
                      <a:pt x="26035" y="65937"/>
                    </a:cubicBezTo>
                    <a:cubicBezTo>
                      <a:pt x="26778" y="65521"/>
                      <a:pt x="27531" y="65105"/>
                      <a:pt x="28294" y="64688"/>
                    </a:cubicBezTo>
                    <a:cubicBezTo>
                      <a:pt x="54822" y="50219"/>
                      <a:pt x="93469" y="35719"/>
                      <a:pt x="141770" y="35719"/>
                    </a:cubicBezTo>
                    <a:cubicBezTo>
                      <a:pt x="190070" y="35719"/>
                      <a:pt x="228718" y="50219"/>
                      <a:pt x="255245" y="64688"/>
                    </a:cubicBezTo>
                    <a:cubicBezTo>
                      <a:pt x="256009" y="65105"/>
                      <a:pt x="256761" y="65521"/>
                      <a:pt x="257504" y="65937"/>
                    </a:cubicBezTo>
                    <a:cubicBezTo>
                      <a:pt x="271279" y="46945"/>
                      <a:pt x="280492" y="24430"/>
                      <a:pt x="28353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284C7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77" name="Freeform 77"/>
              <p:cNvSpPr/>
              <p:nvPr/>
            </p:nvSpPr>
            <p:spPr>
              <a:xfrm>
                <a:off x="3252974" y="4537472"/>
                <a:ext cx="180602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180602" h="53578">
                    <a:moveTo>
                      <a:pt x="90301" y="53578"/>
                    </a:moveTo>
                    <a:cubicBezTo>
                      <a:pt x="56049" y="53578"/>
                      <a:pt x="24612" y="41525"/>
                      <a:pt x="0" y="21429"/>
                    </a:cubicBezTo>
                    <a:cubicBezTo>
                      <a:pt x="22232" y="10260"/>
                      <a:pt x="52841" y="0"/>
                      <a:pt x="90301" y="0"/>
                    </a:cubicBezTo>
                    <a:cubicBezTo>
                      <a:pt x="127761" y="0"/>
                      <a:pt x="158370" y="10260"/>
                      <a:pt x="180602" y="21429"/>
                    </a:cubicBezTo>
                    <a:cubicBezTo>
                      <a:pt x="155990" y="41525"/>
                      <a:pt x="124553" y="53578"/>
                      <a:pt x="90301" y="53578"/>
                    </a:cubicBezTo>
                    <a:close/>
                  </a:path>
                </a:pathLst>
              </a:custGeom>
              <a:solidFill>
                <a:srgbClr val="0284C7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3567112" y="4336256"/>
              <a:ext cx="682282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Web 搜索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569970" y="4531995"/>
              <a:ext cx="1078992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Tavily API · 1h 缓存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570922" y="4673441"/>
              <a:ext cx="895564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结果持久化到 RAG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95850" y="4143375"/>
            <a:ext cx="2067567" cy="704850"/>
            <a:chOff x="4895850" y="4143375"/>
            <a:chExt cx="2067567" cy="70485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83" name="Rectangle 83"/>
            <p:cNvSpPr/>
            <p:nvPr/>
          </p:nvSpPr>
          <p:spPr>
            <a:xfrm>
              <a:off x="4895850" y="4143375"/>
              <a:ext cx="17145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84" name="Freeform 84"/>
            <p:cNvSpPr/>
            <p:nvPr/>
          </p:nvSpPr>
          <p:spPr>
            <a:xfrm>
              <a:off x="5066109" y="4305300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25016" y="285750"/>
                  </a:moveTo>
                  <a:lnTo>
                    <a:pt x="59831" y="239189"/>
                  </a:lnTo>
                  <a:cubicBezTo>
                    <a:pt x="22284" y="212369"/>
                    <a:pt x="0" y="169069"/>
                    <a:pt x="0" y="122927"/>
                  </a:cubicBezTo>
                  <a:lnTo>
                    <a:pt x="0" y="53578"/>
                  </a:lnTo>
                  <a:lnTo>
                    <a:pt x="125016" y="0"/>
                  </a:lnTo>
                  <a:lnTo>
                    <a:pt x="250031" y="53578"/>
                  </a:lnTo>
                  <a:lnTo>
                    <a:pt x="250031" y="122927"/>
                  </a:lnTo>
                  <a:cubicBezTo>
                    <a:pt x="250031" y="169069"/>
                    <a:pt x="227748" y="212369"/>
                    <a:pt x="190201" y="239189"/>
                  </a:cubicBezTo>
                  <a:lnTo>
                    <a:pt x="125016" y="285750"/>
                  </a:lnTo>
                  <a:close/>
                  <a:moveTo>
                    <a:pt x="200152" y="101925"/>
                  </a:moveTo>
                  <a:lnTo>
                    <a:pt x="174895" y="76668"/>
                  </a:lnTo>
                  <a:lnTo>
                    <a:pt x="107156" y="144407"/>
                  </a:lnTo>
                  <a:lnTo>
                    <a:pt x="75136" y="112387"/>
                  </a:lnTo>
                  <a:lnTo>
                    <a:pt x="49879" y="137644"/>
                  </a:lnTo>
                  <a:lnTo>
                    <a:pt x="107156" y="194921"/>
                  </a:lnTo>
                  <a:lnTo>
                    <a:pt x="200152" y="101925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85" name="TextBox 85"/>
            <p:cNvSpPr txBox="1"/>
            <p:nvPr/>
          </p:nvSpPr>
          <p:spPr>
            <a:xfrm>
              <a:off x="5414962" y="4336256"/>
              <a:ext cx="816173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相似度门控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417820" y="4531995"/>
              <a:ext cx="724948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3 档阈值判定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418772" y="4673441"/>
              <a:ext cx="1544645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&gt;=0.82 / 0.55-0.82 / &lt;=0.55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6743700" y="4143375"/>
            <a:ext cx="2267045" cy="704850"/>
            <a:chOff x="6743700" y="4143375"/>
            <a:chExt cx="2267045" cy="70485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89" name="Rectangle 89"/>
            <p:cNvSpPr/>
            <p:nvPr/>
          </p:nvSpPr>
          <p:spPr>
            <a:xfrm>
              <a:off x="6743700" y="4143375"/>
              <a:ext cx="21526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90" name="Freeform 90"/>
            <p:cNvSpPr/>
            <p:nvPr/>
          </p:nvSpPr>
          <p:spPr>
            <a:xfrm>
              <a:off x="6896100" y="4305300"/>
              <a:ext cx="285750" cy="267891"/>
            </a:xfrm>
            <a:custGeom>
              <a:avLst/>
              <a:gdLst/>
              <a:ahLst/>
              <a:cxnLst/>
              <a:rect l="l" t="t" r="r" b="b"/>
              <a:pathLst>
                <a:path w="285750" h="267891">
                  <a:moveTo>
                    <a:pt x="160734" y="0"/>
                  </a:moveTo>
                  <a:lnTo>
                    <a:pt x="160734" y="35719"/>
                  </a:lnTo>
                  <a:lnTo>
                    <a:pt x="232172" y="35719"/>
                  </a:lnTo>
                  <a:lnTo>
                    <a:pt x="285750" y="151805"/>
                  </a:lnTo>
                  <a:lnTo>
                    <a:pt x="232172" y="267891"/>
                  </a:lnTo>
                  <a:lnTo>
                    <a:pt x="53578" y="267891"/>
                  </a:lnTo>
                  <a:lnTo>
                    <a:pt x="0" y="151805"/>
                  </a:lnTo>
                  <a:lnTo>
                    <a:pt x="53578" y="35719"/>
                  </a:lnTo>
                  <a:lnTo>
                    <a:pt x="125016" y="35719"/>
                  </a:lnTo>
                  <a:lnTo>
                    <a:pt x="125016" y="0"/>
                  </a:lnTo>
                  <a:lnTo>
                    <a:pt x="160734" y="0"/>
                  </a:lnTo>
                  <a:close/>
                  <a:moveTo>
                    <a:pt x="82116" y="209640"/>
                  </a:moveTo>
                  <a:lnTo>
                    <a:pt x="142875" y="218988"/>
                  </a:lnTo>
                  <a:lnTo>
                    <a:pt x="203634" y="209640"/>
                  </a:lnTo>
                  <a:lnTo>
                    <a:pt x="198202" y="174337"/>
                  </a:lnTo>
                  <a:lnTo>
                    <a:pt x="142875" y="182848"/>
                  </a:lnTo>
                  <a:lnTo>
                    <a:pt x="87548" y="174337"/>
                  </a:lnTo>
                  <a:lnTo>
                    <a:pt x="82116" y="209640"/>
                  </a:lnTo>
                  <a:close/>
                  <a:moveTo>
                    <a:pt x="125016" y="120551"/>
                  </a:moveTo>
                  <a:cubicBezTo>
                    <a:pt x="125016" y="132880"/>
                    <a:pt x="115021" y="142875"/>
                    <a:pt x="102691" y="142875"/>
                  </a:cubicBezTo>
                  <a:cubicBezTo>
                    <a:pt x="90362" y="142875"/>
                    <a:pt x="80367" y="132880"/>
                    <a:pt x="80367" y="120551"/>
                  </a:cubicBezTo>
                  <a:cubicBezTo>
                    <a:pt x="80367" y="108221"/>
                    <a:pt x="90362" y="98227"/>
                    <a:pt x="102691" y="98227"/>
                  </a:cubicBezTo>
                  <a:cubicBezTo>
                    <a:pt x="115021" y="98227"/>
                    <a:pt x="125016" y="108221"/>
                    <a:pt x="125016" y="120551"/>
                  </a:cubicBezTo>
                  <a:close/>
                  <a:moveTo>
                    <a:pt x="183059" y="142875"/>
                  </a:moveTo>
                  <a:cubicBezTo>
                    <a:pt x="195389" y="142875"/>
                    <a:pt x="205383" y="132880"/>
                    <a:pt x="205383" y="120551"/>
                  </a:cubicBezTo>
                  <a:cubicBezTo>
                    <a:pt x="205383" y="108221"/>
                    <a:pt x="195389" y="98227"/>
                    <a:pt x="183059" y="98227"/>
                  </a:cubicBezTo>
                  <a:cubicBezTo>
                    <a:pt x="170729" y="98227"/>
                    <a:pt x="160734" y="108221"/>
                    <a:pt x="160734" y="120551"/>
                  </a:cubicBezTo>
                  <a:cubicBezTo>
                    <a:pt x="160734" y="132880"/>
                    <a:pt x="170729" y="142875"/>
                    <a:pt x="183059" y="142875"/>
                  </a:cubicBez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91" name="TextBox 91"/>
            <p:cNvSpPr txBox="1"/>
            <p:nvPr/>
          </p:nvSpPr>
          <p:spPr>
            <a:xfrm>
              <a:off x="7262812" y="4336256"/>
              <a:ext cx="816173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讲座分析师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265670" y="4531995"/>
              <a:ext cx="1745075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综合 RAG + Search · Markdown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266622" y="4673441"/>
              <a:ext cx="1566648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temp=0.7 · ~1000-2000 token</a:t>
              </a:r>
            </a:p>
          </p:txBody>
        </p:sp>
      </p:grpSp>
      <p:sp>
        <p:nvSpPr>
          <p:cNvPr id="95" name="Freeform 95"/>
          <p:cNvSpPr/>
          <p:nvPr/>
        </p:nvSpPr>
        <p:spPr>
          <a:xfrm>
            <a:off x="5048250" y="49720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57150"/>
                </a:moveTo>
                <a:lnTo>
                  <a:pt x="76200" y="57150"/>
                </a:lnTo>
                <a:lnTo>
                  <a:pt x="76200" y="0"/>
                </a:lnTo>
                <a:lnTo>
                  <a:pt x="142875" y="95250"/>
                </a:lnTo>
                <a:lnTo>
                  <a:pt x="76200" y="190500"/>
                </a:lnTo>
                <a:lnTo>
                  <a:pt x="762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96" name="Rectangle 96"/>
          <p:cNvSpPr/>
          <p:nvPr/>
        </p:nvSpPr>
        <p:spPr>
          <a:xfrm>
            <a:off x="571500" y="5143500"/>
            <a:ext cx="342900" cy="762000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621842" y="543591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98" name="Rectangle 98"/>
          <p:cNvSpPr/>
          <p:nvPr/>
        </p:nvSpPr>
        <p:spPr>
          <a:xfrm>
            <a:off x="1047750" y="5143500"/>
            <a:ext cx="8001000" cy="762000"/>
          </a:xfrm>
          <a:prstGeom prst="roundRect">
            <a:avLst>
              <a:gd name="adj" fmla="val 12500"/>
            </a:avLst>
          </a:prstGeom>
          <a:solidFill>
            <a:srgbClr val="F8FAFC">
              <a:alpha val="80000"/>
            </a:srgbClr>
          </a:solidFill>
          <a:ln w="14288">
            <a:solidFill>
              <a:srgbClr val="CBD5E1">
                <a:alpha val="80000"/>
              </a:srgbClr>
            </a:solidFill>
            <a:custDash>
              <a:ds d="400000" sp="266666"/>
            </a:custDash>
          </a:ln>
        </p:spPr>
      </p:sp>
      <p:sp>
        <p:nvSpPr>
          <p:cNvPr id="99" name="TextBox 99"/>
          <p:cNvSpPr txBox="1"/>
          <p:nvPr/>
        </p:nvSpPr>
        <p:spPr>
          <a:xfrm>
            <a:off x="4444546" y="5265420"/>
            <a:ext cx="1207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数据层 · DATA LAYER</a:t>
            </a:r>
          </a:p>
        </p:txBody>
      </p:sp>
      <p:grpSp>
        <p:nvGrpSpPr>
          <p:cNvPr id="102" name="Group 102"/>
          <p:cNvGrpSpPr/>
          <p:nvPr/>
        </p:nvGrpSpPr>
        <p:grpSpPr>
          <a:xfrm>
            <a:off x="1200150" y="5476875"/>
            <a:ext cx="1714500" cy="342900"/>
            <a:chOff x="1200150" y="5476875"/>
            <a:chExt cx="1714500" cy="34290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100" name="Rectangle 100"/>
            <p:cNvSpPr/>
            <p:nvPr/>
          </p:nvSpPr>
          <p:spPr>
            <a:xfrm>
              <a:off x="1200150" y="5476875"/>
              <a:ext cx="17145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01" name="TextBox 101"/>
            <p:cNvSpPr txBox="1"/>
            <p:nvPr/>
          </p:nvSpPr>
          <p:spPr>
            <a:xfrm>
              <a:off x="1505775" y="5590699"/>
              <a:ext cx="1103250" cy="19812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048000" y="5476875"/>
            <a:ext cx="1714500" cy="342900"/>
            <a:chOff x="3048000" y="5476875"/>
            <a:chExt cx="1714500" cy="34290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103" name="Rectangle 103"/>
            <p:cNvSpPr/>
            <p:nvPr/>
          </p:nvSpPr>
          <p:spPr>
            <a:xfrm>
              <a:off x="3048000" y="5476875"/>
              <a:ext cx="17145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04" name="TextBox 104"/>
            <p:cNvSpPr txBox="1"/>
            <p:nvPr/>
          </p:nvSpPr>
          <p:spPr>
            <a:xfrm>
              <a:off x="3493555" y="5590699"/>
              <a:ext cx="823390" cy="19812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4 级缓存存储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4895850" y="5476875"/>
            <a:ext cx="1714500" cy="342900"/>
            <a:chOff x="4895850" y="5476875"/>
            <a:chExt cx="1714500" cy="34290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106" name="Rectangle 106"/>
            <p:cNvSpPr/>
            <p:nvPr/>
          </p:nvSpPr>
          <p:spPr>
            <a:xfrm>
              <a:off x="4895850" y="5476875"/>
              <a:ext cx="17145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07" name="TextBox 107"/>
            <p:cNvSpPr txBox="1"/>
            <p:nvPr/>
          </p:nvSpPr>
          <p:spPr>
            <a:xfrm>
              <a:off x="5000112" y="5590699"/>
              <a:ext cx="1505975" cy="19812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文件系统 (knowledge/)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743700" y="5476875"/>
            <a:ext cx="2152650" cy="342900"/>
            <a:chOff x="6743700" y="5476875"/>
            <a:chExt cx="2152650" cy="342900"/>
          </a:xfrm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109" name="Rectangle 109"/>
            <p:cNvSpPr/>
            <p:nvPr/>
          </p:nvSpPr>
          <p:spPr>
            <a:xfrm>
              <a:off x="6743700" y="5476875"/>
              <a:ext cx="21526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10" name="TextBox 110"/>
            <p:cNvSpPr txBox="1"/>
            <p:nvPr/>
          </p:nvSpPr>
          <p:spPr>
            <a:xfrm>
              <a:off x="7026082" y="5590699"/>
              <a:ext cx="1587885" cy="19812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会话 JSON · 图片 assets</a:t>
              </a:r>
            </a:p>
          </p:txBody>
        </p:sp>
      </p:grpSp>
      <p:sp>
        <p:nvSpPr>
          <p:cNvPr id="112" name="Rectangle 112"/>
          <p:cNvSpPr/>
          <p:nvPr/>
        </p:nvSpPr>
        <p:spPr>
          <a:xfrm>
            <a:off x="9334500" y="904875"/>
            <a:ext cx="2286000" cy="5000625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10126218" y="10610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关键特征</a:t>
            </a:r>
          </a:p>
        </p:txBody>
      </p:sp>
      <p:sp>
        <p:nvSpPr>
          <p:cNvPr id="114" name="Line 114"/>
          <p:cNvSpPr/>
          <p:nvPr/>
        </p:nvSpPr>
        <p:spPr>
          <a:xfrm>
            <a:off x="9525000" y="1333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grpSp>
        <p:nvGrpSpPr>
          <p:cNvPr id="118" name="Group 118"/>
          <p:cNvGrpSpPr/>
          <p:nvPr/>
        </p:nvGrpSpPr>
        <p:grpSpPr>
          <a:xfrm>
            <a:off x="9548812" y="1524000"/>
            <a:ext cx="142875" cy="190500"/>
            <a:chOff x="9548812" y="1524000"/>
            <a:chExt cx="142875" cy="190500"/>
          </a:xfrm>
        </p:grpSpPr>
        <p:sp>
          <p:nvSpPr>
            <p:cNvPr id="115" name="Freeform 115"/>
            <p:cNvSpPr/>
            <p:nvPr/>
          </p:nvSpPr>
          <p:spPr>
            <a:xfrm>
              <a:off x="9548812" y="1600200"/>
              <a:ext cx="142875" cy="54769"/>
            </a:xfrm>
            <a:custGeom>
              <a:avLst/>
              <a:gdLst/>
              <a:ahLst/>
              <a:cxnLst/>
              <a:rect l="l" t="t" r="r" b="b"/>
              <a:pathLst>
                <a:path w="142875" h="54769">
                  <a:moveTo>
                    <a:pt x="132601" y="6074"/>
                  </a:moveTo>
                  <a:cubicBezTo>
                    <a:pt x="135950" y="4399"/>
                    <a:pt x="139450" y="2379"/>
                    <a:pt x="142875" y="0"/>
                  </a:cubicBezTo>
                  <a:lnTo>
                    <a:pt x="142875" y="19050"/>
                  </a:lnTo>
                  <a:cubicBezTo>
                    <a:pt x="142875" y="38777"/>
                    <a:pt x="110891" y="54769"/>
                    <a:pt x="71438" y="54769"/>
                  </a:cubicBezTo>
                  <a:cubicBezTo>
                    <a:pt x="31984" y="54769"/>
                    <a:pt x="0" y="38777"/>
                    <a:pt x="0" y="19050"/>
                  </a:cubicBezTo>
                  <a:lnTo>
                    <a:pt x="0" y="0"/>
                  </a:lnTo>
                  <a:cubicBezTo>
                    <a:pt x="3426" y="2379"/>
                    <a:pt x="6924" y="4399"/>
                    <a:pt x="10274" y="6074"/>
                  </a:cubicBezTo>
                  <a:cubicBezTo>
                    <a:pt x="27158" y="14516"/>
                    <a:pt x="48815" y="19050"/>
                    <a:pt x="71438" y="19050"/>
                  </a:cubicBezTo>
                  <a:cubicBezTo>
                    <a:pt x="94060" y="19050"/>
                    <a:pt x="115717" y="14516"/>
                    <a:pt x="132601" y="6074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</p:sp>
        <p:sp>
          <p:nvSpPr>
            <p:cNvPr id="116" name="Freeform 116"/>
            <p:cNvSpPr/>
            <p:nvPr/>
          </p:nvSpPr>
          <p:spPr>
            <a:xfrm>
              <a:off x="9548812" y="1659731"/>
              <a:ext cx="142875" cy="54769"/>
            </a:xfrm>
            <a:custGeom>
              <a:avLst/>
              <a:gdLst/>
              <a:ahLst/>
              <a:cxnLst/>
              <a:rect l="l" t="t" r="r" b="b"/>
              <a:pathLst>
                <a:path w="142875" h="54769">
                  <a:moveTo>
                    <a:pt x="0" y="0"/>
                  </a:moveTo>
                  <a:lnTo>
                    <a:pt x="0" y="19050"/>
                  </a:lnTo>
                  <a:cubicBezTo>
                    <a:pt x="0" y="38777"/>
                    <a:pt x="31984" y="54769"/>
                    <a:pt x="71438" y="54769"/>
                  </a:cubicBezTo>
                  <a:cubicBezTo>
                    <a:pt x="110891" y="54769"/>
                    <a:pt x="142875" y="38777"/>
                    <a:pt x="142875" y="19050"/>
                  </a:cubicBezTo>
                  <a:lnTo>
                    <a:pt x="142875" y="0"/>
                  </a:lnTo>
                  <a:cubicBezTo>
                    <a:pt x="139450" y="2379"/>
                    <a:pt x="135950" y="4399"/>
                    <a:pt x="132601" y="6075"/>
                  </a:cubicBezTo>
                  <a:cubicBezTo>
                    <a:pt x="115717" y="14516"/>
                    <a:pt x="94060" y="19050"/>
                    <a:pt x="71438" y="19050"/>
                  </a:cubicBezTo>
                  <a:cubicBezTo>
                    <a:pt x="48815" y="19050"/>
                    <a:pt x="27158" y="14516"/>
                    <a:pt x="10274" y="6075"/>
                  </a:cubicBezTo>
                  <a:cubicBezTo>
                    <a:pt x="6924" y="4399"/>
                    <a:pt x="3426" y="2379"/>
                    <a:pt x="0" y="0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</p:sp>
        <p:sp>
          <p:nvSpPr>
            <p:cNvPr id="117" name="Freeform 117"/>
            <p:cNvSpPr/>
            <p:nvPr/>
          </p:nvSpPr>
          <p:spPr>
            <a:xfrm>
              <a:off x="9548812" y="1524000"/>
              <a:ext cx="142875" cy="71438"/>
            </a:xfrm>
            <a:custGeom>
              <a:avLst/>
              <a:gdLst/>
              <a:ahLst/>
              <a:cxnLst/>
              <a:rect l="l" t="t" r="r" b="b"/>
              <a:pathLst>
                <a:path w="142875" h="71438">
                  <a:moveTo>
                    <a:pt x="71438" y="0"/>
                  </a:moveTo>
                  <a:cubicBezTo>
                    <a:pt x="110891" y="0"/>
                    <a:pt x="142875" y="15992"/>
                    <a:pt x="142875" y="35719"/>
                  </a:cubicBezTo>
                  <a:cubicBezTo>
                    <a:pt x="142875" y="55446"/>
                    <a:pt x="110891" y="71438"/>
                    <a:pt x="71438" y="71438"/>
                  </a:cubicBezTo>
                  <a:cubicBezTo>
                    <a:pt x="31984" y="71438"/>
                    <a:pt x="0" y="55446"/>
                    <a:pt x="0" y="35719"/>
                  </a:cubicBezTo>
                  <a:cubicBezTo>
                    <a:pt x="0" y="15992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</p:sp>
      </p:grpSp>
      <p:sp>
        <p:nvSpPr>
          <p:cNvPr id="119" name="TextBox 119"/>
          <p:cNvSpPr txBox="1"/>
          <p:nvPr/>
        </p:nvSpPr>
        <p:spPr>
          <a:xfrm>
            <a:off x="9797415" y="1553528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4 级缓存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9799320" y="1760220"/>
            <a:ext cx="1355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答案 + 检索 + 搜索 + RAG</a:t>
            </a:r>
          </a:p>
        </p:txBody>
      </p:sp>
      <p:sp>
        <p:nvSpPr>
          <p:cNvPr id="121" name="Freeform 121"/>
          <p:cNvSpPr/>
          <p:nvPr/>
        </p:nvSpPr>
        <p:spPr>
          <a:xfrm>
            <a:off x="9536906" y="21431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190500"/>
                </a:moveTo>
                <a:lnTo>
                  <a:pt x="39887" y="159459"/>
                </a:lnTo>
                <a:cubicBezTo>
                  <a:pt x="14856" y="141580"/>
                  <a:pt x="0" y="112713"/>
                  <a:pt x="0" y="81951"/>
                </a:cubicBezTo>
                <a:lnTo>
                  <a:pt x="0" y="35719"/>
                </a:lnTo>
                <a:lnTo>
                  <a:pt x="83344" y="0"/>
                </a:lnTo>
                <a:lnTo>
                  <a:pt x="166688" y="35719"/>
                </a:lnTo>
                <a:lnTo>
                  <a:pt x="166688" y="81951"/>
                </a:lnTo>
                <a:cubicBezTo>
                  <a:pt x="166688" y="112713"/>
                  <a:pt x="151832" y="141580"/>
                  <a:pt x="126800" y="159459"/>
                </a:cubicBezTo>
                <a:lnTo>
                  <a:pt x="83344" y="190500"/>
                </a:lnTo>
                <a:close/>
                <a:moveTo>
                  <a:pt x="133435" y="67950"/>
                </a:moveTo>
                <a:lnTo>
                  <a:pt x="116597" y="51112"/>
                </a:lnTo>
                <a:lnTo>
                  <a:pt x="71438" y="96271"/>
                </a:lnTo>
                <a:lnTo>
                  <a:pt x="50091" y="74925"/>
                </a:lnTo>
                <a:lnTo>
                  <a:pt x="33253" y="91763"/>
                </a:lnTo>
                <a:lnTo>
                  <a:pt x="71438" y="129947"/>
                </a:lnTo>
                <a:lnTo>
                  <a:pt x="133435" y="679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122" name="TextBox 122"/>
          <p:cNvSpPr txBox="1"/>
          <p:nvPr/>
        </p:nvSpPr>
        <p:spPr>
          <a:xfrm>
            <a:off x="9797415" y="2172652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3 档门控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9799320" y="2379345"/>
            <a:ext cx="1114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高/中/低相似度分流</a:t>
            </a:r>
          </a:p>
        </p:txBody>
      </p:sp>
      <p:sp>
        <p:nvSpPr>
          <p:cNvPr id="124" name="Freeform 124"/>
          <p:cNvSpPr/>
          <p:nvPr/>
        </p:nvSpPr>
        <p:spPr>
          <a:xfrm>
            <a:off x="9548812" y="2762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83344" y="83344"/>
                </a:moveTo>
                <a:lnTo>
                  <a:pt x="95250" y="0"/>
                </a:lnTo>
                <a:lnTo>
                  <a:pt x="71438" y="0"/>
                </a:lnTo>
                <a:lnTo>
                  <a:pt x="0" y="83344"/>
                </a:lnTo>
                <a:lnTo>
                  <a:pt x="0" y="107156"/>
                </a:lnTo>
                <a:lnTo>
                  <a:pt x="59531" y="107156"/>
                </a:lnTo>
                <a:lnTo>
                  <a:pt x="47625" y="190500"/>
                </a:lnTo>
                <a:lnTo>
                  <a:pt x="71438" y="190500"/>
                </a:lnTo>
                <a:lnTo>
                  <a:pt x="142875" y="107156"/>
                </a:lnTo>
                <a:lnTo>
                  <a:pt x="142875" y="83344"/>
                </a:lnTo>
                <a:lnTo>
                  <a:pt x="83344" y="83344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125" name="TextBox 125"/>
          <p:cNvSpPr txBox="1"/>
          <p:nvPr/>
        </p:nvSpPr>
        <p:spPr>
          <a:xfrm>
            <a:off x="9797415" y="2791778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双路由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9799320" y="2998470"/>
            <a:ext cx="14690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规则(零LLM) + LLM(兜底)</a:t>
            </a:r>
          </a:p>
        </p:txBody>
      </p:sp>
      <p:grpSp>
        <p:nvGrpSpPr>
          <p:cNvPr id="129" name="Group 129"/>
          <p:cNvGrpSpPr/>
          <p:nvPr/>
        </p:nvGrpSpPr>
        <p:grpSpPr>
          <a:xfrm>
            <a:off x="9525000" y="3381375"/>
            <a:ext cx="190500" cy="190500"/>
            <a:chOff x="9525000" y="3381375"/>
            <a:chExt cx="190500" cy="190500"/>
          </a:xfrm>
        </p:grpSpPr>
        <p:sp>
          <p:nvSpPr>
            <p:cNvPr id="127" name="Freeform 127"/>
            <p:cNvSpPr/>
            <p:nvPr/>
          </p:nvSpPr>
          <p:spPr>
            <a:xfrm>
              <a:off x="9525000" y="33813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19062" y="190500"/>
                  </a:moveTo>
                  <a:lnTo>
                    <a:pt x="142875" y="166688"/>
                  </a:lnTo>
                  <a:lnTo>
                    <a:pt x="142875" y="119062"/>
                  </a:lnTo>
                  <a:lnTo>
                    <a:pt x="162602" y="99336"/>
                  </a:lnTo>
                  <a:cubicBezTo>
                    <a:pt x="180464" y="81473"/>
                    <a:pt x="190500" y="57245"/>
                    <a:pt x="190500" y="31984"/>
                  </a:cubicBezTo>
                  <a:lnTo>
                    <a:pt x="190500" y="0"/>
                  </a:lnTo>
                  <a:lnTo>
                    <a:pt x="158516" y="0"/>
                  </a:lnTo>
                  <a:cubicBezTo>
                    <a:pt x="133255" y="0"/>
                    <a:pt x="109027" y="10035"/>
                    <a:pt x="91164" y="27898"/>
                  </a:cubicBezTo>
                  <a:lnTo>
                    <a:pt x="71438" y="47625"/>
                  </a:lnTo>
                  <a:lnTo>
                    <a:pt x="23812" y="47625"/>
                  </a:lnTo>
                  <a:lnTo>
                    <a:pt x="0" y="71438"/>
                  </a:lnTo>
                  <a:lnTo>
                    <a:pt x="119062" y="190500"/>
                  </a:lnTo>
                  <a:close/>
                  <a:moveTo>
                    <a:pt x="125016" y="83344"/>
                  </a:moveTo>
                  <a:cubicBezTo>
                    <a:pt x="134879" y="83344"/>
                    <a:pt x="142875" y="75348"/>
                    <a:pt x="142875" y="65484"/>
                  </a:cubicBezTo>
                  <a:cubicBezTo>
                    <a:pt x="142875" y="55621"/>
                    <a:pt x="134879" y="47625"/>
                    <a:pt x="125016" y="47625"/>
                  </a:cubicBezTo>
                  <a:cubicBezTo>
                    <a:pt x="115152" y="47625"/>
                    <a:pt x="107156" y="55621"/>
                    <a:pt x="107156" y="65484"/>
                  </a:cubicBezTo>
                  <a:cubicBezTo>
                    <a:pt x="107156" y="75348"/>
                    <a:pt x="115152" y="83344"/>
                    <a:pt x="125016" y="83344"/>
                  </a:cubicBez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</p:sp>
        <p:sp>
          <p:nvSpPr>
            <p:cNvPr id="128" name="Freeform 128"/>
            <p:cNvSpPr/>
            <p:nvPr/>
          </p:nvSpPr>
          <p:spPr>
            <a:xfrm>
              <a:off x="9525000" y="3513208"/>
              <a:ext cx="58667" cy="58667"/>
            </a:xfrm>
            <a:custGeom>
              <a:avLst/>
              <a:gdLst/>
              <a:ahLst/>
              <a:cxnLst/>
              <a:rect l="l" t="t" r="r" b="b"/>
              <a:pathLst>
                <a:path w="58667" h="58667">
                  <a:moveTo>
                    <a:pt x="58667" y="31947"/>
                  </a:moveTo>
                  <a:lnTo>
                    <a:pt x="26720" y="0"/>
                  </a:lnTo>
                  <a:lnTo>
                    <a:pt x="0" y="46761"/>
                  </a:lnTo>
                  <a:lnTo>
                    <a:pt x="11906" y="58667"/>
                  </a:lnTo>
                  <a:lnTo>
                    <a:pt x="58667" y="31947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</p:sp>
      </p:grpSp>
      <p:sp>
        <p:nvSpPr>
          <p:cNvPr id="130" name="TextBox 130"/>
          <p:cNvSpPr txBox="1"/>
          <p:nvPr/>
        </p:nvSpPr>
        <p:spPr>
          <a:xfrm>
            <a:off x="9797415" y="3410902"/>
            <a:ext cx="6073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~8s 响应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9799320" y="3617595"/>
            <a:ext cx="16310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Sequential 编排，2-3 次 LLM</a:t>
            </a:r>
          </a:p>
        </p:txBody>
      </p:sp>
      <p:grpSp>
        <p:nvGrpSpPr>
          <p:cNvPr id="136" name="Group 136"/>
          <p:cNvGrpSpPr/>
          <p:nvPr/>
        </p:nvGrpSpPr>
        <p:grpSpPr>
          <a:xfrm>
            <a:off x="9525737" y="4000500"/>
            <a:ext cx="189026" cy="190500"/>
            <a:chOff x="9525737" y="4000500"/>
            <a:chExt cx="189026" cy="190500"/>
          </a:xfrm>
        </p:grpSpPr>
        <p:sp>
          <p:nvSpPr>
            <p:cNvPr id="132" name="Freeform 132"/>
            <p:cNvSpPr/>
            <p:nvPr/>
          </p:nvSpPr>
          <p:spPr>
            <a:xfrm>
              <a:off x="9525737" y="4039886"/>
              <a:ext cx="189026" cy="43958"/>
            </a:xfrm>
            <a:custGeom>
              <a:avLst/>
              <a:gdLst/>
              <a:ahLst/>
              <a:cxnLst/>
              <a:rect l="l" t="t" r="r" b="b"/>
              <a:pathLst>
                <a:path w="189026" h="43958">
                  <a:moveTo>
                    <a:pt x="17357" y="0"/>
                  </a:moveTo>
                  <a:cubicBezTo>
                    <a:pt x="8174" y="12661"/>
                    <a:pt x="2031" y="27671"/>
                    <a:pt x="0" y="43958"/>
                  </a:cubicBezTo>
                  <a:lnTo>
                    <a:pt x="189026" y="43958"/>
                  </a:lnTo>
                  <a:cubicBezTo>
                    <a:pt x="186995" y="27671"/>
                    <a:pt x="180852" y="12661"/>
                    <a:pt x="171669" y="0"/>
                  </a:cubicBezTo>
                  <a:cubicBezTo>
                    <a:pt x="171174" y="277"/>
                    <a:pt x="170671" y="555"/>
                    <a:pt x="170163" y="832"/>
                  </a:cubicBezTo>
                  <a:cubicBezTo>
                    <a:pt x="152478" y="10479"/>
                    <a:pt x="126714" y="20145"/>
                    <a:pt x="94513" y="20145"/>
                  </a:cubicBezTo>
                  <a:cubicBezTo>
                    <a:pt x="62312" y="20145"/>
                    <a:pt x="36547" y="10479"/>
                    <a:pt x="18862" y="832"/>
                  </a:cubicBezTo>
                  <a:cubicBezTo>
                    <a:pt x="18354" y="555"/>
                    <a:pt x="17852" y="277"/>
                    <a:pt x="17357" y="0"/>
                  </a:cubicBez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</p:sp>
        <p:sp>
          <p:nvSpPr>
            <p:cNvPr id="133" name="Freeform 133"/>
            <p:cNvSpPr/>
            <p:nvPr/>
          </p:nvSpPr>
          <p:spPr>
            <a:xfrm>
              <a:off x="9560049" y="4000500"/>
              <a:ext cx="120401" cy="35719"/>
            </a:xfrm>
            <a:custGeom>
              <a:avLst/>
              <a:gdLst/>
              <a:ahLst/>
              <a:cxnLst/>
              <a:rect l="l" t="t" r="r" b="b"/>
              <a:pathLst>
                <a:path w="120401" h="35719">
                  <a:moveTo>
                    <a:pt x="120401" y="21433"/>
                  </a:moveTo>
                  <a:cubicBezTo>
                    <a:pt x="105580" y="28878"/>
                    <a:pt x="85174" y="35719"/>
                    <a:pt x="60201" y="35719"/>
                  </a:cubicBezTo>
                  <a:cubicBezTo>
                    <a:pt x="35227" y="35719"/>
                    <a:pt x="14821" y="28878"/>
                    <a:pt x="0" y="21433"/>
                  </a:cubicBezTo>
                  <a:cubicBezTo>
                    <a:pt x="16408" y="8035"/>
                    <a:pt x="37366" y="0"/>
                    <a:pt x="60201" y="0"/>
                  </a:cubicBezTo>
                  <a:cubicBezTo>
                    <a:pt x="83035" y="0"/>
                    <a:pt x="103993" y="8035"/>
                    <a:pt x="120401" y="21433"/>
                  </a:cubicBez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</p:sp>
        <p:sp>
          <p:nvSpPr>
            <p:cNvPr id="134" name="Freeform 134"/>
            <p:cNvSpPr/>
            <p:nvPr/>
          </p:nvSpPr>
          <p:spPr>
            <a:xfrm>
              <a:off x="9525737" y="4107656"/>
              <a:ext cx="189026" cy="43958"/>
            </a:xfrm>
            <a:custGeom>
              <a:avLst/>
              <a:gdLst/>
              <a:ahLst/>
              <a:cxnLst/>
              <a:rect l="l" t="t" r="r" b="b"/>
              <a:pathLst>
                <a:path w="189026" h="43958">
                  <a:moveTo>
                    <a:pt x="0" y="0"/>
                  </a:moveTo>
                  <a:cubicBezTo>
                    <a:pt x="2031" y="16287"/>
                    <a:pt x="8174" y="31297"/>
                    <a:pt x="17357" y="43958"/>
                  </a:cubicBezTo>
                  <a:cubicBezTo>
                    <a:pt x="17852" y="43680"/>
                    <a:pt x="18354" y="43403"/>
                    <a:pt x="18862" y="43126"/>
                  </a:cubicBezTo>
                  <a:cubicBezTo>
                    <a:pt x="36548" y="33479"/>
                    <a:pt x="62313" y="23812"/>
                    <a:pt x="94513" y="23812"/>
                  </a:cubicBezTo>
                  <a:cubicBezTo>
                    <a:pt x="126714" y="23812"/>
                    <a:pt x="152479" y="33479"/>
                    <a:pt x="170163" y="43126"/>
                  </a:cubicBezTo>
                  <a:cubicBezTo>
                    <a:pt x="170673" y="43403"/>
                    <a:pt x="171174" y="43680"/>
                    <a:pt x="171669" y="43958"/>
                  </a:cubicBezTo>
                  <a:cubicBezTo>
                    <a:pt x="180852" y="31297"/>
                    <a:pt x="186995" y="16287"/>
                    <a:pt x="18902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</p:sp>
        <p:sp>
          <p:nvSpPr>
            <p:cNvPr id="135" name="Freeform 135"/>
            <p:cNvSpPr/>
            <p:nvPr/>
          </p:nvSpPr>
          <p:spPr>
            <a:xfrm>
              <a:off x="9560049" y="4155281"/>
              <a:ext cx="120401" cy="35719"/>
            </a:xfrm>
            <a:custGeom>
              <a:avLst/>
              <a:gdLst/>
              <a:ahLst/>
              <a:cxnLst/>
              <a:rect l="l" t="t" r="r" b="b"/>
              <a:pathLst>
                <a:path w="120401" h="35719">
                  <a:moveTo>
                    <a:pt x="60201" y="35719"/>
                  </a:moveTo>
                  <a:cubicBezTo>
                    <a:pt x="37366" y="35719"/>
                    <a:pt x="16408" y="27683"/>
                    <a:pt x="0" y="14286"/>
                  </a:cubicBezTo>
                  <a:cubicBezTo>
                    <a:pt x="14821" y="6840"/>
                    <a:pt x="35227" y="0"/>
                    <a:pt x="60201" y="0"/>
                  </a:cubicBezTo>
                  <a:cubicBezTo>
                    <a:pt x="85174" y="0"/>
                    <a:pt x="105580" y="6840"/>
                    <a:pt x="120401" y="14286"/>
                  </a:cubicBezTo>
                  <a:cubicBezTo>
                    <a:pt x="103993" y="27683"/>
                    <a:pt x="83035" y="35719"/>
                    <a:pt x="60201" y="35719"/>
                  </a:cubicBez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</p:sp>
      </p:grpSp>
      <p:sp>
        <p:nvSpPr>
          <p:cNvPr id="137" name="TextBox 137"/>
          <p:cNvSpPr txBox="1"/>
          <p:nvPr/>
        </p:nvSpPr>
        <p:spPr>
          <a:xfrm>
            <a:off x="9797415" y="4030028"/>
            <a:ext cx="9014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SSE 实时推送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9799320" y="4236720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4 步进度 + 计时器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11268980" y="6578441"/>
            <a:ext cx="3619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03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19473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多智能体角色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47732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CrewAI Sequential Process · 3 个 Agent 协同 · 每次查询 2-3 次 LLM 调用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904875"/>
            <a:ext cx="3524250" cy="2286000"/>
            <a:chOff x="571500" y="904875"/>
            <a:chExt cx="3524250" cy="2286000"/>
          </a:xfrm>
          <a:effectLst>
            <a:outerShdw blurRad="7620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6" name="Rectangle 6"/>
            <p:cNvSpPr/>
            <p:nvPr/>
          </p:nvSpPr>
          <p:spPr>
            <a:xfrm>
              <a:off x="571500" y="904875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571500" y="904875"/>
              <a:ext cx="3524250" cy="533400"/>
            </a:xfrm>
            <a:prstGeom prst="roundRect">
              <a:avLst>
                <a:gd name="adj" fmla="val 21429"/>
              </a:avLst>
            </a:prstGeom>
            <a:solidFill>
              <a:srgbClr val="1E40A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571500" y="1323975"/>
              <a:ext cx="3524250" cy="114300"/>
            </a:xfrm>
            <a:prstGeom prst="rect">
              <a:avLst/>
            </a:prstGeom>
            <a:solidFill>
              <a:srgbClr val="1E40A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9" name="Freeform 9"/>
            <p:cNvSpPr/>
            <p:nvPr/>
          </p:nvSpPr>
          <p:spPr>
            <a:xfrm>
              <a:off x="819150" y="1047750"/>
              <a:ext cx="285750" cy="267891"/>
            </a:xfrm>
            <a:custGeom>
              <a:avLst/>
              <a:gdLst/>
              <a:ahLst/>
              <a:cxnLst/>
              <a:rect l="l" t="t" r="r" b="b"/>
              <a:pathLst>
                <a:path w="285750" h="267891">
                  <a:moveTo>
                    <a:pt x="160734" y="0"/>
                  </a:moveTo>
                  <a:lnTo>
                    <a:pt x="160734" y="35719"/>
                  </a:lnTo>
                  <a:lnTo>
                    <a:pt x="232172" y="35719"/>
                  </a:lnTo>
                  <a:lnTo>
                    <a:pt x="285750" y="151805"/>
                  </a:lnTo>
                  <a:lnTo>
                    <a:pt x="232172" y="267891"/>
                  </a:lnTo>
                  <a:lnTo>
                    <a:pt x="53578" y="267891"/>
                  </a:lnTo>
                  <a:lnTo>
                    <a:pt x="0" y="151805"/>
                  </a:lnTo>
                  <a:lnTo>
                    <a:pt x="53578" y="35719"/>
                  </a:lnTo>
                  <a:lnTo>
                    <a:pt x="125016" y="35719"/>
                  </a:lnTo>
                  <a:lnTo>
                    <a:pt x="125016" y="0"/>
                  </a:lnTo>
                  <a:lnTo>
                    <a:pt x="160734" y="0"/>
                  </a:lnTo>
                  <a:close/>
                  <a:moveTo>
                    <a:pt x="82116" y="209640"/>
                  </a:moveTo>
                  <a:lnTo>
                    <a:pt x="142875" y="218988"/>
                  </a:lnTo>
                  <a:lnTo>
                    <a:pt x="203634" y="209640"/>
                  </a:lnTo>
                  <a:lnTo>
                    <a:pt x="198202" y="174337"/>
                  </a:lnTo>
                  <a:lnTo>
                    <a:pt x="142875" y="182848"/>
                  </a:lnTo>
                  <a:lnTo>
                    <a:pt x="87548" y="174337"/>
                  </a:lnTo>
                  <a:lnTo>
                    <a:pt x="82116" y="209640"/>
                  </a:lnTo>
                  <a:close/>
                  <a:moveTo>
                    <a:pt x="125016" y="120551"/>
                  </a:moveTo>
                  <a:cubicBezTo>
                    <a:pt x="125016" y="132880"/>
                    <a:pt x="115021" y="142875"/>
                    <a:pt x="102691" y="142875"/>
                  </a:cubicBezTo>
                  <a:cubicBezTo>
                    <a:pt x="90362" y="142875"/>
                    <a:pt x="80367" y="132880"/>
                    <a:pt x="80367" y="120551"/>
                  </a:cubicBezTo>
                  <a:cubicBezTo>
                    <a:pt x="80367" y="108221"/>
                    <a:pt x="90362" y="98227"/>
                    <a:pt x="102691" y="98227"/>
                  </a:cubicBezTo>
                  <a:cubicBezTo>
                    <a:pt x="115021" y="98227"/>
                    <a:pt x="125016" y="108221"/>
                    <a:pt x="125016" y="120551"/>
                  </a:cubicBezTo>
                  <a:close/>
                  <a:moveTo>
                    <a:pt x="183059" y="142875"/>
                  </a:moveTo>
                  <a:cubicBezTo>
                    <a:pt x="195389" y="142875"/>
                    <a:pt x="205383" y="132880"/>
                    <a:pt x="205383" y="120551"/>
                  </a:cubicBezTo>
                  <a:cubicBezTo>
                    <a:pt x="205383" y="108221"/>
                    <a:pt x="195389" y="98227"/>
                    <a:pt x="183059" y="98227"/>
                  </a:cubicBezTo>
                  <a:cubicBezTo>
                    <a:pt x="170729" y="98227"/>
                    <a:pt x="160734" y="108221"/>
                    <a:pt x="160734" y="120551"/>
                  </a:cubicBezTo>
                  <a:cubicBezTo>
                    <a:pt x="160734" y="132880"/>
                    <a:pt x="170729" y="142875"/>
                    <a:pt x="183059" y="1428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202055" y="997268"/>
              <a:ext cx="979408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意图路由器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07770" y="1236345"/>
              <a:ext cx="82096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Intent Router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" y="1619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1155859" y="1682591"/>
              <a:ext cx="240982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温度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3495" y="1775460"/>
              <a:ext cx="265709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0.1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847850" y="1619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2162354" y="1682591"/>
              <a:ext cx="323493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70243" y="1775460"/>
              <a:ext cx="30771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~50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95600" y="1619250"/>
              <a:ext cx="971550" cy="342900"/>
            </a:xfrm>
            <a:prstGeom prst="roundRect">
              <a:avLst>
                <a:gd name="adj" fmla="val 16667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3260884" y="1682591"/>
              <a:ext cx="240982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74003" y="1791652"/>
              <a:ext cx="61474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规则优先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2134552"/>
              <a:ext cx="2091928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分类用户问题为 lecture / web /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344102"/>
              <a:ext cx="216193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hybrid / unknown，关键词先行，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553652"/>
              <a:ext cx="102779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LLM 仅兜底判定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8670" y="2931795"/>
              <a:ext cx="868966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Agent #1 · 入口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4171950" y="1981200"/>
            <a:ext cx="257175" cy="285750"/>
          </a:xfrm>
          <a:custGeom>
            <a:avLst/>
            <a:gdLst/>
            <a:ahLst/>
            <a:cxnLst/>
            <a:rect l="l" t="t" r="r" b="b"/>
            <a:pathLst>
              <a:path w="257175" h="285750">
                <a:moveTo>
                  <a:pt x="0" y="66675"/>
                </a:moveTo>
                <a:lnTo>
                  <a:pt x="152400" y="66675"/>
                </a:lnTo>
                <a:lnTo>
                  <a:pt x="152400" y="0"/>
                </a:lnTo>
                <a:lnTo>
                  <a:pt x="257175" y="142875"/>
                </a:lnTo>
                <a:lnTo>
                  <a:pt x="152400" y="285750"/>
                </a:lnTo>
                <a:lnTo>
                  <a:pt x="152400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grpSp>
        <p:nvGrpSpPr>
          <p:cNvPr id="46" name="Group 46"/>
          <p:cNvGrpSpPr/>
          <p:nvPr/>
        </p:nvGrpSpPr>
        <p:grpSpPr>
          <a:xfrm>
            <a:off x="4514850" y="904875"/>
            <a:ext cx="3524250" cy="2286000"/>
            <a:chOff x="4514850" y="904875"/>
            <a:chExt cx="3524250" cy="2286000"/>
          </a:xfrm>
          <a:effectLst>
            <a:outerShdw blurRad="7620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4514850" y="904875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4514850" y="904875"/>
              <a:ext cx="3524250" cy="533400"/>
            </a:xfrm>
            <a:prstGeom prst="roundRect">
              <a:avLst>
                <a:gd name="adj" fmla="val 21429"/>
              </a:avLst>
            </a:prstGeom>
            <a:solidFill>
              <a:srgbClr val="6366F1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4514850" y="1323975"/>
              <a:ext cx="3524250" cy="1143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0" name="Freeform 30"/>
            <p:cNvSpPr/>
            <p:nvPr/>
          </p:nvSpPr>
          <p:spPr>
            <a:xfrm>
              <a:off x="4780359" y="1047750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25016" y="285750"/>
                  </a:moveTo>
                  <a:lnTo>
                    <a:pt x="59831" y="239189"/>
                  </a:lnTo>
                  <a:cubicBezTo>
                    <a:pt x="22284" y="212369"/>
                    <a:pt x="0" y="169069"/>
                    <a:pt x="0" y="122927"/>
                  </a:cubicBezTo>
                  <a:lnTo>
                    <a:pt x="0" y="53578"/>
                  </a:lnTo>
                  <a:lnTo>
                    <a:pt x="125016" y="0"/>
                  </a:lnTo>
                  <a:lnTo>
                    <a:pt x="250031" y="53578"/>
                  </a:lnTo>
                  <a:lnTo>
                    <a:pt x="250031" y="122927"/>
                  </a:lnTo>
                  <a:cubicBezTo>
                    <a:pt x="250031" y="169069"/>
                    <a:pt x="227748" y="212369"/>
                    <a:pt x="190201" y="239189"/>
                  </a:cubicBezTo>
                  <a:lnTo>
                    <a:pt x="125016" y="285750"/>
                  </a:lnTo>
                  <a:close/>
                  <a:moveTo>
                    <a:pt x="200152" y="101925"/>
                  </a:moveTo>
                  <a:lnTo>
                    <a:pt x="174895" y="76668"/>
                  </a:lnTo>
                  <a:lnTo>
                    <a:pt x="107156" y="144407"/>
                  </a:lnTo>
                  <a:lnTo>
                    <a:pt x="75136" y="112387"/>
                  </a:lnTo>
                  <a:lnTo>
                    <a:pt x="49879" y="137644"/>
                  </a:lnTo>
                  <a:lnTo>
                    <a:pt x="107156" y="194921"/>
                  </a:lnTo>
                  <a:lnTo>
                    <a:pt x="200152" y="101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>
              <a:off x="5145405" y="997268"/>
              <a:ext cx="1168432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相关性验证员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51120" y="1236345"/>
              <a:ext cx="952976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Relevance Guard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43450" y="1619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EEF2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5099209" y="1682591"/>
              <a:ext cx="240982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温度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86845" y="1775460"/>
              <a:ext cx="265709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0.1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91200" y="1619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EEF2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7" name="TextBox 37"/>
            <p:cNvSpPr txBox="1"/>
            <p:nvPr/>
          </p:nvSpPr>
          <p:spPr>
            <a:xfrm>
              <a:off x="6105704" y="1682591"/>
              <a:ext cx="323493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67387" y="1775460"/>
              <a:ext cx="400126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~200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838950" y="1619250"/>
              <a:ext cx="971550" cy="342900"/>
            </a:xfrm>
            <a:prstGeom prst="roundRect">
              <a:avLst>
                <a:gd name="adj" fmla="val 16667"/>
              </a:avLst>
            </a:prstGeom>
            <a:solidFill>
              <a:srgbClr val="EEF2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7204234" y="1682591"/>
              <a:ext cx="240982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触发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39308" y="1799749"/>
              <a:ext cx="57083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边界案例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30115" y="2134552"/>
              <a:ext cx="174188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判断 RAG 检索是否语义相关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30115" y="2344102"/>
              <a:ext cx="180489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区分关键词重叠 vs 真正相关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30115" y="2553652"/>
              <a:ext cx="192390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仅在 0.55-0.82 阈值区间触发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32020" y="2931795"/>
              <a:ext cx="89897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Agent #2 · 门控</a:t>
              </a:r>
            </a:p>
          </p:txBody>
        </p:sp>
      </p:grpSp>
      <p:sp>
        <p:nvSpPr>
          <p:cNvPr id="47" name="Freeform 47"/>
          <p:cNvSpPr/>
          <p:nvPr/>
        </p:nvSpPr>
        <p:spPr>
          <a:xfrm>
            <a:off x="8115300" y="1981200"/>
            <a:ext cx="257175" cy="285750"/>
          </a:xfrm>
          <a:custGeom>
            <a:avLst/>
            <a:gdLst/>
            <a:ahLst/>
            <a:cxnLst/>
            <a:rect l="l" t="t" r="r" b="b"/>
            <a:pathLst>
              <a:path w="257175" h="285750">
                <a:moveTo>
                  <a:pt x="0" y="66675"/>
                </a:moveTo>
                <a:lnTo>
                  <a:pt x="152400" y="66675"/>
                </a:lnTo>
                <a:lnTo>
                  <a:pt x="152400" y="0"/>
                </a:lnTo>
                <a:lnTo>
                  <a:pt x="257175" y="142875"/>
                </a:lnTo>
                <a:lnTo>
                  <a:pt x="152400" y="285750"/>
                </a:lnTo>
                <a:lnTo>
                  <a:pt x="152400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grpSp>
        <p:nvGrpSpPr>
          <p:cNvPr id="64" name="Group 64"/>
          <p:cNvGrpSpPr/>
          <p:nvPr/>
        </p:nvGrpSpPr>
        <p:grpSpPr>
          <a:xfrm>
            <a:off x="8458200" y="904875"/>
            <a:ext cx="3162300" cy="2286000"/>
            <a:chOff x="8458200" y="904875"/>
            <a:chExt cx="3162300" cy="2286000"/>
          </a:xfrm>
          <a:effectLst>
            <a:outerShdw blurRad="76200" dist="19050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48" name="Rectangle 48"/>
            <p:cNvSpPr/>
            <p:nvPr/>
          </p:nvSpPr>
          <p:spPr>
            <a:xfrm>
              <a:off x="8458200" y="904875"/>
              <a:ext cx="31623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0284C7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49" name="Rectangle 49"/>
            <p:cNvSpPr/>
            <p:nvPr/>
          </p:nvSpPr>
          <p:spPr>
            <a:xfrm>
              <a:off x="8458200" y="904875"/>
              <a:ext cx="3162300" cy="533400"/>
            </a:xfrm>
            <a:prstGeom prst="roundRect">
              <a:avLst>
                <a:gd name="adj" fmla="val 21429"/>
              </a:avLst>
            </a:prstGeom>
            <a:solidFill>
              <a:srgbClr val="0284C7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8458200" y="1323975"/>
              <a:ext cx="3162300" cy="1143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1" name="Freeform 51"/>
            <p:cNvSpPr/>
            <p:nvPr/>
          </p:nvSpPr>
          <p:spPr>
            <a:xfrm>
              <a:off x="8707324" y="1047750"/>
              <a:ext cx="282803" cy="268960"/>
            </a:xfrm>
            <a:custGeom>
              <a:avLst/>
              <a:gdLst/>
              <a:ahLst/>
              <a:cxnLst/>
              <a:rect l="l" t="t" r="r" b="b"/>
              <a:pathLst>
                <a:path w="282803" h="268960">
                  <a:moveTo>
                    <a:pt x="159261" y="0"/>
                  </a:moveTo>
                  <a:lnTo>
                    <a:pt x="123542" y="0"/>
                  </a:lnTo>
                  <a:lnTo>
                    <a:pt x="96984" y="81739"/>
                  </a:lnTo>
                  <a:lnTo>
                    <a:pt x="11038" y="81739"/>
                  </a:lnTo>
                  <a:lnTo>
                    <a:pt x="0" y="115710"/>
                  </a:lnTo>
                  <a:lnTo>
                    <a:pt x="69532" y="166227"/>
                  </a:lnTo>
                  <a:lnTo>
                    <a:pt x="42973" y="247965"/>
                  </a:lnTo>
                  <a:lnTo>
                    <a:pt x="71871" y="268960"/>
                  </a:lnTo>
                  <a:lnTo>
                    <a:pt x="141402" y="218443"/>
                  </a:lnTo>
                  <a:lnTo>
                    <a:pt x="210933" y="268960"/>
                  </a:lnTo>
                  <a:lnTo>
                    <a:pt x="239830" y="247965"/>
                  </a:lnTo>
                  <a:lnTo>
                    <a:pt x="213271" y="166227"/>
                  </a:lnTo>
                  <a:lnTo>
                    <a:pt x="282803" y="115709"/>
                  </a:lnTo>
                  <a:lnTo>
                    <a:pt x="271764" y="81739"/>
                  </a:lnTo>
                  <a:lnTo>
                    <a:pt x="185819" y="81739"/>
                  </a:lnTo>
                  <a:lnTo>
                    <a:pt x="159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2" name="TextBox 52"/>
            <p:cNvSpPr txBox="1"/>
            <p:nvPr/>
          </p:nvSpPr>
          <p:spPr>
            <a:xfrm>
              <a:off x="9088755" y="997268"/>
              <a:ext cx="979408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讲座分析师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94470" y="1236345"/>
              <a:ext cx="454914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Analyst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686800" y="1619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E0F2FE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5" name="TextBox 55"/>
            <p:cNvSpPr txBox="1"/>
            <p:nvPr/>
          </p:nvSpPr>
          <p:spPr>
            <a:xfrm>
              <a:off x="9042559" y="1682591"/>
              <a:ext cx="240982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温度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09193" y="1775460"/>
              <a:ext cx="30771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284C7"/>
                  </a:solidFill>
                  <a:latin typeface="Arial"/>
                  <a:ea typeface="Microsoft YaHei"/>
                  <a:cs typeface="Arial"/>
                </a:rPr>
                <a:t>0.7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734550" y="1619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E0F2FE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10049054" y="1682591"/>
              <a:ext cx="323493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54505" y="1775460"/>
              <a:ext cx="912590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284C7"/>
                  </a:solidFill>
                  <a:latin typeface="Arial"/>
                  <a:ea typeface="Microsoft YaHei"/>
                  <a:cs typeface="Arial"/>
                </a:rPr>
                <a:t>~1000-2000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73465" y="2134552"/>
              <a:ext cx="1300829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综合 RAG + 搜索结果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73465" y="2344102"/>
              <a:ext cx="172088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生成结构化中文 Markdown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73465" y="2553652"/>
              <a:ext cx="1286828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高质量、信息密度高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75370" y="2931795"/>
              <a:ext cx="89897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Agent #3 · 输出</a:t>
              </a:r>
            </a:p>
          </p:txBody>
        </p:sp>
      </p:grpSp>
      <p:sp>
        <p:nvSpPr>
          <p:cNvPr id="65" name="Rectangle 65"/>
          <p:cNvSpPr/>
          <p:nvPr/>
        </p:nvSpPr>
        <p:spPr>
          <a:xfrm>
            <a:off x="571500" y="3476625"/>
            <a:ext cx="11049000" cy="9525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46760" y="3632835"/>
            <a:ext cx="30044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编排模式：CrewAI Sequential Process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46760" y="3947160"/>
            <a:ext cx="5063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从 Hierarchical 迁移到 Sequential，每组查询简化为 2-3 次 LLM 调用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48665" y="4191952"/>
            <a:ext cx="41641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规则匹配命中时仅 1 次 LLM 调用（Analyst），路由走 LLM 时 2 次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571500" y="4667250"/>
            <a:ext cx="2571750" cy="666750"/>
            <a:chOff x="571500" y="4667250"/>
            <a:chExt cx="2571750" cy="666750"/>
          </a:xfrm>
        </p:grpSpPr>
        <p:sp>
          <p:nvSpPr>
            <p:cNvPr id="69" name="Rectangle 69"/>
            <p:cNvSpPr/>
            <p:nvPr/>
          </p:nvSpPr>
          <p:spPr>
            <a:xfrm>
              <a:off x="571500" y="4667250"/>
              <a:ext cx="25717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838200" y="48768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00012" y="100012"/>
                  </a:moveTo>
                  <a:lnTo>
                    <a:pt x="114300" y="0"/>
                  </a:lnTo>
                  <a:lnTo>
                    <a:pt x="85725" y="0"/>
                  </a:lnTo>
                  <a:lnTo>
                    <a:pt x="0" y="100012"/>
                  </a:lnTo>
                  <a:lnTo>
                    <a:pt x="0" y="128588"/>
                  </a:lnTo>
                  <a:lnTo>
                    <a:pt x="71438" y="128588"/>
                  </a:lnTo>
                  <a:lnTo>
                    <a:pt x="57150" y="228600"/>
                  </a:lnTo>
                  <a:lnTo>
                    <a:pt x="85725" y="228600"/>
                  </a:lnTo>
                  <a:lnTo>
                    <a:pt x="171450" y="128588"/>
                  </a:lnTo>
                  <a:lnTo>
                    <a:pt x="171450" y="100012"/>
                  </a:lnTo>
                  <a:lnTo>
                    <a:pt x="100012" y="100012"/>
                  </a:ln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0140" y="4806315"/>
              <a:ext cx="73880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5→2-3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272665" y="4887278"/>
              <a:ext cx="789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次 LLM 调用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31570" y="5122545"/>
              <a:ext cx="15290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Hierarchical vs Sequential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381375" y="4667250"/>
            <a:ext cx="2621280" cy="666750"/>
            <a:chOff x="3381375" y="4667250"/>
            <a:chExt cx="2621280" cy="666750"/>
          </a:xfrm>
        </p:grpSpPr>
        <p:sp>
          <p:nvSpPr>
            <p:cNvPr id="75" name="Rectangle 75"/>
            <p:cNvSpPr/>
            <p:nvPr/>
          </p:nvSpPr>
          <p:spPr>
            <a:xfrm>
              <a:off x="3381375" y="4667250"/>
              <a:ext cx="25717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3619500" y="4876800"/>
              <a:ext cx="228600" cy="228600"/>
              <a:chOff x="3619500" y="4876800"/>
              <a:chExt cx="228600" cy="2286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3619500" y="48768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42875" y="228600"/>
                    </a:moveTo>
                    <a:lnTo>
                      <a:pt x="171450" y="200025"/>
                    </a:lnTo>
                    <a:lnTo>
                      <a:pt x="171450" y="142875"/>
                    </a:lnTo>
                    <a:lnTo>
                      <a:pt x="195123" y="119203"/>
                    </a:lnTo>
                    <a:cubicBezTo>
                      <a:pt x="216557" y="97767"/>
                      <a:pt x="228600" y="68695"/>
                      <a:pt x="228600" y="38380"/>
                    </a:cubicBezTo>
                    <a:lnTo>
                      <a:pt x="228600" y="0"/>
                    </a:lnTo>
                    <a:lnTo>
                      <a:pt x="190219" y="0"/>
                    </a:lnTo>
                    <a:cubicBezTo>
                      <a:pt x="159906" y="0"/>
                      <a:pt x="130833" y="12042"/>
                      <a:pt x="109397" y="33478"/>
                    </a:cubicBezTo>
                    <a:lnTo>
                      <a:pt x="85725" y="57150"/>
                    </a:lnTo>
                    <a:lnTo>
                      <a:pt x="28575" y="57150"/>
                    </a:lnTo>
                    <a:lnTo>
                      <a:pt x="0" y="85725"/>
                    </a:lnTo>
                    <a:lnTo>
                      <a:pt x="142875" y="228600"/>
                    </a:lnTo>
                    <a:close/>
                    <a:moveTo>
                      <a:pt x="150019" y="100012"/>
                    </a:moveTo>
                    <a:cubicBezTo>
                      <a:pt x="161855" y="100012"/>
                      <a:pt x="171450" y="90417"/>
                      <a:pt x="171450" y="78581"/>
                    </a:cubicBezTo>
                    <a:cubicBezTo>
                      <a:pt x="171450" y="66745"/>
                      <a:pt x="161855" y="57150"/>
                      <a:pt x="150019" y="57150"/>
                    </a:cubicBezTo>
                    <a:cubicBezTo>
                      <a:pt x="138183" y="57150"/>
                      <a:pt x="128588" y="66745"/>
                      <a:pt x="128588" y="78581"/>
                    </a:cubicBezTo>
                    <a:cubicBezTo>
                      <a:pt x="128588" y="90417"/>
                      <a:pt x="138183" y="100012"/>
                      <a:pt x="150019" y="100012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3619500" y="5035000"/>
                <a:ext cx="70400" cy="70400"/>
              </a:xfrm>
              <a:custGeom>
                <a:avLst/>
                <a:gdLst/>
                <a:ahLst/>
                <a:cxnLst/>
                <a:rect l="l" t="t" r="r" b="b"/>
                <a:pathLst>
                  <a:path w="70400" h="70400">
                    <a:moveTo>
                      <a:pt x="70400" y="38336"/>
                    </a:moveTo>
                    <a:lnTo>
                      <a:pt x="32064" y="0"/>
                    </a:lnTo>
                    <a:lnTo>
                      <a:pt x="0" y="56113"/>
                    </a:lnTo>
                    <a:lnTo>
                      <a:pt x="14288" y="70400"/>
                    </a:lnTo>
                    <a:lnTo>
                      <a:pt x="70400" y="38336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3930015" y="4806315"/>
              <a:ext cx="115465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~24s→~8s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415915" y="48872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响应时间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941445" y="5122545"/>
              <a:ext cx="4309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3× 加速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191250" y="4667250"/>
            <a:ext cx="2571750" cy="666750"/>
            <a:chOff x="6191250" y="4667250"/>
            <a:chExt cx="2571750" cy="666750"/>
          </a:xfrm>
        </p:grpSpPr>
        <p:sp>
          <p:nvSpPr>
            <p:cNvPr id="83" name="Rectangle 83"/>
            <p:cNvSpPr/>
            <p:nvPr/>
          </p:nvSpPr>
          <p:spPr>
            <a:xfrm>
              <a:off x="6191250" y="4667250"/>
              <a:ext cx="25717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6429375" y="48768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9402" y="74908"/>
                  </a:moveTo>
                  <a:cubicBezTo>
                    <a:pt x="221089" y="84062"/>
                    <a:pt x="228600" y="98304"/>
                    <a:pt x="228600" y="114300"/>
                  </a:cubicBezTo>
                  <a:cubicBezTo>
                    <a:pt x="228600" y="130297"/>
                    <a:pt x="221089" y="144539"/>
                    <a:pt x="209400" y="153693"/>
                  </a:cubicBezTo>
                  <a:cubicBezTo>
                    <a:pt x="211192" y="168430"/>
                    <a:pt x="206433" y="183812"/>
                    <a:pt x="195122" y="195123"/>
                  </a:cubicBezTo>
                  <a:cubicBezTo>
                    <a:pt x="183810" y="206434"/>
                    <a:pt x="168428" y="211194"/>
                    <a:pt x="153692" y="209402"/>
                  </a:cubicBezTo>
                  <a:cubicBezTo>
                    <a:pt x="144538" y="221089"/>
                    <a:pt x="130296" y="228600"/>
                    <a:pt x="114300" y="228600"/>
                  </a:cubicBezTo>
                  <a:cubicBezTo>
                    <a:pt x="98303" y="228600"/>
                    <a:pt x="84061" y="221089"/>
                    <a:pt x="74908" y="209400"/>
                  </a:cubicBezTo>
                  <a:cubicBezTo>
                    <a:pt x="60171" y="211194"/>
                    <a:pt x="44789" y="206433"/>
                    <a:pt x="33477" y="195122"/>
                  </a:cubicBezTo>
                  <a:cubicBezTo>
                    <a:pt x="22166" y="183812"/>
                    <a:pt x="17406" y="168430"/>
                    <a:pt x="19198" y="153692"/>
                  </a:cubicBezTo>
                  <a:cubicBezTo>
                    <a:pt x="7511" y="144538"/>
                    <a:pt x="0" y="130296"/>
                    <a:pt x="0" y="114300"/>
                  </a:cubicBezTo>
                  <a:cubicBezTo>
                    <a:pt x="0" y="98303"/>
                    <a:pt x="7511" y="84061"/>
                    <a:pt x="19199" y="74908"/>
                  </a:cubicBezTo>
                  <a:cubicBezTo>
                    <a:pt x="17407" y="60171"/>
                    <a:pt x="22167" y="44789"/>
                    <a:pt x="33478" y="33477"/>
                  </a:cubicBezTo>
                  <a:cubicBezTo>
                    <a:pt x="44789" y="22166"/>
                    <a:pt x="60171" y="17406"/>
                    <a:pt x="74908" y="19198"/>
                  </a:cubicBezTo>
                  <a:cubicBezTo>
                    <a:pt x="84062" y="7511"/>
                    <a:pt x="98304" y="0"/>
                    <a:pt x="114300" y="0"/>
                  </a:cubicBezTo>
                  <a:cubicBezTo>
                    <a:pt x="130297" y="0"/>
                    <a:pt x="144539" y="7511"/>
                    <a:pt x="153693" y="19200"/>
                  </a:cubicBezTo>
                  <a:cubicBezTo>
                    <a:pt x="168430" y="17408"/>
                    <a:pt x="183812" y="22167"/>
                    <a:pt x="195123" y="33478"/>
                  </a:cubicBezTo>
                  <a:cubicBezTo>
                    <a:pt x="206434" y="44790"/>
                    <a:pt x="211194" y="60171"/>
                    <a:pt x="209402" y="74908"/>
                  </a:cubicBezTo>
                  <a:close/>
                  <a:moveTo>
                    <a:pt x="174409" y="88684"/>
                  </a:moveTo>
                  <a:lnTo>
                    <a:pt x="154204" y="68478"/>
                  </a:lnTo>
                  <a:lnTo>
                    <a:pt x="100012" y="122669"/>
                  </a:lnTo>
                  <a:lnTo>
                    <a:pt x="74397" y="97053"/>
                  </a:lnTo>
                  <a:lnTo>
                    <a:pt x="54191" y="117259"/>
                  </a:lnTo>
                  <a:lnTo>
                    <a:pt x="100012" y="163080"/>
                  </a:lnTo>
                  <a:lnTo>
                    <a:pt x="174409" y="88684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39890" y="4806315"/>
              <a:ext cx="3355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131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416165" y="488727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项测试通过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751320" y="51225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高可靠性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001125" y="4667250"/>
            <a:ext cx="2619375" cy="666750"/>
            <a:chOff x="9001125" y="4667250"/>
            <a:chExt cx="2619375" cy="666750"/>
          </a:xfrm>
        </p:grpSpPr>
        <p:sp>
          <p:nvSpPr>
            <p:cNvPr id="89" name="Rectangle 89"/>
            <p:cNvSpPr/>
            <p:nvPr/>
          </p:nvSpPr>
          <p:spPr>
            <a:xfrm>
              <a:off x="9001125" y="4667250"/>
              <a:ext cx="2619375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9239250" y="4891088"/>
              <a:ext cx="228600" cy="200024"/>
              <a:chOff x="9239250" y="4891088"/>
              <a:chExt cx="228600" cy="200024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9282112" y="489108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9239250" y="4991100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42862" y="0"/>
                    </a:moveTo>
                    <a:cubicBezTo>
                      <a:pt x="19190" y="0"/>
                      <a:pt x="0" y="19190"/>
                      <a:pt x="0" y="42862"/>
                    </a:cubicBezTo>
                    <a:lnTo>
                      <a:pt x="0" y="100012"/>
                    </a:lnTo>
                    <a:lnTo>
                      <a:pt x="114300" y="100012"/>
                    </a:lnTo>
                    <a:lnTo>
                      <a:pt x="114300" y="0"/>
                    </a:lnTo>
                    <a:lnTo>
                      <a:pt x="42862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9382125" y="4991100"/>
                <a:ext cx="857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0012">
                    <a:moveTo>
                      <a:pt x="42862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85725" y="100012"/>
                    </a:lnTo>
                    <a:lnTo>
                      <a:pt x="85725" y="42862"/>
                    </a:lnTo>
                    <a:cubicBezTo>
                      <a:pt x="85725" y="19190"/>
                      <a:pt x="66535" y="0"/>
                      <a:pt x="42862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9382125" y="4905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9549765" y="4806315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Sequential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892790" y="4887278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Process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561195" y="5122545"/>
              <a:ext cx="1307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无 Manager Agent 开销</a:t>
              </a:r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11268980" y="6578441"/>
            <a:ext cx="3619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04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234118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多模态 RAG 管道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90550"/>
            <a:ext cx="11049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868628" y="685324"/>
            <a:ext cx="44547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5 阶段管道：文档输入 → 多模态解析 → 向量化存储 → 混合检索 → 答案生成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952500"/>
            <a:ext cx="11049000" cy="4381500"/>
          </a:xfrm>
          <a:prstGeom prst="roundRect">
            <a:avLst>
              <a:gd name="adj" fmla="val 1739"/>
            </a:avLst>
          </a:prstGeom>
          <a:noFill/>
          <a:ln w="14288">
            <a:solidFill>
              <a:srgbClr val="CBD5E1"/>
            </a:solidFill>
            <a:custDash>
              <a:ds d="400000" sp="266666"/>
            </a:custDash>
          </a:ln>
        </p:spPr>
      </p:sp>
      <p:sp>
        <p:nvSpPr>
          <p:cNvPr id="8" name="TextBox 8"/>
          <p:cNvSpPr txBox="1"/>
          <p:nvPr/>
        </p:nvSpPr>
        <p:spPr>
          <a:xfrm>
            <a:off x="4071468" y="1045845"/>
            <a:ext cx="40490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SEQUENTIAL FLOW: SOURCE → PROCESS → STORE → RETRIEVE → ANSWER</a:t>
            </a:r>
          </a:p>
        </p:txBody>
      </p:sp>
      <p:sp>
        <p:nvSpPr>
          <p:cNvPr id="9" name="Rectangle 9"/>
          <p:cNvSpPr/>
          <p:nvPr/>
        </p:nvSpPr>
        <p:spPr>
          <a:xfrm>
            <a:off x="742950" y="1333500"/>
            <a:ext cx="1905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C4B5FD"/>
            </a:solidFill>
          </a:ln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10" name="Freeform 10"/>
          <p:cNvSpPr/>
          <p:nvPr/>
        </p:nvSpPr>
        <p:spPr>
          <a:xfrm>
            <a:off x="742950" y="133350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0" y="76200"/>
                </a:moveTo>
                <a:cubicBezTo>
                  <a:pt x="0" y="34116"/>
                  <a:pt x="34116" y="0"/>
                  <a:pt x="76200" y="0"/>
                </a:cubicBez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57250" y="14287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05257" y="1496378"/>
            <a:ext cx="1516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910" y="1489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文档解析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2950" y="1733550"/>
            <a:ext cx="1905000" cy="266700"/>
          </a:xfrm>
          <a:prstGeom prst="rect">
            <a:avLst/>
          </a:prstGeom>
          <a:solidFill>
            <a:srgbClr val="EEF2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56494" y="1815941"/>
            <a:ext cx="10779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多源输入 &amp; 语义分块</a:t>
            </a:r>
          </a:p>
        </p:txBody>
      </p:sp>
      <p:sp>
        <p:nvSpPr>
          <p:cNvPr id="16" name="Ellipse 16"/>
          <p:cNvSpPr/>
          <p:nvPr/>
        </p:nvSpPr>
        <p:spPr>
          <a:xfrm>
            <a:off x="904875" y="2162175"/>
            <a:ext cx="57150" cy="5715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17270" y="21316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多源文档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8222" y="2292191"/>
            <a:ext cx="961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PDF / PPTX / DOCX</a:t>
            </a:r>
          </a:p>
        </p:txBody>
      </p:sp>
      <p:sp>
        <p:nvSpPr>
          <p:cNvPr id="19" name="Ellipse 19"/>
          <p:cNvSpPr/>
          <p:nvPr/>
        </p:nvSpPr>
        <p:spPr>
          <a:xfrm>
            <a:off x="904875" y="2590800"/>
            <a:ext cx="57150" cy="5715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17270" y="2560320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语义分块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8222" y="2720816"/>
            <a:ext cx="7415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段落/标题边界</a:t>
            </a:r>
          </a:p>
        </p:txBody>
      </p:sp>
      <p:sp>
        <p:nvSpPr>
          <p:cNvPr id="22" name="Ellipse 22"/>
          <p:cNvSpPr/>
          <p:nvPr/>
        </p:nvSpPr>
        <p:spPr>
          <a:xfrm>
            <a:off x="904875" y="3019425"/>
            <a:ext cx="57150" cy="5715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17270" y="298894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块大小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222" y="3149441"/>
            <a:ext cx="7030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100-1200 字符</a:t>
            </a:r>
          </a:p>
        </p:txBody>
      </p:sp>
      <p:sp>
        <p:nvSpPr>
          <p:cNvPr id="25" name="Line 25"/>
          <p:cNvSpPr/>
          <p:nvPr/>
        </p:nvSpPr>
        <p:spPr>
          <a:xfrm>
            <a:off x="742950" y="357187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26" name="Rectangle 26"/>
          <p:cNvSpPr/>
          <p:nvPr/>
        </p:nvSpPr>
        <p:spPr>
          <a:xfrm>
            <a:off x="885825" y="3714750"/>
            <a:ext cx="1619250" cy="45720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9525">
            <a:solidFill>
              <a:srgbClr val="DDD6F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342007" y="3805238"/>
            <a:ext cx="7068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STAGE OUTPUT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8263" y="3971449"/>
            <a:ext cx="12943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文本块 + 图片 + 表格</a:t>
            </a:r>
          </a:p>
        </p:txBody>
      </p:sp>
      <p:sp>
        <p:nvSpPr>
          <p:cNvPr id="29" name="Freeform 29"/>
          <p:cNvSpPr/>
          <p:nvPr/>
        </p:nvSpPr>
        <p:spPr>
          <a:xfrm>
            <a:off x="2714625" y="3181350"/>
            <a:ext cx="219075" cy="190500"/>
          </a:xfrm>
          <a:custGeom>
            <a:avLst/>
            <a:gdLst/>
            <a:ahLst/>
            <a:cxnLst/>
            <a:rect l="l" t="t" r="r" b="b"/>
            <a:pathLst>
              <a:path w="219075" h="190500">
                <a:moveTo>
                  <a:pt x="0" y="57150"/>
                </a:moveTo>
                <a:lnTo>
                  <a:pt x="123825" y="57150"/>
                </a:lnTo>
                <a:lnTo>
                  <a:pt x="123825" y="0"/>
                </a:lnTo>
                <a:lnTo>
                  <a:pt x="219075" y="95250"/>
                </a:lnTo>
                <a:lnTo>
                  <a:pt x="123825" y="190500"/>
                </a:lnTo>
                <a:lnTo>
                  <a:pt x="1238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2990850" y="1333500"/>
            <a:ext cx="1905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93C5FD"/>
            </a:solidFill>
          </a:ln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31" name="Freeform 31"/>
          <p:cNvSpPr/>
          <p:nvPr/>
        </p:nvSpPr>
        <p:spPr>
          <a:xfrm>
            <a:off x="2990850" y="133350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0" y="76200"/>
                </a:moveTo>
                <a:cubicBezTo>
                  <a:pt x="0" y="34116"/>
                  <a:pt x="34116" y="0"/>
                  <a:pt x="76200" y="0"/>
                </a:cubicBez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1E40AF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3105150" y="14287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134780" y="1496378"/>
            <a:ext cx="188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432810" y="14897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多模态提取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990850" y="1733550"/>
            <a:ext cx="1905000" cy="2667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462151" y="1815941"/>
            <a:ext cx="9623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图片 &amp; 表格结构化</a:t>
            </a:r>
          </a:p>
        </p:txBody>
      </p:sp>
      <p:sp>
        <p:nvSpPr>
          <p:cNvPr id="37" name="Ellipse 37"/>
          <p:cNvSpPr/>
          <p:nvPr/>
        </p:nvSpPr>
        <p:spPr>
          <a:xfrm>
            <a:off x="3152775" y="2162175"/>
            <a:ext cx="57150" cy="571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265170" y="2131695"/>
            <a:ext cx="8104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BLIP 图片描述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66122" y="229219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批量推理加速</a:t>
            </a:r>
          </a:p>
        </p:txBody>
      </p:sp>
      <p:sp>
        <p:nvSpPr>
          <p:cNvPr id="40" name="Ellipse 40"/>
          <p:cNvSpPr/>
          <p:nvPr/>
        </p:nvSpPr>
        <p:spPr>
          <a:xfrm>
            <a:off x="3152775" y="2590800"/>
            <a:ext cx="57150" cy="571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265170" y="2560320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表格转换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266122" y="2720816"/>
            <a:ext cx="10055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→ Markdown 字符串</a:t>
            </a:r>
          </a:p>
        </p:txBody>
      </p:sp>
      <p:sp>
        <p:nvSpPr>
          <p:cNvPr id="43" name="Ellipse 43"/>
          <p:cNvSpPr/>
          <p:nvPr/>
        </p:nvSpPr>
        <p:spPr>
          <a:xfrm>
            <a:off x="3152775" y="3019425"/>
            <a:ext cx="57150" cy="571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265170" y="298894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类型标记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266122" y="3149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text / image / table / web</a:t>
            </a:r>
          </a:p>
        </p:txBody>
      </p:sp>
      <p:sp>
        <p:nvSpPr>
          <p:cNvPr id="46" name="Line 46"/>
          <p:cNvSpPr/>
          <p:nvPr/>
        </p:nvSpPr>
        <p:spPr>
          <a:xfrm>
            <a:off x="2990850" y="357187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47" name="Rectangle 47"/>
          <p:cNvSpPr/>
          <p:nvPr/>
        </p:nvSpPr>
        <p:spPr>
          <a:xfrm>
            <a:off x="3133725" y="3714750"/>
            <a:ext cx="1619250" cy="457200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 w="9525">
            <a:solidFill>
              <a:srgbClr val="BFDBFE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3589907" y="3805238"/>
            <a:ext cx="7068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STAGE OUTPUT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316641" y="3971449"/>
            <a:ext cx="12534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带类型的结构化文档</a:t>
            </a:r>
          </a:p>
        </p:txBody>
      </p:sp>
      <p:sp>
        <p:nvSpPr>
          <p:cNvPr id="50" name="Freeform 50"/>
          <p:cNvSpPr/>
          <p:nvPr/>
        </p:nvSpPr>
        <p:spPr>
          <a:xfrm>
            <a:off x="4962525" y="3181350"/>
            <a:ext cx="219075" cy="190500"/>
          </a:xfrm>
          <a:custGeom>
            <a:avLst/>
            <a:gdLst/>
            <a:ahLst/>
            <a:cxnLst/>
            <a:rect l="l" t="t" r="r" b="b"/>
            <a:pathLst>
              <a:path w="219075" h="190500">
                <a:moveTo>
                  <a:pt x="0" y="57150"/>
                </a:moveTo>
                <a:lnTo>
                  <a:pt x="123825" y="57150"/>
                </a:lnTo>
                <a:lnTo>
                  <a:pt x="123825" y="0"/>
                </a:lnTo>
                <a:lnTo>
                  <a:pt x="219075" y="95250"/>
                </a:lnTo>
                <a:lnTo>
                  <a:pt x="123825" y="190500"/>
                </a:lnTo>
                <a:lnTo>
                  <a:pt x="1238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5238750" y="1333500"/>
            <a:ext cx="1905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6EE7B7"/>
            </a:solidFill>
          </a:ln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52" name="Freeform 52"/>
          <p:cNvSpPr/>
          <p:nvPr/>
        </p:nvSpPr>
        <p:spPr>
          <a:xfrm>
            <a:off x="5238750" y="133350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0" y="76200"/>
                </a:moveTo>
                <a:cubicBezTo>
                  <a:pt x="0" y="34116"/>
                  <a:pt x="34116" y="0"/>
                  <a:pt x="76200" y="0"/>
                </a:cubicBez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353050" y="14287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382680" y="1496378"/>
            <a:ext cx="188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680710" y="14897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向量化存储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238750" y="1733550"/>
            <a:ext cx="1905000" cy="266700"/>
          </a:xfrm>
          <a:prstGeom prst="rect">
            <a:avLst/>
          </a:prstGeom>
          <a:solidFill>
            <a:srgbClr val="ECFDF5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5767808" y="1815941"/>
            <a:ext cx="8468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47857"/>
                </a:solidFill>
                <a:latin typeface="Arial"/>
                <a:ea typeface="Microsoft YaHei"/>
                <a:cs typeface="Arial"/>
              </a:rPr>
              <a:t>嵌入 &amp; 索引构建</a:t>
            </a:r>
          </a:p>
        </p:txBody>
      </p:sp>
      <p:sp>
        <p:nvSpPr>
          <p:cNvPr id="58" name="Ellipse 58"/>
          <p:cNvSpPr/>
          <p:nvPr/>
        </p:nvSpPr>
        <p:spPr>
          <a:xfrm>
            <a:off x="5400675" y="2162175"/>
            <a:ext cx="57150" cy="571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5513070" y="2131695"/>
            <a:ext cx="6025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ChromaDB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14022" y="229219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本地持久化向量库</a:t>
            </a:r>
          </a:p>
        </p:txBody>
      </p:sp>
      <p:sp>
        <p:nvSpPr>
          <p:cNvPr id="61" name="Ellipse 61"/>
          <p:cNvSpPr/>
          <p:nvPr/>
        </p:nvSpPr>
        <p:spPr>
          <a:xfrm>
            <a:off x="5400675" y="2590800"/>
            <a:ext cx="57150" cy="571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5513070" y="2560320"/>
            <a:ext cx="860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嵌入维度：384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514022" y="2720816"/>
            <a:ext cx="7690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MiniLM-L12-v2</a:t>
            </a:r>
          </a:p>
        </p:txBody>
      </p:sp>
      <p:sp>
        <p:nvSpPr>
          <p:cNvPr id="64" name="Ellipse 64"/>
          <p:cNvSpPr/>
          <p:nvPr/>
        </p:nvSpPr>
        <p:spPr>
          <a:xfrm>
            <a:off x="5400675" y="3019425"/>
            <a:ext cx="57150" cy="571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513070" y="298894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元数据字段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514022" y="3149441"/>
            <a:ext cx="12421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type + source + vector</a:t>
            </a:r>
          </a:p>
        </p:txBody>
      </p:sp>
      <p:sp>
        <p:nvSpPr>
          <p:cNvPr id="67" name="Line 67"/>
          <p:cNvSpPr/>
          <p:nvPr/>
        </p:nvSpPr>
        <p:spPr>
          <a:xfrm>
            <a:off x="5238750" y="357187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68" name="Rectangle 68"/>
          <p:cNvSpPr/>
          <p:nvPr/>
        </p:nvSpPr>
        <p:spPr>
          <a:xfrm>
            <a:off x="5381625" y="3714750"/>
            <a:ext cx="1619250" cy="457200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5837807" y="3805238"/>
            <a:ext cx="7068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STAGE OUTPUT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421198" y="3971449"/>
            <a:ext cx="15401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47857"/>
                </a:solidFill>
                <a:latin typeface="Arial"/>
                <a:ea typeface="Microsoft YaHei"/>
                <a:cs typeface="Arial"/>
              </a:rPr>
              <a:t>向量索引 (chroma_db/)</a:t>
            </a:r>
          </a:p>
        </p:txBody>
      </p:sp>
      <p:sp>
        <p:nvSpPr>
          <p:cNvPr id="71" name="Freeform 71"/>
          <p:cNvSpPr/>
          <p:nvPr/>
        </p:nvSpPr>
        <p:spPr>
          <a:xfrm>
            <a:off x="7210425" y="3181350"/>
            <a:ext cx="219075" cy="190500"/>
          </a:xfrm>
          <a:custGeom>
            <a:avLst/>
            <a:gdLst/>
            <a:ahLst/>
            <a:cxnLst/>
            <a:rect l="l" t="t" r="r" b="b"/>
            <a:pathLst>
              <a:path w="219075" h="190500">
                <a:moveTo>
                  <a:pt x="0" y="57150"/>
                </a:moveTo>
                <a:lnTo>
                  <a:pt x="123825" y="57150"/>
                </a:lnTo>
                <a:lnTo>
                  <a:pt x="123825" y="0"/>
                </a:lnTo>
                <a:lnTo>
                  <a:pt x="219075" y="95250"/>
                </a:lnTo>
                <a:lnTo>
                  <a:pt x="123825" y="190500"/>
                </a:lnTo>
                <a:lnTo>
                  <a:pt x="1238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72" name="Rectangle 72"/>
          <p:cNvSpPr/>
          <p:nvPr/>
        </p:nvSpPr>
        <p:spPr>
          <a:xfrm>
            <a:off x="7486650" y="1333500"/>
            <a:ext cx="1905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FCD34D"/>
            </a:solidFill>
          </a:ln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73" name="Freeform 73"/>
          <p:cNvSpPr/>
          <p:nvPr/>
        </p:nvSpPr>
        <p:spPr>
          <a:xfrm>
            <a:off x="7486650" y="133350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0" y="76200"/>
                </a:moveTo>
                <a:cubicBezTo>
                  <a:pt x="0" y="34116"/>
                  <a:pt x="34116" y="0"/>
                  <a:pt x="76200" y="0"/>
                </a:cubicBez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74" name="Rectangle 74"/>
          <p:cNvSpPr/>
          <p:nvPr/>
        </p:nvSpPr>
        <p:spPr>
          <a:xfrm>
            <a:off x="7600950" y="14287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7630580" y="1496378"/>
            <a:ext cx="188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928610" y="1489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混合检索</a:t>
            </a:r>
          </a:p>
        </p:txBody>
      </p:sp>
      <p:sp>
        <p:nvSpPr>
          <p:cNvPr id="77" name="Rectangle 77"/>
          <p:cNvSpPr/>
          <p:nvPr/>
        </p:nvSpPr>
        <p:spPr>
          <a:xfrm>
            <a:off x="7486650" y="1733550"/>
            <a:ext cx="1905000" cy="2667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7937736" y="1815941"/>
            <a:ext cx="10028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ANN + BM25 重排序</a:t>
            </a:r>
          </a:p>
        </p:txBody>
      </p:sp>
      <p:sp>
        <p:nvSpPr>
          <p:cNvPr id="79" name="Ellipse 79"/>
          <p:cNvSpPr/>
          <p:nvPr/>
        </p:nvSpPr>
        <p:spPr>
          <a:xfrm>
            <a:off x="7648575" y="2162175"/>
            <a:ext cx="57150" cy="571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7760970" y="2131695"/>
            <a:ext cx="8104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余弦 ANN 搜索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761922" y="2292191"/>
            <a:ext cx="10000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ChromaDB 内置索引</a:t>
            </a:r>
          </a:p>
        </p:txBody>
      </p:sp>
      <p:sp>
        <p:nvSpPr>
          <p:cNvPr id="82" name="Ellipse 82"/>
          <p:cNvSpPr/>
          <p:nvPr/>
        </p:nvSpPr>
        <p:spPr>
          <a:xfrm>
            <a:off x="7648575" y="2590800"/>
            <a:ext cx="57150" cy="571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7760970" y="2560320"/>
            <a:ext cx="9931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BM25 统计重排序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761922" y="2720816"/>
            <a:ext cx="8295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权重 70/30 融合</a:t>
            </a:r>
          </a:p>
        </p:txBody>
      </p:sp>
      <p:sp>
        <p:nvSpPr>
          <p:cNvPr id="85" name="Ellipse 85"/>
          <p:cNvSpPr/>
          <p:nvPr/>
        </p:nvSpPr>
        <p:spPr>
          <a:xfrm>
            <a:off x="7648575" y="3019425"/>
            <a:ext cx="57150" cy="571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7760970" y="2988945"/>
            <a:ext cx="6592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Top-K 候选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761922" y="3149441"/>
            <a:ext cx="10275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ChromaDB 候选 12→8</a:t>
            </a:r>
          </a:p>
        </p:txBody>
      </p:sp>
      <p:sp>
        <p:nvSpPr>
          <p:cNvPr id="88" name="Line 88"/>
          <p:cNvSpPr/>
          <p:nvPr/>
        </p:nvSpPr>
        <p:spPr>
          <a:xfrm>
            <a:off x="7486650" y="357187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89" name="Rectangle 89"/>
          <p:cNvSpPr/>
          <p:nvPr/>
        </p:nvSpPr>
        <p:spPr>
          <a:xfrm>
            <a:off x="7629525" y="3714750"/>
            <a:ext cx="1619250" cy="45720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8085707" y="3805238"/>
            <a:ext cx="7068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STAGE OUTPUT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877286" y="3971449"/>
            <a:ext cx="11237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Top-K 相关文档块</a:t>
            </a:r>
          </a:p>
        </p:txBody>
      </p:sp>
      <p:sp>
        <p:nvSpPr>
          <p:cNvPr id="92" name="Freeform 92"/>
          <p:cNvSpPr/>
          <p:nvPr/>
        </p:nvSpPr>
        <p:spPr>
          <a:xfrm>
            <a:off x="9458325" y="3181350"/>
            <a:ext cx="219075" cy="190500"/>
          </a:xfrm>
          <a:custGeom>
            <a:avLst/>
            <a:gdLst/>
            <a:ahLst/>
            <a:cxnLst/>
            <a:rect l="l" t="t" r="r" b="b"/>
            <a:pathLst>
              <a:path w="219075" h="190500">
                <a:moveTo>
                  <a:pt x="0" y="57150"/>
                </a:moveTo>
                <a:lnTo>
                  <a:pt x="123825" y="57150"/>
                </a:lnTo>
                <a:lnTo>
                  <a:pt x="123825" y="0"/>
                </a:lnTo>
                <a:lnTo>
                  <a:pt x="219075" y="95250"/>
                </a:lnTo>
                <a:lnTo>
                  <a:pt x="123825" y="190500"/>
                </a:lnTo>
                <a:lnTo>
                  <a:pt x="1238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93" name="Rectangle 93"/>
          <p:cNvSpPr/>
          <p:nvPr/>
        </p:nvSpPr>
        <p:spPr>
          <a:xfrm>
            <a:off x="9734550" y="1333500"/>
            <a:ext cx="1885950" cy="38100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4288">
            <a:solidFill>
              <a:srgbClr val="FDA4AF"/>
            </a:solidFill>
          </a:ln>
          <a:effectLst>
            <a:outerShdw blurRad="57150" dist="19050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94" name="Freeform 94"/>
          <p:cNvSpPr/>
          <p:nvPr/>
        </p:nvSpPr>
        <p:spPr>
          <a:xfrm>
            <a:off x="9734550" y="1333500"/>
            <a:ext cx="1885950" cy="400050"/>
          </a:xfrm>
          <a:custGeom>
            <a:avLst/>
            <a:gdLst/>
            <a:ahLst/>
            <a:cxnLst/>
            <a:rect l="l" t="t" r="r" b="b"/>
            <a:pathLst>
              <a:path w="1885950" h="400050">
                <a:moveTo>
                  <a:pt x="0" y="76200"/>
                </a:moveTo>
                <a:cubicBezTo>
                  <a:pt x="0" y="34116"/>
                  <a:pt x="34116" y="0"/>
                  <a:pt x="76200" y="0"/>
                </a:cubicBezTo>
                <a:lnTo>
                  <a:pt x="1809750" y="0"/>
                </a:lnTo>
                <a:cubicBezTo>
                  <a:pt x="1851834" y="0"/>
                  <a:pt x="1885950" y="34116"/>
                  <a:pt x="1885950" y="76200"/>
                </a:cubicBezTo>
                <a:lnTo>
                  <a:pt x="188595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F43F5E"/>
          </a:solidFill>
          <a:ln>
            <a:noFill/>
          </a:ln>
        </p:spPr>
      </p:sp>
      <p:sp>
        <p:nvSpPr>
          <p:cNvPr id="95" name="Rectangle 95"/>
          <p:cNvSpPr/>
          <p:nvPr/>
        </p:nvSpPr>
        <p:spPr>
          <a:xfrm>
            <a:off x="9848850" y="14287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6" name="TextBox 96"/>
          <p:cNvSpPr txBox="1"/>
          <p:nvPr/>
        </p:nvSpPr>
        <p:spPr>
          <a:xfrm>
            <a:off x="9878480" y="1496378"/>
            <a:ext cx="188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43F5E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176510" y="1489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答案生成</a:t>
            </a:r>
          </a:p>
        </p:txBody>
      </p:sp>
      <p:sp>
        <p:nvSpPr>
          <p:cNvPr id="98" name="Rectangle 98"/>
          <p:cNvSpPr/>
          <p:nvPr/>
        </p:nvSpPr>
        <p:spPr>
          <a:xfrm>
            <a:off x="9734550" y="1733550"/>
            <a:ext cx="1885950" cy="266700"/>
          </a:xfrm>
          <a:prstGeom prst="rect">
            <a:avLst/>
          </a:prstGeom>
          <a:solidFill>
            <a:srgbClr val="FFF1F2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10245420" y="1815941"/>
            <a:ext cx="8642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BE123C"/>
                </a:solidFill>
                <a:latin typeface="Arial"/>
                <a:ea typeface="Microsoft YaHei"/>
                <a:cs typeface="Arial"/>
              </a:rPr>
              <a:t>门控 + LLM 生成</a:t>
            </a:r>
          </a:p>
        </p:txBody>
      </p:sp>
      <p:sp>
        <p:nvSpPr>
          <p:cNvPr id="100" name="Ellipse 100"/>
          <p:cNvSpPr/>
          <p:nvPr/>
        </p:nvSpPr>
        <p:spPr>
          <a:xfrm>
            <a:off x="9896475" y="2162175"/>
            <a:ext cx="57150" cy="5715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10008870" y="21316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相似度门控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0009822" y="2292191"/>
            <a:ext cx="857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&gt;=0.82 直接使用</a:t>
            </a:r>
          </a:p>
        </p:txBody>
      </p:sp>
      <p:sp>
        <p:nvSpPr>
          <p:cNvPr id="103" name="Ellipse 103"/>
          <p:cNvSpPr/>
          <p:nvPr/>
        </p:nvSpPr>
        <p:spPr>
          <a:xfrm>
            <a:off x="9896475" y="2590800"/>
            <a:ext cx="57150" cy="5715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10008870" y="2560320"/>
            <a:ext cx="6592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Guard 验证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009822" y="2720816"/>
            <a:ext cx="8185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0.55-0.82 区间</a:t>
            </a:r>
          </a:p>
        </p:txBody>
      </p:sp>
      <p:sp>
        <p:nvSpPr>
          <p:cNvPr id="106" name="Ellipse 106"/>
          <p:cNvSpPr/>
          <p:nvPr/>
        </p:nvSpPr>
        <p:spPr>
          <a:xfrm>
            <a:off x="9896475" y="3019425"/>
            <a:ext cx="57150" cy="5715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10008870" y="2988945"/>
            <a:ext cx="7663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Analyst 生成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0009822" y="3149441"/>
            <a:ext cx="9120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结构化 Markdown</a:t>
            </a:r>
          </a:p>
        </p:txBody>
      </p:sp>
      <p:sp>
        <p:nvSpPr>
          <p:cNvPr id="109" name="Line 109"/>
          <p:cNvSpPr/>
          <p:nvPr/>
        </p:nvSpPr>
        <p:spPr>
          <a:xfrm>
            <a:off x="9734550" y="3571875"/>
            <a:ext cx="1885950" cy="9525"/>
          </a:xfrm>
          <a:custGeom>
            <a:avLst/>
            <a:gdLst/>
            <a:ahLst/>
            <a:cxnLst/>
            <a:rect l="l" t="t" r="r" b="b"/>
            <a:pathLst>
              <a:path w="1885950" h="952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10" name="Rectangle 110"/>
          <p:cNvSpPr/>
          <p:nvPr/>
        </p:nvSpPr>
        <p:spPr>
          <a:xfrm>
            <a:off x="9877425" y="3714750"/>
            <a:ext cx="1600200" cy="457200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10324082" y="3805238"/>
            <a:ext cx="7068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STAGE OUTPUT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0187333" y="397144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BE123C"/>
                </a:solidFill>
                <a:latin typeface="Arial"/>
                <a:ea typeface="Microsoft YaHei"/>
                <a:cs typeface="Arial"/>
              </a:rPr>
              <a:t>结构化中文回答</a:t>
            </a:r>
          </a:p>
        </p:txBody>
      </p:sp>
      <p:sp>
        <p:nvSpPr>
          <p:cNvPr id="113" name="Rectangle 113"/>
          <p:cNvSpPr/>
          <p:nvPr/>
        </p:nvSpPr>
        <p:spPr>
          <a:xfrm>
            <a:off x="571500" y="5524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4" name="TextBox 114"/>
          <p:cNvSpPr txBox="1"/>
          <p:nvPr/>
        </p:nvSpPr>
        <p:spPr>
          <a:xfrm>
            <a:off x="556260" y="5680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关键技术细节</a:t>
            </a:r>
          </a:p>
        </p:txBody>
      </p:sp>
      <p:grpSp>
        <p:nvGrpSpPr>
          <p:cNvPr id="118" name="Group 118"/>
          <p:cNvGrpSpPr/>
          <p:nvPr/>
        </p:nvGrpSpPr>
        <p:grpSpPr>
          <a:xfrm>
            <a:off x="571500" y="5981700"/>
            <a:ext cx="2571750" cy="590550"/>
            <a:chOff x="571500" y="5981700"/>
            <a:chExt cx="2571750" cy="590550"/>
          </a:xfrm>
        </p:grpSpPr>
        <p:sp>
          <p:nvSpPr>
            <p:cNvPr id="115" name="Rectangle 115"/>
            <p:cNvSpPr/>
            <p:nvPr/>
          </p:nvSpPr>
          <p:spPr>
            <a:xfrm>
              <a:off x="571500" y="5981700"/>
              <a:ext cx="2571750" cy="590550"/>
            </a:xfrm>
            <a:prstGeom prst="roundRect">
              <a:avLst>
                <a:gd name="adj" fmla="val 1290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749618" y="6085999"/>
              <a:ext cx="918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图片→文字描述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50570" y="6284595"/>
              <a:ext cx="18530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BLIP 描述文本化，无需多模态嵌入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3381375" y="5981700"/>
            <a:ext cx="2571750" cy="590550"/>
            <a:chOff x="3381375" y="5981700"/>
            <a:chExt cx="2571750" cy="590550"/>
          </a:xfrm>
        </p:grpSpPr>
        <p:sp>
          <p:nvSpPr>
            <p:cNvPr id="119" name="Rectangle 119"/>
            <p:cNvSpPr/>
            <p:nvPr/>
          </p:nvSpPr>
          <p:spPr>
            <a:xfrm>
              <a:off x="3381375" y="5981700"/>
              <a:ext cx="2571750" cy="590550"/>
            </a:xfrm>
            <a:prstGeom prst="roundRect">
              <a:avLst>
                <a:gd name="adj" fmla="val 1290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3559492" y="6085999"/>
              <a:ext cx="10759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BM25 混合重排序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3560445" y="6284595"/>
              <a:ext cx="1787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代替 CrossEncoder，省 1-2s/次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191250" y="5981700"/>
            <a:ext cx="2571750" cy="590550"/>
            <a:chOff x="6191250" y="5981700"/>
            <a:chExt cx="2571750" cy="590550"/>
          </a:xfrm>
        </p:grpSpPr>
        <p:sp>
          <p:nvSpPr>
            <p:cNvPr id="123" name="Rectangle 123"/>
            <p:cNvSpPr/>
            <p:nvPr/>
          </p:nvSpPr>
          <p:spPr>
            <a:xfrm>
              <a:off x="6191250" y="5981700"/>
              <a:ext cx="2571750" cy="590550"/>
            </a:xfrm>
            <a:prstGeom prst="roundRect">
              <a:avLst>
                <a:gd name="adj" fmla="val 1290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369368" y="6085999"/>
              <a:ext cx="10281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web→RAG 持久化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6370320" y="6284595"/>
              <a:ext cx="1787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搜索结果持久化，相似查询免 API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9001125" y="5981700"/>
            <a:ext cx="2619375" cy="590550"/>
            <a:chOff x="9001125" y="5981700"/>
            <a:chExt cx="2619375" cy="590550"/>
          </a:xfrm>
        </p:grpSpPr>
        <p:sp>
          <p:nvSpPr>
            <p:cNvPr id="127" name="Rectangle 127"/>
            <p:cNvSpPr/>
            <p:nvPr/>
          </p:nvSpPr>
          <p:spPr>
            <a:xfrm>
              <a:off x="9001125" y="5981700"/>
              <a:ext cx="2619375" cy="590550"/>
            </a:xfrm>
            <a:prstGeom prst="roundRect">
              <a:avLst>
                <a:gd name="adj" fmla="val 1290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9179242" y="6085999"/>
              <a:ext cx="7005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384 维嵌入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180195" y="6284595"/>
              <a:ext cx="22971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</p:grpSp>
      <p:sp>
        <p:nvSpPr>
          <p:cNvPr id="131" name="TextBox 131"/>
          <p:cNvSpPr txBox="1"/>
          <p:nvPr/>
        </p:nvSpPr>
        <p:spPr>
          <a:xfrm>
            <a:off x="11268980" y="6578441"/>
            <a:ext cx="3619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05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10022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技术栈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18328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 项核心技术 · Python 3.11+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57250"/>
            <a:ext cx="11049000" cy="342900"/>
          </a:xfrm>
          <a:prstGeom prst="roundRect">
            <a:avLst>
              <a:gd name="adj" fmla="val 16667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3915" y="9725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层级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67915" y="9725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技术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01665" y="9725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版本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06665" y="9725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用途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238250"/>
            <a:ext cx="11049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23825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44868" y="1380649"/>
            <a:ext cx="2773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67915" y="1372552"/>
            <a:ext cx="3072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DeepSeek Chat API（可通过 LLM_MODEL 切换）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02618" y="138064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07618" y="13806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核心推理引擎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1676400"/>
            <a:ext cx="11049000" cy="4000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167640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4868" y="1818799"/>
            <a:ext cx="7141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Agent 框架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67915" y="1810702"/>
            <a:ext cx="20429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CrewAI（Sequential Process）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02618" y="1818799"/>
            <a:ext cx="3888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1.14.3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07618" y="18187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多智能体编排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2114550"/>
            <a:ext cx="11049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211455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4868" y="22569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向量数据库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67915" y="2248852"/>
            <a:ext cx="16508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ChromaDB（本地持久化）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02618" y="2256949"/>
            <a:ext cx="284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1.1.1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07618" y="2256949"/>
            <a:ext cx="1227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向量存储与 ANN 检索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2552700"/>
            <a:ext cx="11049000" cy="4000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571500" y="255270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4868" y="26950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嵌入模型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67915" y="2687002"/>
            <a:ext cx="33730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paraphrase-multilingual-MiniLM-L12-v2（384 维）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02618" y="2695099"/>
            <a:ext cx="3498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5.4.1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07618" y="26950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多语言文本嵌入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2990850"/>
            <a:ext cx="11049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571500" y="299085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44868" y="313324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深度学习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67915" y="3125152"/>
            <a:ext cx="21129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PyTorch + Transformers + BLIP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702618" y="3133249"/>
            <a:ext cx="531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2.11/5.7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07618" y="31332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图片描述生成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3429000"/>
            <a:ext cx="11049000" cy="4000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571500" y="342900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4868" y="3571399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重排序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367915" y="3563302"/>
            <a:ext cx="1881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BM25 Okapi（scikit-learn）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702618" y="3571399"/>
            <a:ext cx="3498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1.8.0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07618" y="35713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统计关键词重排序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3867150"/>
            <a:ext cx="11049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571500" y="386715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4868" y="400954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文档解析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367915" y="4001452"/>
            <a:ext cx="26099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PyMuPDF / python-pptx / python-docx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702618" y="4009549"/>
            <a:ext cx="785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1.26/1.0/1.2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607618" y="4009549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PDF / PPTX / DOCX 解析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71500" y="4305300"/>
            <a:ext cx="11049000" cy="4000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571500" y="430530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44868" y="44476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联网搜索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367915" y="4439602"/>
            <a:ext cx="6567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Tavily API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702618" y="4447699"/>
            <a:ext cx="453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0.7.24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607618" y="44476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外部知识补充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4743450"/>
            <a:ext cx="11049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571500" y="474345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44868" y="4885849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Web 框架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367915" y="4877752"/>
            <a:ext cx="1874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Flask + SSE + Font Awesome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702618" y="4885849"/>
            <a:ext cx="382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3.0.0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607618" y="48858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Web UI + REST API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181600"/>
            <a:ext cx="11049000" cy="4000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571500" y="518160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844868" y="5323999"/>
            <a:ext cx="5640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中文 NLP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367915" y="5315902"/>
            <a:ext cx="17418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jieba（分词用于缓存匹配）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702618" y="532399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—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607618" y="53239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缓存查询语义匹配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619750"/>
            <a:ext cx="11049000" cy="40005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72" name="Rectangle 72"/>
          <p:cNvSpPr/>
          <p:nvPr/>
        </p:nvSpPr>
        <p:spPr>
          <a:xfrm>
            <a:off x="571500" y="5619750"/>
            <a:ext cx="38100" cy="4000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44868" y="576214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测试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367915" y="5754052"/>
            <a:ext cx="17320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pytest（131 项，8 模块）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702618" y="5762149"/>
            <a:ext cx="4001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/>
                </a:solidFill>
                <a:latin typeface="Consolas"/>
                <a:ea typeface="Microsoft YaHei"/>
                <a:cs typeface="Consolas"/>
              </a:rPr>
              <a:t>9.0.3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607618" y="57621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全面测试覆盖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6210300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grpSp>
        <p:nvGrpSpPr>
          <p:cNvPr id="81" name="Group 81"/>
          <p:cNvGrpSpPr/>
          <p:nvPr/>
        </p:nvGrpSpPr>
        <p:grpSpPr>
          <a:xfrm>
            <a:off x="762000" y="6343325"/>
            <a:ext cx="171450" cy="153049"/>
            <a:chOff x="762000" y="6343325"/>
            <a:chExt cx="171450" cy="153049"/>
          </a:xfrm>
        </p:grpSpPr>
        <p:sp>
          <p:nvSpPr>
            <p:cNvPr id="78" name="Freeform 78"/>
            <p:cNvSpPr/>
            <p:nvPr/>
          </p:nvSpPr>
          <p:spPr>
            <a:xfrm>
              <a:off x="826401" y="6343325"/>
              <a:ext cx="42647" cy="153049"/>
            </a:xfrm>
            <a:custGeom>
              <a:avLst/>
              <a:gdLst/>
              <a:ahLst/>
              <a:cxnLst/>
              <a:rect l="l" t="t" r="r" b="b"/>
              <a:pathLst>
                <a:path w="42647" h="153049">
                  <a:moveTo>
                    <a:pt x="21431" y="0"/>
                  </a:moveTo>
                  <a:lnTo>
                    <a:pt x="0" y="150019"/>
                  </a:lnTo>
                  <a:lnTo>
                    <a:pt x="21216" y="153049"/>
                  </a:lnTo>
                  <a:lnTo>
                    <a:pt x="42647" y="3031"/>
                  </a:lnTo>
                  <a:lnTo>
                    <a:pt x="21431" y="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880791" y="6382345"/>
              <a:ext cx="52659" cy="75009"/>
            </a:xfrm>
            <a:custGeom>
              <a:avLst/>
              <a:gdLst/>
              <a:ahLst/>
              <a:cxnLst/>
              <a:rect l="l" t="t" r="r" b="b"/>
              <a:pathLst>
                <a:path w="52659" h="75009">
                  <a:moveTo>
                    <a:pt x="15154" y="75009"/>
                  </a:moveTo>
                  <a:lnTo>
                    <a:pt x="0" y="59855"/>
                  </a:lnTo>
                  <a:lnTo>
                    <a:pt x="22351" y="37505"/>
                  </a:lnTo>
                  <a:lnTo>
                    <a:pt x="0" y="15154"/>
                  </a:lnTo>
                  <a:lnTo>
                    <a:pt x="15154" y="0"/>
                  </a:lnTo>
                  <a:lnTo>
                    <a:pt x="52659" y="37505"/>
                  </a:lnTo>
                  <a:lnTo>
                    <a:pt x="15154" y="75009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80" name="Freeform 80"/>
            <p:cNvSpPr/>
            <p:nvPr/>
          </p:nvSpPr>
          <p:spPr>
            <a:xfrm>
              <a:off x="762000" y="6382345"/>
              <a:ext cx="52659" cy="75009"/>
            </a:xfrm>
            <a:custGeom>
              <a:avLst/>
              <a:gdLst/>
              <a:ahLst/>
              <a:cxnLst/>
              <a:rect l="l" t="t" r="r" b="b"/>
              <a:pathLst>
                <a:path w="52659" h="75009">
                  <a:moveTo>
                    <a:pt x="30308" y="37505"/>
                  </a:moveTo>
                  <a:lnTo>
                    <a:pt x="52659" y="59855"/>
                  </a:lnTo>
                  <a:lnTo>
                    <a:pt x="37505" y="75009"/>
                  </a:lnTo>
                  <a:lnTo>
                    <a:pt x="0" y="37505"/>
                  </a:lnTo>
                  <a:lnTo>
                    <a:pt x="37505" y="0"/>
                  </a:lnTo>
                  <a:lnTo>
                    <a:pt x="52659" y="15154"/>
                  </a:lnTo>
                  <a:lnTo>
                    <a:pt x="30308" y="37505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</p:grpSp>
      <p:sp>
        <p:nvSpPr>
          <p:cNvPr id="82" name="TextBox 82"/>
          <p:cNvSpPr txBox="1"/>
          <p:nvPr/>
        </p:nvSpPr>
        <p:spPr>
          <a:xfrm>
            <a:off x="987742" y="635269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LLM_MODEL 环境变量统一管理模型切换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226368" y="6352699"/>
            <a:ext cx="63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|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5524500" y="6355556"/>
            <a:ext cx="171450" cy="128588"/>
            <a:chOff x="5524500" y="6355556"/>
            <a:chExt cx="171450" cy="128588"/>
          </a:xfrm>
        </p:grpSpPr>
        <p:sp>
          <p:nvSpPr>
            <p:cNvPr id="84" name="Freeform 84"/>
            <p:cNvSpPr/>
            <p:nvPr/>
          </p:nvSpPr>
          <p:spPr>
            <a:xfrm>
              <a:off x="5524500" y="6355556"/>
              <a:ext cx="171450" cy="53578"/>
            </a:xfrm>
            <a:custGeom>
              <a:avLst/>
              <a:gdLst/>
              <a:ahLst/>
              <a:cxnLst/>
              <a:rect l="l" t="t" r="r" b="b"/>
              <a:pathLst>
                <a:path w="171450" h="53578">
                  <a:moveTo>
                    <a:pt x="171450" y="0"/>
                  </a:moveTo>
                  <a:lnTo>
                    <a:pt x="0" y="0"/>
                  </a:lnTo>
                  <a:lnTo>
                    <a:pt x="0" y="53578"/>
                  </a:lnTo>
                  <a:lnTo>
                    <a:pt x="171450" y="53578"/>
                  </a:lnTo>
                  <a:lnTo>
                    <a:pt x="171450" y="0"/>
                  </a:lnTo>
                  <a:close/>
                  <a:moveTo>
                    <a:pt x="42862" y="26789"/>
                  </a:moveTo>
                  <a:cubicBezTo>
                    <a:pt x="42862" y="32707"/>
                    <a:pt x="38065" y="37505"/>
                    <a:pt x="32147" y="37505"/>
                  </a:cubicBezTo>
                  <a:cubicBezTo>
                    <a:pt x="26229" y="37505"/>
                    <a:pt x="21431" y="32707"/>
                    <a:pt x="21431" y="26789"/>
                  </a:cubicBezTo>
                  <a:cubicBezTo>
                    <a:pt x="21431" y="20871"/>
                    <a:pt x="26229" y="16073"/>
                    <a:pt x="32147" y="16073"/>
                  </a:cubicBezTo>
                  <a:cubicBezTo>
                    <a:pt x="38065" y="16073"/>
                    <a:pt x="42862" y="20871"/>
                    <a:pt x="42862" y="26789"/>
                  </a:cubicBez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5524500" y="6430566"/>
              <a:ext cx="171450" cy="53578"/>
            </a:xfrm>
            <a:custGeom>
              <a:avLst/>
              <a:gdLst/>
              <a:ahLst/>
              <a:cxnLst/>
              <a:rect l="l" t="t" r="r" b="b"/>
              <a:pathLst>
                <a:path w="171450" h="53578">
                  <a:moveTo>
                    <a:pt x="171450" y="0"/>
                  </a:moveTo>
                  <a:lnTo>
                    <a:pt x="0" y="0"/>
                  </a:lnTo>
                  <a:lnTo>
                    <a:pt x="0" y="53578"/>
                  </a:lnTo>
                  <a:lnTo>
                    <a:pt x="171450" y="53578"/>
                  </a:lnTo>
                  <a:lnTo>
                    <a:pt x="171450" y="0"/>
                  </a:lnTo>
                  <a:close/>
                  <a:moveTo>
                    <a:pt x="32147" y="37505"/>
                  </a:moveTo>
                  <a:cubicBezTo>
                    <a:pt x="38065" y="37505"/>
                    <a:pt x="42862" y="32707"/>
                    <a:pt x="42862" y="26789"/>
                  </a:cubicBezTo>
                  <a:cubicBezTo>
                    <a:pt x="42862" y="20871"/>
                    <a:pt x="38065" y="16073"/>
                    <a:pt x="32147" y="16073"/>
                  </a:cubicBezTo>
                  <a:cubicBezTo>
                    <a:pt x="26229" y="16073"/>
                    <a:pt x="21431" y="20871"/>
                    <a:pt x="21431" y="26789"/>
                  </a:cubicBezTo>
                  <a:cubicBezTo>
                    <a:pt x="21431" y="32707"/>
                    <a:pt x="26229" y="37505"/>
                    <a:pt x="32147" y="37505"/>
                  </a:cubicBez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</p:grpSp>
      <p:sp>
        <p:nvSpPr>
          <p:cNvPr id="87" name="TextBox 87"/>
          <p:cNvSpPr txBox="1"/>
          <p:nvPr/>
        </p:nvSpPr>
        <p:spPr>
          <a:xfrm>
            <a:off x="5750242" y="635269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Flask 3.0.0 + SSE 实时推送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988868" y="6352699"/>
            <a:ext cx="7528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| 零框架前端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268980" y="6578441"/>
            <a:ext cx="3619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06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19473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功能特性一览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24489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10 大核心功能 · 从智能协作到优雅降级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71500" y="857250"/>
            <a:ext cx="2143125" cy="1619250"/>
            <a:chOff x="571500" y="857250"/>
            <a:chExt cx="2143125" cy="1619250"/>
          </a:xfrm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214312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1322184" y="979170"/>
              <a:ext cx="346596" cy="4876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1E40AF">
                      <a:alphaMod val="6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grpSp>
          <p:nvGrpSpPr>
            <p:cNvPr id="13" name="Group 13"/>
            <p:cNvGrpSpPr/>
            <p:nvPr/>
          </p:nvGrpSpPr>
          <p:grpSpPr>
            <a:xfrm>
              <a:off x="876300" y="1173956"/>
              <a:ext cx="190500" cy="166688"/>
              <a:chOff x="876300" y="1173956"/>
              <a:chExt cx="190500" cy="1666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12019" y="1173956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59531" y="29766"/>
                    </a:moveTo>
                    <a:cubicBezTo>
                      <a:pt x="59531" y="46205"/>
                      <a:pt x="46205" y="59531"/>
                      <a:pt x="29766" y="59531"/>
                    </a:cubicBezTo>
                    <a:cubicBezTo>
                      <a:pt x="13327" y="59531"/>
                      <a:pt x="0" y="46205"/>
                      <a:pt x="0" y="29766"/>
                    </a:cubicBezTo>
                    <a:cubicBezTo>
                      <a:pt x="0" y="13327"/>
                      <a:pt x="13327" y="0"/>
                      <a:pt x="29766" y="0"/>
                    </a:cubicBezTo>
                    <a:cubicBezTo>
                      <a:pt x="46205" y="0"/>
                      <a:pt x="59531" y="13327"/>
                      <a:pt x="59531" y="29766"/>
                    </a:cubicBez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6300" y="1257300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35719" y="0"/>
                    </a:moveTo>
                    <a:cubicBezTo>
                      <a:pt x="15992" y="0"/>
                      <a:pt x="0" y="15992"/>
                      <a:pt x="0" y="35719"/>
                    </a:cubicBezTo>
                    <a:lnTo>
                      <a:pt x="0" y="83344"/>
                    </a:lnTo>
                    <a:lnTo>
                      <a:pt x="95250" y="83344"/>
                    </a:lnTo>
                    <a:lnTo>
                      <a:pt x="95250" y="0"/>
                    </a:lnTo>
                    <a:lnTo>
                      <a:pt x="35719" y="0"/>
                    </a:ln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95362" y="1257300"/>
                <a:ext cx="71438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83344">
                    <a:moveTo>
                      <a:pt x="35719" y="0"/>
                    </a:moveTo>
                    <a:lnTo>
                      <a:pt x="0" y="0"/>
                    </a:lnTo>
                    <a:lnTo>
                      <a:pt x="0" y="83344"/>
                    </a:lnTo>
                    <a:lnTo>
                      <a:pt x="71438" y="83344"/>
                    </a:lnTo>
                    <a:lnTo>
                      <a:pt x="71438" y="35719"/>
                    </a:lnTo>
                    <a:cubicBezTo>
                      <a:pt x="71438" y="15992"/>
                      <a:pt x="55446" y="0"/>
                      <a:pt x="35719" y="0"/>
                    </a:cubicBez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5362" y="11858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lose/>
                  </a:path>
                </a:pathLst>
              </a:custGeom>
              <a:solidFill>
                <a:srgbClr val="1E40AF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47712" y="1516856"/>
              <a:ext cx="973693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多智能体协作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1731645"/>
              <a:ext cx="1181005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路由→检索→验证→分析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22" y="1911191"/>
              <a:ext cx="670036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4 Agent 协同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522" y="2158841"/>
              <a:ext cx="1060585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CREWAI SEQUENTIAL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857500" y="857250"/>
            <a:ext cx="2143125" cy="1619250"/>
            <a:chOff x="2857500" y="857250"/>
            <a:chExt cx="2143125" cy="1619250"/>
          </a:xfrm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857500" y="857250"/>
              <a:ext cx="214312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3524174" y="979170"/>
              <a:ext cx="430606" cy="4876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10B981">
                      <a:alphaMod val="6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048000" y="10477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CFDF5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grpSp>
          <p:nvGrpSpPr>
            <p:cNvPr id="24" name="Group 24"/>
            <p:cNvGrpSpPr/>
            <p:nvPr/>
          </p:nvGrpSpPr>
          <p:grpSpPr>
            <a:xfrm>
              <a:off x="3186112" y="1162050"/>
              <a:ext cx="142875" cy="190500"/>
              <a:chOff x="3186112" y="1162050"/>
              <a:chExt cx="142875" cy="190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186112" y="116205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59531" y="0"/>
                    </a:moveTo>
                    <a:lnTo>
                      <a:pt x="0" y="0"/>
                    </a:lnTo>
                    <a:lnTo>
                      <a:pt x="0" y="190500"/>
                    </a:lnTo>
                    <a:lnTo>
                      <a:pt x="142875" y="190500"/>
                    </a:lnTo>
                    <a:lnTo>
                      <a:pt x="142875" y="83344"/>
                    </a:lnTo>
                    <a:lnTo>
                      <a:pt x="59531" y="83344"/>
                    </a:lnTo>
                    <a:lnTo>
                      <a:pt x="59531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269456" y="1162050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59531"/>
                    </a:lnTo>
                    <a:lnTo>
                      <a:pt x="59531" y="595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033712" y="1516856"/>
              <a:ext cx="808297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多模态 RAG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36570" y="1731645"/>
              <a:ext cx="1018984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文本 + 图片 + 表格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37522" y="1911191"/>
              <a:ext cx="791051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统一向量化检索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37522" y="2158841"/>
              <a:ext cx="933519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BLIP + CHROMADB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143500" y="857250"/>
            <a:ext cx="2143125" cy="1619250"/>
            <a:chOff x="5143500" y="857250"/>
            <a:chExt cx="2143125" cy="1619250"/>
          </a:xfrm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5143500" y="857250"/>
              <a:ext cx="214312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>
              <a:off x="5810174" y="979170"/>
              <a:ext cx="430606" cy="4876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0284C7">
                      <a:alphaMod val="6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0" y="10477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0F2FE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grpSp>
          <p:nvGrpSpPr>
            <p:cNvPr id="37" name="Group 37"/>
            <p:cNvGrpSpPr/>
            <p:nvPr/>
          </p:nvGrpSpPr>
          <p:grpSpPr>
            <a:xfrm>
              <a:off x="5449037" y="1162050"/>
              <a:ext cx="189026" cy="190500"/>
              <a:chOff x="5449037" y="1162050"/>
              <a:chExt cx="189026" cy="1905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449037" y="1201436"/>
                <a:ext cx="189026" cy="43958"/>
              </a:xfrm>
              <a:custGeom>
                <a:avLst/>
                <a:gdLst/>
                <a:ahLst/>
                <a:cxnLst/>
                <a:rect l="l" t="t" r="r" b="b"/>
                <a:pathLst>
                  <a:path w="189026" h="43958">
                    <a:moveTo>
                      <a:pt x="17357" y="0"/>
                    </a:moveTo>
                    <a:cubicBezTo>
                      <a:pt x="8174" y="12661"/>
                      <a:pt x="2031" y="27671"/>
                      <a:pt x="0" y="43958"/>
                    </a:cubicBezTo>
                    <a:lnTo>
                      <a:pt x="189026" y="43958"/>
                    </a:lnTo>
                    <a:cubicBezTo>
                      <a:pt x="186995" y="27671"/>
                      <a:pt x="180852" y="12661"/>
                      <a:pt x="171669" y="0"/>
                    </a:cubicBezTo>
                    <a:cubicBezTo>
                      <a:pt x="171174" y="277"/>
                      <a:pt x="170671" y="555"/>
                      <a:pt x="170163" y="832"/>
                    </a:cubicBezTo>
                    <a:cubicBezTo>
                      <a:pt x="152478" y="10479"/>
                      <a:pt x="126714" y="20145"/>
                      <a:pt x="94513" y="20145"/>
                    </a:cubicBezTo>
                    <a:cubicBezTo>
                      <a:pt x="62312" y="20145"/>
                      <a:pt x="36547" y="10479"/>
                      <a:pt x="18862" y="832"/>
                    </a:cubicBezTo>
                    <a:cubicBezTo>
                      <a:pt x="18354" y="555"/>
                      <a:pt x="17852" y="277"/>
                      <a:pt x="17357" y="0"/>
                    </a:cubicBezTo>
                    <a:close/>
                  </a:path>
                </a:pathLst>
              </a:custGeom>
              <a:solidFill>
                <a:srgbClr val="0284C7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483349" y="1162050"/>
                <a:ext cx="120401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20401" h="35719">
                    <a:moveTo>
                      <a:pt x="120401" y="21433"/>
                    </a:moveTo>
                    <a:cubicBezTo>
                      <a:pt x="105580" y="28878"/>
                      <a:pt x="85174" y="35719"/>
                      <a:pt x="60201" y="35719"/>
                    </a:cubicBezTo>
                    <a:cubicBezTo>
                      <a:pt x="35227" y="35719"/>
                      <a:pt x="14821" y="28878"/>
                      <a:pt x="0" y="21433"/>
                    </a:cubicBezTo>
                    <a:cubicBezTo>
                      <a:pt x="16408" y="8035"/>
                      <a:pt x="37366" y="0"/>
                      <a:pt x="60201" y="0"/>
                    </a:cubicBezTo>
                    <a:cubicBezTo>
                      <a:pt x="83035" y="0"/>
                      <a:pt x="103993" y="8035"/>
                      <a:pt x="120401" y="21433"/>
                    </a:cubicBezTo>
                    <a:close/>
                  </a:path>
                </a:pathLst>
              </a:custGeom>
              <a:solidFill>
                <a:srgbClr val="0284C7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449037" y="1269206"/>
                <a:ext cx="189026" cy="43958"/>
              </a:xfrm>
              <a:custGeom>
                <a:avLst/>
                <a:gdLst/>
                <a:ahLst/>
                <a:cxnLst/>
                <a:rect l="l" t="t" r="r" b="b"/>
                <a:pathLst>
                  <a:path w="189026" h="43958">
                    <a:moveTo>
                      <a:pt x="0" y="0"/>
                    </a:moveTo>
                    <a:cubicBezTo>
                      <a:pt x="2031" y="16287"/>
                      <a:pt x="8174" y="31297"/>
                      <a:pt x="17357" y="43958"/>
                    </a:cubicBezTo>
                    <a:cubicBezTo>
                      <a:pt x="17852" y="43680"/>
                      <a:pt x="18354" y="43403"/>
                      <a:pt x="18862" y="43126"/>
                    </a:cubicBezTo>
                    <a:cubicBezTo>
                      <a:pt x="36548" y="33479"/>
                      <a:pt x="62313" y="23812"/>
                      <a:pt x="94513" y="23812"/>
                    </a:cubicBezTo>
                    <a:cubicBezTo>
                      <a:pt x="126714" y="23812"/>
                      <a:pt x="152479" y="33479"/>
                      <a:pt x="170163" y="43126"/>
                    </a:cubicBezTo>
                    <a:cubicBezTo>
                      <a:pt x="170673" y="43403"/>
                      <a:pt x="171174" y="43680"/>
                      <a:pt x="171669" y="43958"/>
                    </a:cubicBezTo>
                    <a:cubicBezTo>
                      <a:pt x="180852" y="31297"/>
                      <a:pt x="186995" y="16287"/>
                      <a:pt x="18902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284C7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483349" y="1316831"/>
                <a:ext cx="120401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20401" h="35719">
                    <a:moveTo>
                      <a:pt x="60201" y="35719"/>
                    </a:moveTo>
                    <a:cubicBezTo>
                      <a:pt x="37366" y="35719"/>
                      <a:pt x="16408" y="27683"/>
                      <a:pt x="0" y="14286"/>
                    </a:cubicBezTo>
                    <a:cubicBezTo>
                      <a:pt x="14821" y="6840"/>
                      <a:pt x="35227" y="0"/>
                      <a:pt x="60201" y="0"/>
                    </a:cubicBezTo>
                    <a:cubicBezTo>
                      <a:pt x="85174" y="0"/>
                      <a:pt x="105580" y="6840"/>
                      <a:pt x="120401" y="14286"/>
                    </a:cubicBezTo>
                    <a:cubicBezTo>
                      <a:pt x="103993" y="27683"/>
                      <a:pt x="83035" y="35719"/>
                      <a:pt x="60201" y="35719"/>
                    </a:cubicBezTo>
                    <a:close/>
                  </a:path>
                </a:pathLst>
              </a:custGeom>
              <a:solidFill>
                <a:srgbClr val="0284C7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5319712" y="1516856"/>
              <a:ext cx="658654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联网搜索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22570" y="1731645"/>
              <a:ext cx="1078992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Tavily API · 1h 缓存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23522" y="1911191"/>
              <a:ext cx="681038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手动开关控制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23522" y="2158841"/>
              <a:ext cx="650509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284C7"/>
                  </a:solidFill>
                  <a:latin typeface="Arial"/>
                  <a:ea typeface="Microsoft YaHei"/>
                  <a:cs typeface="Arial"/>
                </a:rPr>
                <a:t>WEB SEARCH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429500" y="857250"/>
            <a:ext cx="2143125" cy="1619250"/>
            <a:chOff x="7429500" y="857250"/>
            <a:chExt cx="2143125" cy="1619250"/>
          </a:xfrm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grpSpPr>
        <p:sp>
          <p:nvSpPr>
            <p:cNvPr id="43" name="Rectangle 43"/>
            <p:cNvSpPr/>
            <p:nvPr/>
          </p:nvSpPr>
          <p:spPr>
            <a:xfrm>
              <a:off x="7429500" y="857250"/>
              <a:ext cx="214312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44" name="TextBox 44"/>
            <p:cNvSpPr txBox="1"/>
            <p:nvPr/>
          </p:nvSpPr>
          <p:spPr>
            <a:xfrm>
              <a:off x="8096174" y="979170"/>
              <a:ext cx="430606" cy="4876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6366F1">
                      <a:alphaMod val="6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0" y="10477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grpSp>
          <p:nvGrpSpPr>
            <p:cNvPr id="49" name="Group 49"/>
            <p:cNvGrpSpPr/>
            <p:nvPr/>
          </p:nvGrpSpPr>
          <p:grpSpPr>
            <a:xfrm>
              <a:off x="7758112" y="1162050"/>
              <a:ext cx="142875" cy="190500"/>
              <a:chOff x="7758112" y="1162050"/>
              <a:chExt cx="142875" cy="190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758112" y="1238250"/>
                <a:ext cx="142875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4769">
                    <a:moveTo>
                      <a:pt x="132601" y="6074"/>
                    </a:moveTo>
                    <a:cubicBezTo>
                      <a:pt x="135950" y="4399"/>
                      <a:pt x="139450" y="2379"/>
                      <a:pt x="142875" y="0"/>
                    </a:cubicBezTo>
                    <a:lnTo>
                      <a:pt x="142875" y="19050"/>
                    </a:lnTo>
                    <a:cubicBezTo>
                      <a:pt x="142875" y="38777"/>
                      <a:pt x="110891" y="54769"/>
                      <a:pt x="71438" y="54769"/>
                    </a:cubicBezTo>
                    <a:cubicBezTo>
                      <a:pt x="31984" y="54769"/>
                      <a:pt x="0" y="38777"/>
                      <a:pt x="0" y="19050"/>
                    </a:cubicBezTo>
                    <a:lnTo>
                      <a:pt x="0" y="0"/>
                    </a:lnTo>
                    <a:cubicBezTo>
                      <a:pt x="3426" y="2379"/>
                      <a:pt x="6924" y="4399"/>
                      <a:pt x="10274" y="6074"/>
                    </a:cubicBezTo>
                    <a:cubicBezTo>
                      <a:pt x="27158" y="14516"/>
                      <a:pt x="48815" y="19050"/>
                      <a:pt x="71438" y="19050"/>
                    </a:cubicBezTo>
                    <a:cubicBezTo>
                      <a:pt x="94060" y="19050"/>
                      <a:pt x="115717" y="14516"/>
                      <a:pt x="132601" y="6074"/>
                    </a:cubicBez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58112" y="1297781"/>
                <a:ext cx="142875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4769">
                    <a:moveTo>
                      <a:pt x="0" y="0"/>
                    </a:moveTo>
                    <a:lnTo>
                      <a:pt x="0" y="19050"/>
                    </a:lnTo>
                    <a:cubicBezTo>
                      <a:pt x="0" y="38777"/>
                      <a:pt x="31984" y="54769"/>
                      <a:pt x="71438" y="54769"/>
                    </a:cubicBezTo>
                    <a:cubicBezTo>
                      <a:pt x="110891" y="54769"/>
                      <a:pt x="142875" y="38777"/>
                      <a:pt x="142875" y="19050"/>
                    </a:cubicBezTo>
                    <a:lnTo>
                      <a:pt x="142875" y="0"/>
                    </a:lnTo>
                    <a:cubicBezTo>
                      <a:pt x="139450" y="2379"/>
                      <a:pt x="135950" y="4399"/>
                      <a:pt x="132601" y="6075"/>
                    </a:cubicBezTo>
                    <a:cubicBezTo>
                      <a:pt x="115717" y="14516"/>
                      <a:pt x="94060" y="19050"/>
                      <a:pt x="71438" y="19050"/>
                    </a:cubicBezTo>
                    <a:cubicBezTo>
                      <a:pt x="48815" y="19050"/>
                      <a:pt x="27158" y="14516"/>
                      <a:pt x="10274" y="6075"/>
                    </a:cubicBezTo>
                    <a:cubicBezTo>
                      <a:pt x="6924" y="4399"/>
                      <a:pt x="3426" y="2379"/>
                      <a:pt x="0" y="0"/>
                    </a:cubicBez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58112" y="1162050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71438" y="0"/>
                    </a:moveTo>
                    <a:cubicBezTo>
                      <a:pt x="110891" y="0"/>
                      <a:pt x="142875" y="15992"/>
                      <a:pt x="142875" y="35719"/>
                    </a:cubicBezTo>
                    <a:cubicBezTo>
                      <a:pt x="142875" y="55446"/>
                      <a:pt x="110891" y="71438"/>
                      <a:pt x="71438" y="71438"/>
                    </a:cubicBezTo>
                    <a:cubicBezTo>
                      <a:pt x="31984" y="71438"/>
                      <a:pt x="0" y="55446"/>
                      <a:pt x="0" y="35719"/>
                    </a:cubicBezTo>
                    <a:cubicBezTo>
                      <a:pt x="0" y="15992"/>
                      <a:pt x="31984" y="0"/>
                      <a:pt x="71438" y="0"/>
                    </a:cubicBez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7605712" y="1516856"/>
              <a:ext cx="658654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四级缓存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08570" y="1731645"/>
              <a:ext cx="1018984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答案 + 检索 + 搜索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09522" y="1911191"/>
              <a:ext cx="923068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+ web→RAG 持久化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09522" y="2158841"/>
              <a:ext cx="875762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30D ANSWER TTL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715500" y="857250"/>
            <a:ext cx="1905000" cy="1619250"/>
            <a:chOff x="9715500" y="857250"/>
            <a:chExt cx="1905000" cy="1619250"/>
          </a:xfrm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grpSpPr>
        <p:sp>
          <p:nvSpPr>
            <p:cNvPr id="55" name="Rectangle 55"/>
            <p:cNvSpPr/>
            <p:nvPr/>
          </p:nvSpPr>
          <p:spPr>
            <a:xfrm>
              <a:off x="9715500" y="857250"/>
              <a:ext cx="190500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56" name="TextBox 56"/>
            <p:cNvSpPr txBox="1"/>
            <p:nvPr/>
          </p:nvSpPr>
          <p:spPr>
            <a:xfrm>
              <a:off x="10191674" y="979170"/>
              <a:ext cx="430606" cy="4876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F59E0B">
                      <a:alphaMod val="6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906000" y="10477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BEB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58" name="Freeform 58"/>
            <p:cNvSpPr/>
            <p:nvPr/>
          </p:nvSpPr>
          <p:spPr>
            <a:xfrm>
              <a:off x="10044112" y="1162050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83344" y="83344"/>
                  </a:moveTo>
                  <a:lnTo>
                    <a:pt x="95250" y="0"/>
                  </a:lnTo>
                  <a:lnTo>
                    <a:pt x="71438" y="0"/>
                  </a:lnTo>
                  <a:lnTo>
                    <a:pt x="0" y="83344"/>
                  </a:lnTo>
                  <a:lnTo>
                    <a:pt x="0" y="107156"/>
                  </a:lnTo>
                  <a:lnTo>
                    <a:pt x="59531" y="107156"/>
                  </a:lnTo>
                  <a:lnTo>
                    <a:pt x="47625" y="190500"/>
                  </a:lnTo>
                  <a:lnTo>
                    <a:pt x="71438" y="190500"/>
                  </a:lnTo>
                  <a:lnTo>
                    <a:pt x="142875" y="107156"/>
                  </a:lnTo>
                  <a:lnTo>
                    <a:pt x="142875" y="83344"/>
                  </a:lnTo>
                  <a:lnTo>
                    <a:pt x="83344" y="83344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59" name="TextBox 59"/>
            <p:cNvSpPr txBox="1"/>
            <p:nvPr/>
          </p:nvSpPr>
          <p:spPr>
            <a:xfrm>
              <a:off x="9891712" y="1516856"/>
              <a:ext cx="965817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SSE 实时进度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94570" y="1731645"/>
              <a:ext cx="982980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4 步进度 + 计时器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895522" y="1911191"/>
              <a:ext cx="461010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轮播提示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95522" y="2158841"/>
              <a:ext cx="586976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REAL-TIME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71500" y="2647950"/>
            <a:ext cx="2143125" cy="1619250"/>
            <a:chOff x="571500" y="2647950"/>
            <a:chExt cx="2143125" cy="1619250"/>
          </a:xfrm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grpSpPr>
        <p:sp>
          <p:nvSpPr>
            <p:cNvPr id="64" name="Rectangle 64"/>
            <p:cNvSpPr/>
            <p:nvPr/>
          </p:nvSpPr>
          <p:spPr>
            <a:xfrm>
              <a:off x="571500" y="2647950"/>
              <a:ext cx="214312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65" name="TextBox 65"/>
            <p:cNvSpPr txBox="1"/>
            <p:nvPr/>
          </p:nvSpPr>
          <p:spPr>
            <a:xfrm>
              <a:off x="1238174" y="2769870"/>
              <a:ext cx="430606" cy="4876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10B981">
                      <a:alphaMod val="6000"/>
                    </a:srgbClr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62000" y="28384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CFDF5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67" name="Freeform 67"/>
            <p:cNvSpPr/>
            <p:nvPr/>
          </p:nvSpPr>
          <p:spPr>
            <a:xfrm>
              <a:off x="876300" y="2964656"/>
              <a:ext cx="190500" cy="154781"/>
            </a:xfrm>
            <a:custGeom>
              <a:avLst/>
              <a:gdLst/>
              <a:ahLst/>
              <a:cxnLst/>
              <a:rect l="l" t="t" r="r" b="b"/>
              <a:pathLst>
                <a:path w="190500" h="154781">
                  <a:moveTo>
                    <a:pt x="0" y="0"/>
                  </a:moveTo>
                  <a:lnTo>
                    <a:pt x="71438" y="0"/>
                  </a:lnTo>
                  <a:lnTo>
                    <a:pt x="107156" y="35719"/>
                  </a:lnTo>
                  <a:lnTo>
                    <a:pt x="190500" y="35719"/>
                  </a:lnTo>
                  <a:lnTo>
                    <a:pt x="190500" y="154781"/>
                  </a:lnTo>
                  <a:lnTo>
                    <a:pt x="0" y="154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68" name="TextBox 68"/>
            <p:cNvSpPr txBox="1"/>
            <p:nvPr/>
          </p:nvSpPr>
          <p:spPr>
            <a:xfrm>
              <a:off x="747712" y="3307556"/>
              <a:ext cx="658654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文件管理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0570" y="3522345"/>
              <a:ext cx="1114997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上传/删除/重建索引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1522" y="3701891"/>
              <a:ext cx="857060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SHA256 增量索引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1522" y="3949541"/>
              <a:ext cx="916192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O(1) SINGLE FILE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857500" y="2647950"/>
            <a:ext cx="2143125" cy="1619250"/>
            <a:chOff x="2857500" y="2647950"/>
            <a:chExt cx="2143125" cy="1619250"/>
          </a:xfrm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grpSpPr>
        <p:sp>
          <p:nvSpPr>
            <p:cNvPr id="73" name="Rectangle 73"/>
            <p:cNvSpPr/>
            <p:nvPr/>
          </p:nvSpPr>
          <p:spPr>
            <a:xfrm>
              <a:off x="2857500" y="2647950"/>
              <a:ext cx="214312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74" name="TextBox 74"/>
            <p:cNvSpPr txBox="1"/>
            <p:nvPr/>
          </p:nvSpPr>
          <p:spPr>
            <a:xfrm>
              <a:off x="3524174" y="2769870"/>
              <a:ext cx="430606" cy="4876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1E40AF">
                      <a:alphaMod val="6000"/>
                    </a:srgbClr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3048000" y="28384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76" name="Freeform 76"/>
            <p:cNvSpPr/>
            <p:nvPr/>
          </p:nvSpPr>
          <p:spPr>
            <a:xfrm>
              <a:off x="3162300" y="2952750"/>
              <a:ext cx="187013" cy="187013"/>
            </a:xfrm>
            <a:custGeom>
              <a:avLst/>
              <a:gdLst/>
              <a:ahLst/>
              <a:cxnLst/>
              <a:rect l="l" t="t" r="r" b="b"/>
              <a:pathLst>
                <a:path w="187013" h="187013">
                  <a:moveTo>
                    <a:pt x="133257" y="150095"/>
                  </a:moveTo>
                  <a:cubicBezTo>
                    <a:pt x="119343" y="160515"/>
                    <a:pt x="102064" y="166688"/>
                    <a:pt x="83344" y="166688"/>
                  </a:cubicBezTo>
                  <a:cubicBezTo>
                    <a:pt x="37314" y="166688"/>
                    <a:pt x="0" y="129373"/>
                    <a:pt x="0" y="83344"/>
                  </a:cubicBezTo>
                  <a:cubicBezTo>
                    <a:pt x="0" y="37314"/>
                    <a:pt x="37314" y="0"/>
                    <a:pt x="83344" y="0"/>
                  </a:cubicBezTo>
                  <a:cubicBezTo>
                    <a:pt x="129373" y="0"/>
                    <a:pt x="166688" y="37314"/>
                    <a:pt x="166688" y="83344"/>
                  </a:cubicBezTo>
                  <a:cubicBezTo>
                    <a:pt x="166688" y="102064"/>
                    <a:pt x="160515" y="119343"/>
                    <a:pt x="150095" y="133257"/>
                  </a:cubicBezTo>
                  <a:lnTo>
                    <a:pt x="187013" y="170175"/>
                  </a:lnTo>
                  <a:lnTo>
                    <a:pt x="170175" y="187013"/>
                  </a:lnTo>
                  <a:lnTo>
                    <a:pt x="133257" y="150095"/>
                  </a:lnTo>
                  <a:close/>
                  <a:moveTo>
                    <a:pt x="66506" y="100182"/>
                  </a:moveTo>
                  <a:lnTo>
                    <a:pt x="49668" y="117020"/>
                  </a:lnTo>
                  <a:cubicBezTo>
                    <a:pt x="31069" y="98421"/>
                    <a:pt x="31069" y="68267"/>
                    <a:pt x="49668" y="49668"/>
                  </a:cubicBezTo>
                  <a:cubicBezTo>
                    <a:pt x="68267" y="31069"/>
                    <a:pt x="98421" y="31069"/>
                    <a:pt x="117020" y="49668"/>
                  </a:cubicBezTo>
                  <a:lnTo>
                    <a:pt x="100182" y="66506"/>
                  </a:lnTo>
                  <a:cubicBezTo>
                    <a:pt x="90882" y="57206"/>
                    <a:pt x="75805" y="57206"/>
                    <a:pt x="66506" y="66506"/>
                  </a:cubicBezTo>
                  <a:cubicBezTo>
                    <a:pt x="57206" y="75805"/>
                    <a:pt x="57206" y="90882"/>
                    <a:pt x="66506" y="100182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77" name="TextBox 77"/>
            <p:cNvSpPr txBox="1"/>
            <p:nvPr/>
          </p:nvSpPr>
          <p:spPr>
            <a:xfrm>
              <a:off x="3033712" y="3307556"/>
              <a:ext cx="658654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历史搜索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036570" y="3522345"/>
              <a:ext cx="1217009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CLI find + Web 侧边栏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037522" y="3701891"/>
              <a:ext cx="791051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跨会话全文检索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037522" y="3949541"/>
              <a:ext cx="806453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CLICK TO JUMP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143500" y="2647950"/>
            <a:ext cx="2143125" cy="1619250"/>
            <a:chOff x="5143500" y="2647950"/>
            <a:chExt cx="2143125" cy="1619250"/>
          </a:xfrm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grpSpPr>
        <p:sp>
          <p:nvSpPr>
            <p:cNvPr id="82" name="Rectangle 82"/>
            <p:cNvSpPr/>
            <p:nvPr/>
          </p:nvSpPr>
          <p:spPr>
            <a:xfrm>
              <a:off x="5143500" y="2647950"/>
              <a:ext cx="214312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83" name="TextBox 83"/>
            <p:cNvSpPr txBox="1"/>
            <p:nvPr/>
          </p:nvSpPr>
          <p:spPr>
            <a:xfrm>
              <a:off x="5810174" y="2769870"/>
              <a:ext cx="430606" cy="4876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6366F1">
                      <a:alphaMod val="6000"/>
                    </a:srgbClr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334000" y="28384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grpSp>
          <p:nvGrpSpPr>
            <p:cNvPr id="89" name="Group 89"/>
            <p:cNvGrpSpPr/>
            <p:nvPr/>
          </p:nvGrpSpPr>
          <p:grpSpPr>
            <a:xfrm>
              <a:off x="5448300" y="2964656"/>
              <a:ext cx="190500" cy="166688"/>
              <a:chOff x="5448300" y="2964656"/>
              <a:chExt cx="190500" cy="16668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5484019" y="2964656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59531" y="29766"/>
                    </a:moveTo>
                    <a:cubicBezTo>
                      <a:pt x="59531" y="46205"/>
                      <a:pt x="46205" y="59531"/>
                      <a:pt x="29766" y="59531"/>
                    </a:cubicBezTo>
                    <a:cubicBezTo>
                      <a:pt x="13327" y="59531"/>
                      <a:pt x="0" y="46205"/>
                      <a:pt x="0" y="29766"/>
                    </a:cubicBezTo>
                    <a:cubicBezTo>
                      <a:pt x="0" y="13327"/>
                      <a:pt x="13327" y="0"/>
                      <a:pt x="29766" y="0"/>
                    </a:cubicBezTo>
                    <a:cubicBezTo>
                      <a:pt x="46205" y="0"/>
                      <a:pt x="59531" y="13327"/>
                      <a:pt x="59531" y="29766"/>
                    </a:cubicBez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86" name="Freeform 86"/>
              <p:cNvSpPr/>
              <p:nvPr/>
            </p:nvSpPr>
            <p:spPr>
              <a:xfrm>
                <a:off x="5448300" y="3048000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35719" y="0"/>
                    </a:moveTo>
                    <a:cubicBezTo>
                      <a:pt x="15992" y="0"/>
                      <a:pt x="0" y="15992"/>
                      <a:pt x="0" y="35719"/>
                    </a:cubicBezTo>
                    <a:lnTo>
                      <a:pt x="0" y="83344"/>
                    </a:lnTo>
                    <a:lnTo>
                      <a:pt x="95250" y="83344"/>
                    </a:lnTo>
                    <a:lnTo>
                      <a:pt x="95250" y="0"/>
                    </a:lnTo>
                    <a:lnTo>
                      <a:pt x="35719" y="0"/>
                    </a:ln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87" name="Freeform 87"/>
              <p:cNvSpPr/>
              <p:nvPr/>
            </p:nvSpPr>
            <p:spPr>
              <a:xfrm>
                <a:off x="5567362" y="3048000"/>
                <a:ext cx="71438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83344">
                    <a:moveTo>
                      <a:pt x="35719" y="0"/>
                    </a:moveTo>
                    <a:lnTo>
                      <a:pt x="0" y="0"/>
                    </a:lnTo>
                    <a:lnTo>
                      <a:pt x="0" y="83344"/>
                    </a:lnTo>
                    <a:lnTo>
                      <a:pt x="71438" y="83344"/>
                    </a:lnTo>
                    <a:lnTo>
                      <a:pt x="71438" y="35719"/>
                    </a:lnTo>
                    <a:cubicBezTo>
                      <a:pt x="71438" y="15992"/>
                      <a:pt x="55446" y="0"/>
                      <a:pt x="35719" y="0"/>
                    </a:cubicBez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88" name="Freeform 88"/>
              <p:cNvSpPr/>
              <p:nvPr/>
            </p:nvSpPr>
            <p:spPr>
              <a:xfrm>
                <a:off x="5567362" y="29765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5319712" y="3307556"/>
              <a:ext cx="816173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多会话支持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322570" y="3522345"/>
              <a:ext cx="862965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持久化对话历史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323522" y="3701891"/>
              <a:ext cx="802053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切换/新建/删除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323522" y="3949541"/>
              <a:ext cx="910416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SESSION PERSIST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7429500" y="2647950"/>
            <a:ext cx="2143125" cy="1619250"/>
            <a:chOff x="7429500" y="2647950"/>
            <a:chExt cx="2143125" cy="1619250"/>
          </a:xfrm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grpSpPr>
        <p:sp>
          <p:nvSpPr>
            <p:cNvPr id="95" name="Rectangle 95"/>
            <p:cNvSpPr/>
            <p:nvPr/>
          </p:nvSpPr>
          <p:spPr>
            <a:xfrm>
              <a:off x="7429500" y="2647950"/>
              <a:ext cx="214312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96" name="TextBox 96"/>
            <p:cNvSpPr txBox="1"/>
            <p:nvPr/>
          </p:nvSpPr>
          <p:spPr>
            <a:xfrm>
              <a:off x="8096174" y="2769870"/>
              <a:ext cx="430606" cy="4876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F59E0B">
                      <a:alphaMod val="6000"/>
                    </a:srgbClr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620000" y="28384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BEB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grpSp>
          <p:nvGrpSpPr>
            <p:cNvPr id="102" name="Group 102"/>
            <p:cNvGrpSpPr/>
            <p:nvPr/>
          </p:nvGrpSpPr>
          <p:grpSpPr>
            <a:xfrm>
              <a:off x="7735037" y="2952750"/>
              <a:ext cx="189026" cy="190500"/>
              <a:chOff x="7735037" y="2952750"/>
              <a:chExt cx="189026" cy="1905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7735037" y="2992136"/>
                <a:ext cx="189026" cy="43958"/>
              </a:xfrm>
              <a:custGeom>
                <a:avLst/>
                <a:gdLst/>
                <a:ahLst/>
                <a:cxnLst/>
                <a:rect l="l" t="t" r="r" b="b"/>
                <a:pathLst>
                  <a:path w="189026" h="43958">
                    <a:moveTo>
                      <a:pt x="17357" y="0"/>
                    </a:moveTo>
                    <a:cubicBezTo>
                      <a:pt x="8174" y="12661"/>
                      <a:pt x="2031" y="27671"/>
                      <a:pt x="0" y="43958"/>
                    </a:cubicBezTo>
                    <a:lnTo>
                      <a:pt x="189026" y="43958"/>
                    </a:lnTo>
                    <a:cubicBezTo>
                      <a:pt x="186995" y="27671"/>
                      <a:pt x="180852" y="12661"/>
                      <a:pt x="171669" y="0"/>
                    </a:cubicBezTo>
                    <a:cubicBezTo>
                      <a:pt x="171174" y="277"/>
                      <a:pt x="170671" y="555"/>
                      <a:pt x="170163" y="832"/>
                    </a:cubicBezTo>
                    <a:cubicBezTo>
                      <a:pt x="152478" y="10479"/>
                      <a:pt x="126714" y="20145"/>
                      <a:pt x="94513" y="20145"/>
                    </a:cubicBezTo>
                    <a:cubicBezTo>
                      <a:pt x="62312" y="20145"/>
                      <a:pt x="36547" y="10479"/>
                      <a:pt x="18862" y="832"/>
                    </a:cubicBezTo>
                    <a:cubicBezTo>
                      <a:pt x="18354" y="555"/>
                      <a:pt x="17852" y="277"/>
                      <a:pt x="17357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99" name="Freeform 99"/>
              <p:cNvSpPr/>
              <p:nvPr/>
            </p:nvSpPr>
            <p:spPr>
              <a:xfrm>
                <a:off x="7769349" y="2952750"/>
                <a:ext cx="120401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20401" h="35719">
                    <a:moveTo>
                      <a:pt x="120401" y="21433"/>
                    </a:moveTo>
                    <a:cubicBezTo>
                      <a:pt x="105580" y="28878"/>
                      <a:pt x="85174" y="35719"/>
                      <a:pt x="60201" y="35719"/>
                    </a:cubicBezTo>
                    <a:cubicBezTo>
                      <a:pt x="35227" y="35719"/>
                      <a:pt x="14821" y="28878"/>
                      <a:pt x="0" y="21433"/>
                    </a:cubicBezTo>
                    <a:cubicBezTo>
                      <a:pt x="16408" y="8035"/>
                      <a:pt x="37366" y="0"/>
                      <a:pt x="60201" y="0"/>
                    </a:cubicBezTo>
                    <a:cubicBezTo>
                      <a:pt x="83035" y="0"/>
                      <a:pt x="103993" y="8035"/>
                      <a:pt x="120401" y="21433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735037" y="3059906"/>
                <a:ext cx="189026" cy="43958"/>
              </a:xfrm>
              <a:custGeom>
                <a:avLst/>
                <a:gdLst/>
                <a:ahLst/>
                <a:cxnLst/>
                <a:rect l="l" t="t" r="r" b="b"/>
                <a:pathLst>
                  <a:path w="189026" h="43958">
                    <a:moveTo>
                      <a:pt x="0" y="0"/>
                    </a:moveTo>
                    <a:cubicBezTo>
                      <a:pt x="2031" y="16287"/>
                      <a:pt x="8174" y="31297"/>
                      <a:pt x="17357" y="43958"/>
                    </a:cubicBezTo>
                    <a:cubicBezTo>
                      <a:pt x="17852" y="43680"/>
                      <a:pt x="18354" y="43403"/>
                      <a:pt x="18862" y="43126"/>
                    </a:cubicBezTo>
                    <a:cubicBezTo>
                      <a:pt x="36548" y="33479"/>
                      <a:pt x="62313" y="23812"/>
                      <a:pt x="94513" y="23812"/>
                    </a:cubicBezTo>
                    <a:cubicBezTo>
                      <a:pt x="126714" y="23812"/>
                      <a:pt x="152479" y="33479"/>
                      <a:pt x="170163" y="43126"/>
                    </a:cubicBezTo>
                    <a:cubicBezTo>
                      <a:pt x="170673" y="43403"/>
                      <a:pt x="171174" y="43680"/>
                      <a:pt x="171669" y="43958"/>
                    </a:cubicBezTo>
                    <a:cubicBezTo>
                      <a:pt x="180852" y="31297"/>
                      <a:pt x="186995" y="16287"/>
                      <a:pt x="18902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7769349" y="3107531"/>
                <a:ext cx="120401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20401" h="35719">
                    <a:moveTo>
                      <a:pt x="60201" y="35719"/>
                    </a:moveTo>
                    <a:cubicBezTo>
                      <a:pt x="37366" y="35719"/>
                      <a:pt x="16408" y="27683"/>
                      <a:pt x="0" y="14286"/>
                    </a:cubicBezTo>
                    <a:cubicBezTo>
                      <a:pt x="14821" y="6840"/>
                      <a:pt x="35227" y="0"/>
                      <a:pt x="60201" y="0"/>
                    </a:cubicBezTo>
                    <a:cubicBezTo>
                      <a:pt x="85174" y="0"/>
                      <a:pt x="105580" y="6840"/>
                      <a:pt x="120401" y="14286"/>
                    </a:cubicBezTo>
                    <a:cubicBezTo>
                      <a:pt x="103993" y="27683"/>
                      <a:pt x="83035" y="35719"/>
                      <a:pt x="60201" y="35719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3000"/>
                  </a:srgbClr>
                </a:outerShdw>
              </a:effectLst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7605712" y="3307556"/>
              <a:ext cx="658654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自动定位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608570" y="3522345"/>
              <a:ext cx="1289018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浏览器 Geolocation API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609522" y="3701891"/>
              <a:ext cx="791051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天气查询附城市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609522" y="3949541"/>
              <a:ext cx="638957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GEO-AWARE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9715500" y="2647950"/>
            <a:ext cx="1905000" cy="1619250"/>
            <a:chOff x="9715500" y="2647950"/>
            <a:chExt cx="1905000" cy="1619250"/>
          </a:xfrm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grpSpPr>
        <p:sp>
          <p:nvSpPr>
            <p:cNvPr id="108" name="Rectangle 108"/>
            <p:cNvSpPr/>
            <p:nvPr/>
          </p:nvSpPr>
          <p:spPr>
            <a:xfrm>
              <a:off x="9715500" y="2647950"/>
              <a:ext cx="190500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19050">
              <a:solidFill>
                <a:srgbClr val="10B981"/>
              </a:solidFill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109" name="TextBox 109"/>
            <p:cNvSpPr txBox="1"/>
            <p:nvPr/>
          </p:nvSpPr>
          <p:spPr>
            <a:xfrm>
              <a:off x="10275684" y="2769870"/>
              <a:ext cx="346596" cy="4876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10B981">
                      <a:alphaMod val="6000"/>
                    </a:srgbClr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9906000" y="28384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CFDF5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111" name="Freeform 111"/>
            <p:cNvSpPr/>
            <p:nvPr/>
          </p:nvSpPr>
          <p:spPr>
            <a:xfrm>
              <a:off x="10032206" y="2952750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83344" y="190500"/>
                  </a:moveTo>
                  <a:lnTo>
                    <a:pt x="39887" y="159459"/>
                  </a:lnTo>
                  <a:cubicBezTo>
                    <a:pt x="14856" y="141580"/>
                    <a:pt x="0" y="112713"/>
                    <a:pt x="0" y="81951"/>
                  </a:cubicBezTo>
                  <a:lnTo>
                    <a:pt x="0" y="35719"/>
                  </a:lnTo>
                  <a:lnTo>
                    <a:pt x="83344" y="0"/>
                  </a:lnTo>
                  <a:lnTo>
                    <a:pt x="166688" y="35719"/>
                  </a:lnTo>
                  <a:lnTo>
                    <a:pt x="166688" y="81951"/>
                  </a:lnTo>
                  <a:cubicBezTo>
                    <a:pt x="166688" y="112713"/>
                    <a:pt x="151832" y="141580"/>
                    <a:pt x="126800" y="159459"/>
                  </a:cubicBezTo>
                  <a:lnTo>
                    <a:pt x="83344" y="190500"/>
                  </a:lnTo>
                  <a:close/>
                  <a:moveTo>
                    <a:pt x="133435" y="67950"/>
                  </a:moveTo>
                  <a:lnTo>
                    <a:pt x="116597" y="51112"/>
                  </a:lnTo>
                  <a:lnTo>
                    <a:pt x="71438" y="96271"/>
                  </a:lnTo>
                  <a:lnTo>
                    <a:pt x="50091" y="74925"/>
                  </a:lnTo>
                  <a:lnTo>
                    <a:pt x="33253" y="91763"/>
                  </a:lnTo>
                  <a:lnTo>
                    <a:pt x="71438" y="129947"/>
                  </a:lnTo>
                  <a:lnTo>
                    <a:pt x="133435" y="67950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</p:sp>
        <p:sp>
          <p:nvSpPr>
            <p:cNvPr id="112" name="TextBox 112"/>
            <p:cNvSpPr txBox="1"/>
            <p:nvPr/>
          </p:nvSpPr>
          <p:spPr>
            <a:xfrm>
              <a:off x="9891712" y="3307556"/>
              <a:ext cx="658654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优雅降级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894570" y="3522345"/>
              <a:ext cx="928973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搜索失败→仅讲座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895522" y="3701891"/>
              <a:ext cx="879062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BLIP 失败→占位符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895522" y="3949541"/>
              <a:ext cx="529219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3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GRACEFUL</a:t>
              </a:r>
            </a:p>
          </p:txBody>
        </p:sp>
      </p:grpSp>
      <p:sp>
        <p:nvSpPr>
          <p:cNvPr id="117" name="Rectangle 117"/>
          <p:cNvSpPr/>
          <p:nvPr/>
        </p:nvSpPr>
        <p:spPr>
          <a:xfrm>
            <a:off x="571500" y="447675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843915" y="4620578"/>
            <a:ext cx="55433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10 大功能覆盖完整 RAG 问答链路：从文档摄入、智能检索、实时交互、到生产部署与容错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56260" y="49663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核心指标</a:t>
            </a:r>
          </a:p>
        </p:txBody>
      </p:sp>
      <p:grpSp>
        <p:nvGrpSpPr>
          <p:cNvPr id="124" name="Group 124"/>
          <p:cNvGrpSpPr/>
          <p:nvPr/>
        </p:nvGrpSpPr>
        <p:grpSpPr>
          <a:xfrm>
            <a:off x="571500" y="5238750"/>
            <a:ext cx="2571750" cy="628650"/>
            <a:chOff x="571500" y="5238750"/>
            <a:chExt cx="2571750" cy="628650"/>
          </a:xfrm>
        </p:grpSpPr>
        <p:sp>
          <p:nvSpPr>
            <p:cNvPr id="120" name="Rectangle 120"/>
            <p:cNvSpPr/>
            <p:nvPr/>
          </p:nvSpPr>
          <p:spPr>
            <a:xfrm>
              <a:off x="571500" y="5238750"/>
              <a:ext cx="257175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749618" y="5400199"/>
              <a:ext cx="798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SSE 进度步骤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39140" y="5501640"/>
              <a:ext cx="5119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4 步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702118" y="55906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实时反馈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3381375" y="5238750"/>
            <a:ext cx="2571750" cy="628650"/>
            <a:chOff x="3381375" y="5238750"/>
            <a:chExt cx="2571750" cy="628650"/>
          </a:xfrm>
        </p:grpSpPr>
        <p:sp>
          <p:nvSpPr>
            <p:cNvPr id="125" name="Rectangle 125"/>
            <p:cNvSpPr/>
            <p:nvPr/>
          </p:nvSpPr>
          <p:spPr>
            <a:xfrm>
              <a:off x="3381375" y="5238750"/>
              <a:ext cx="257175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3559492" y="54001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缓存层级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3549015" y="5501640"/>
              <a:ext cx="5119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4 级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4321492" y="559069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最大化复用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191250" y="5238750"/>
            <a:ext cx="2571750" cy="628650"/>
            <a:chOff x="6191250" y="5238750"/>
            <a:chExt cx="2571750" cy="628650"/>
          </a:xfrm>
        </p:grpSpPr>
        <p:sp>
          <p:nvSpPr>
            <p:cNvPr id="130" name="Rectangle 130"/>
            <p:cNvSpPr/>
            <p:nvPr/>
          </p:nvSpPr>
          <p:spPr>
            <a:xfrm>
              <a:off x="6191250" y="5238750"/>
              <a:ext cx="257175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6369368" y="54001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文档格式支持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6358890" y="5501640"/>
              <a:ext cx="5119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3 种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226618" y="559069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PDF/PPTX/DOCX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001125" y="5238750"/>
            <a:ext cx="2619375" cy="628650"/>
            <a:chOff x="9001125" y="5238750"/>
            <a:chExt cx="2619375" cy="628650"/>
          </a:xfrm>
        </p:grpSpPr>
        <p:sp>
          <p:nvSpPr>
            <p:cNvPr id="135" name="Rectangle 135"/>
            <p:cNvSpPr/>
            <p:nvPr/>
          </p:nvSpPr>
          <p:spPr>
            <a:xfrm>
              <a:off x="9001125" y="5238750"/>
              <a:ext cx="2619375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9179242" y="540019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答案 Token 消耗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9168765" y="5501640"/>
              <a:ext cx="6757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~1000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0226992" y="55906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每次查询</a:t>
              </a:r>
            </a:p>
          </p:txBody>
        </p:sp>
      </p:grpSp>
      <p:sp>
        <p:nvSpPr>
          <p:cNvPr id="140" name="TextBox 140"/>
          <p:cNvSpPr txBox="1"/>
          <p:nvPr/>
        </p:nvSpPr>
        <p:spPr>
          <a:xfrm>
            <a:off x="11268980" y="6578441"/>
            <a:ext cx="3619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07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19473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关键设计决策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22739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 项关键决策 · 每项均有可量化效果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57250"/>
            <a:ext cx="11049000" cy="323850"/>
          </a:xfrm>
          <a:prstGeom prst="roundRect">
            <a:avLst>
              <a:gd name="adj" fmla="val 17647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4868" y="971074"/>
            <a:ext cx="998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#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5868" y="9710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07118" y="9710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40868" y="9710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效果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219200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2192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44868" y="1380649"/>
            <a:ext cx="6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5868" y="1380649"/>
            <a:ext cx="18609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Sequential 替代 Hierarchical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7118" y="1380649"/>
            <a:ext cx="21505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去掉 Manager Agent，直接 pipeline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40868" y="1380649"/>
            <a:ext cx="16889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5→2 次 LLM 调用，~24s→~8s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1676400"/>
            <a:ext cx="110490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16764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4868" y="1837849"/>
            <a:ext cx="998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5868" y="1837849"/>
            <a:ext cx="12397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CrossEncoder 移除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07118" y="1837849"/>
            <a:ext cx="19360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BM25 + 嵌入相似度融合 (70/30)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40868" y="1837849"/>
            <a:ext cx="9088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省 1-2s/次查询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2133600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21336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4868" y="2295049"/>
            <a:ext cx="998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5868" y="2295049"/>
            <a:ext cx="973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RAG 上下文减半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07118" y="2295049"/>
            <a:ext cx="1227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4000→2000 字符限制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40868" y="2295049"/>
            <a:ext cx="13379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省 ~500 token/次查询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2590800"/>
            <a:ext cx="110490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571500" y="25908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4868" y="2752249"/>
            <a:ext cx="998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5868" y="27522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阈值三档门控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07118" y="2752249"/>
            <a:ext cx="29371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≥0.82 直接使用 / 0.55-0.82 Guard / ≤0.55 跳过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0868" y="27522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边界案例才触发 Guard LLM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3048000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571500" y="30480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44868" y="3209449"/>
            <a:ext cx="998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5868" y="32094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双路由策略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607118" y="3209449"/>
            <a:ext cx="2254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规则关键词匹配（零 LLM）→ LLM 兜底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0868" y="32094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天气/新闻类问题零路由成本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3505200"/>
            <a:ext cx="110490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571500" y="35052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4868" y="3666649"/>
            <a:ext cx="998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25868" y="3666649"/>
            <a:ext cx="918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图片→文字描述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07118" y="3666649"/>
            <a:ext cx="20075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BLIP 描述文本化，不直接嵌入图片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40868" y="366664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无需多模态嵌入模型，384 维足矣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3962400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571500" y="39624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4868" y="4123849"/>
            <a:ext cx="998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25868" y="41238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缓存归一化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607118" y="4123849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MD5(去标点+去停用词+排序 token)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40868" y="4123849"/>
            <a:ext cx="18124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"什么是BERT" ≡ "BERT是什么"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71500" y="4419600"/>
            <a:ext cx="110490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571500" y="44196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44868" y="4581049"/>
            <a:ext cx="998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25868" y="4581049"/>
            <a:ext cx="10486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相似度阈值 0.65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607118" y="4581049"/>
            <a:ext cx="18059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Jaccard + coverage 融合判定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940868" y="4581049"/>
            <a:ext cx="19425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防"水原天气"↔"明天天气"假命中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4876800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571500" y="48768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44868" y="5038249"/>
            <a:ext cx="998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25868" y="50382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单文件索引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607118" y="5038249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index_file() 跳过目录扫描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940868" y="5038249"/>
            <a:ext cx="12989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上传 API：O(N)→O(1)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334000"/>
            <a:ext cx="110490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571500" y="53340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844868" y="5495449"/>
            <a:ext cx="1408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25868" y="5495449"/>
            <a:ext cx="604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批量 BLIP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607118" y="5495449"/>
            <a:ext cx="15784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Pipeline 批量模式替代串行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940868" y="5495449"/>
            <a:ext cx="1168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多图文档 2-5× 加速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791200"/>
            <a:ext cx="11049000" cy="419100"/>
          </a:xfrm>
          <a:prstGeom prst="roundRect">
            <a:avLst>
              <a:gd name="adj" fmla="val 13636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72" name="Rectangle 72"/>
          <p:cNvSpPr/>
          <p:nvPr/>
        </p:nvSpPr>
        <p:spPr>
          <a:xfrm>
            <a:off x="571500" y="5791200"/>
            <a:ext cx="28575" cy="4191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44868" y="5952649"/>
            <a:ext cx="1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225868" y="59526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模型环境变量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607118" y="5952649"/>
            <a:ext cx="2085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LLM_MODEL 统一管理，无需改代码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940868" y="59526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切换模型零代码变更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6362700"/>
            <a:ext cx="11049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844868" y="6457474"/>
            <a:ext cx="43023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 项决策覆盖架构、算法、性能、工程四大维度，每项均以可量化指标验证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268980" y="6578441"/>
            <a:ext cx="3619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08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19473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性能优化历程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2546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8 项关键优化 · 从架构到前端全链路加速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1500" y="904875"/>
            <a:ext cx="3524250" cy="666750"/>
            <a:chOff x="571500" y="904875"/>
            <a:chExt cx="3524250" cy="666750"/>
          </a:xfrm>
        </p:grpSpPr>
        <p:sp>
          <p:nvSpPr>
            <p:cNvPr id="6" name="Rectangle 6"/>
            <p:cNvSpPr/>
            <p:nvPr/>
          </p:nvSpPr>
          <p:spPr>
            <a:xfrm>
              <a:off x="571500" y="904875"/>
              <a:ext cx="3524250" cy="666750"/>
            </a:xfrm>
            <a:prstGeom prst="roundRect">
              <a:avLst>
                <a:gd name="adj" fmla="val 14286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42962" y="1123950"/>
              <a:ext cx="200025" cy="266700"/>
            </a:xfrm>
            <a:custGeom>
              <a:avLst/>
              <a:gdLst/>
              <a:ahLst/>
              <a:cxnLst/>
              <a:rect l="l" t="t" r="r" b="b"/>
              <a:pathLst>
                <a:path w="200025" h="266700">
                  <a:moveTo>
                    <a:pt x="116681" y="116681"/>
                  </a:moveTo>
                  <a:lnTo>
                    <a:pt x="133350" y="0"/>
                  </a:lnTo>
                  <a:lnTo>
                    <a:pt x="100012" y="0"/>
                  </a:lnTo>
                  <a:lnTo>
                    <a:pt x="0" y="116681"/>
                  </a:lnTo>
                  <a:lnTo>
                    <a:pt x="0" y="150019"/>
                  </a:lnTo>
                  <a:lnTo>
                    <a:pt x="83344" y="150019"/>
                  </a:lnTo>
                  <a:lnTo>
                    <a:pt x="66675" y="266700"/>
                  </a:lnTo>
                  <a:lnTo>
                    <a:pt x="100012" y="266700"/>
                  </a:lnTo>
                  <a:lnTo>
                    <a:pt x="200025" y="150019"/>
                  </a:lnTo>
                  <a:lnTo>
                    <a:pt x="200025" y="116681"/>
                  </a:lnTo>
                  <a:lnTo>
                    <a:pt x="116681" y="116681"/>
                  </a:ln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2050" y="976312"/>
              <a:ext cx="5769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5→2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3665" y="1105852"/>
              <a:ext cx="789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次 LLM 调用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9195" y="1350645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Hierarchical → Sequential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33875" y="904875"/>
            <a:ext cx="3524250" cy="666750"/>
            <a:chOff x="4333875" y="904875"/>
            <a:chExt cx="3524250" cy="666750"/>
          </a:xfrm>
        </p:grpSpPr>
        <p:sp>
          <p:nvSpPr>
            <p:cNvPr id="12" name="Rectangle 12"/>
            <p:cNvSpPr/>
            <p:nvPr/>
          </p:nvSpPr>
          <p:spPr>
            <a:xfrm>
              <a:off x="4333875" y="904875"/>
              <a:ext cx="3524250" cy="666750"/>
            </a:xfrm>
            <a:prstGeom prst="roundRect">
              <a:avLst>
                <a:gd name="adj" fmla="val 14286"/>
              </a:avLst>
            </a:prstGeom>
            <a:solidFill>
              <a:srgbClr val="ECFDF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572000" y="1123950"/>
              <a:ext cx="266700" cy="266700"/>
              <a:chOff x="4572000" y="1123950"/>
              <a:chExt cx="266700" cy="2667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572000" y="11239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66688" y="266700"/>
                    </a:moveTo>
                    <a:lnTo>
                      <a:pt x="200025" y="233362"/>
                    </a:lnTo>
                    <a:lnTo>
                      <a:pt x="200025" y="166688"/>
                    </a:lnTo>
                    <a:lnTo>
                      <a:pt x="227643" y="139070"/>
                    </a:lnTo>
                    <a:cubicBezTo>
                      <a:pt x="252650" y="114062"/>
                      <a:pt x="266700" y="80144"/>
                      <a:pt x="266700" y="44777"/>
                    </a:cubicBezTo>
                    <a:lnTo>
                      <a:pt x="266700" y="0"/>
                    </a:lnTo>
                    <a:lnTo>
                      <a:pt x="221923" y="0"/>
                    </a:lnTo>
                    <a:cubicBezTo>
                      <a:pt x="186557" y="0"/>
                      <a:pt x="152638" y="14049"/>
                      <a:pt x="127630" y="39057"/>
                    </a:cubicBezTo>
                    <a:lnTo>
                      <a:pt x="100012" y="66675"/>
                    </a:lnTo>
                    <a:lnTo>
                      <a:pt x="33338" y="66675"/>
                    </a:lnTo>
                    <a:lnTo>
                      <a:pt x="0" y="100012"/>
                    </a:lnTo>
                    <a:lnTo>
                      <a:pt x="166688" y="266700"/>
                    </a:lnTo>
                    <a:close/>
                    <a:moveTo>
                      <a:pt x="175022" y="116681"/>
                    </a:moveTo>
                    <a:cubicBezTo>
                      <a:pt x="188830" y="116681"/>
                      <a:pt x="200025" y="105487"/>
                      <a:pt x="200025" y="91678"/>
                    </a:cubicBezTo>
                    <a:cubicBezTo>
                      <a:pt x="200025" y="77869"/>
                      <a:pt x="188830" y="66675"/>
                      <a:pt x="175022" y="66675"/>
                    </a:cubicBezTo>
                    <a:cubicBezTo>
                      <a:pt x="161213" y="66675"/>
                      <a:pt x="150019" y="77869"/>
                      <a:pt x="150019" y="91678"/>
                    </a:cubicBezTo>
                    <a:cubicBezTo>
                      <a:pt x="150019" y="105487"/>
                      <a:pt x="161213" y="116681"/>
                      <a:pt x="175022" y="116681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572000" y="1308516"/>
                <a:ext cx="82134" cy="82134"/>
              </a:xfrm>
              <a:custGeom>
                <a:avLst/>
                <a:gdLst/>
                <a:ahLst/>
                <a:cxnLst/>
                <a:rect l="l" t="t" r="r" b="b"/>
                <a:pathLst>
                  <a:path w="82134" h="82134">
                    <a:moveTo>
                      <a:pt x="82134" y="44726"/>
                    </a:moveTo>
                    <a:lnTo>
                      <a:pt x="37409" y="0"/>
                    </a:lnTo>
                    <a:lnTo>
                      <a:pt x="0" y="65465"/>
                    </a:lnTo>
                    <a:lnTo>
                      <a:pt x="16669" y="82134"/>
                    </a:lnTo>
                    <a:lnTo>
                      <a:pt x="82134" y="44726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924425" y="976312"/>
              <a:ext cx="144332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~24s→~8s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4165" y="11058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响应时间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1570" y="1350645"/>
              <a:ext cx="4309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3× 加速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96250" y="904875"/>
            <a:ext cx="3524250" cy="666750"/>
            <a:chOff x="8096250" y="904875"/>
            <a:chExt cx="3524250" cy="666750"/>
          </a:xfrm>
        </p:grpSpPr>
        <p:sp>
          <p:nvSpPr>
            <p:cNvPr id="20" name="Rectangle 20"/>
            <p:cNvSpPr/>
            <p:nvPr/>
          </p:nvSpPr>
          <p:spPr>
            <a:xfrm>
              <a:off x="8096250" y="904875"/>
              <a:ext cx="3524250" cy="666750"/>
            </a:xfrm>
            <a:prstGeom prst="roundRect">
              <a:avLst>
                <a:gd name="adj" fmla="val 14286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367712" y="1123950"/>
              <a:ext cx="200025" cy="266700"/>
            </a:xfrm>
            <a:custGeom>
              <a:avLst/>
              <a:gdLst/>
              <a:ahLst/>
              <a:cxnLst/>
              <a:rect l="l" t="t" r="r" b="b"/>
              <a:pathLst>
                <a:path w="200025" h="266700">
                  <a:moveTo>
                    <a:pt x="116681" y="116681"/>
                  </a:moveTo>
                  <a:lnTo>
                    <a:pt x="133350" y="0"/>
                  </a:lnTo>
                  <a:lnTo>
                    <a:pt x="100012" y="0"/>
                  </a:lnTo>
                  <a:lnTo>
                    <a:pt x="0" y="116681"/>
                  </a:lnTo>
                  <a:lnTo>
                    <a:pt x="0" y="150019"/>
                  </a:lnTo>
                  <a:lnTo>
                    <a:pt x="83344" y="150019"/>
                  </a:lnTo>
                  <a:lnTo>
                    <a:pt x="66675" y="266700"/>
                  </a:lnTo>
                  <a:lnTo>
                    <a:pt x="100012" y="266700"/>
                  </a:lnTo>
                  <a:lnTo>
                    <a:pt x="200025" y="150019"/>
                  </a:lnTo>
                  <a:lnTo>
                    <a:pt x="200025" y="116681"/>
                  </a:lnTo>
                  <a:lnTo>
                    <a:pt x="116681" y="116681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6800" y="976312"/>
              <a:ext cx="166385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O(N)→O(1)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64165" y="11058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单文件上传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3945" y="135064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大目录显著加速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571500" y="1809750"/>
            <a:ext cx="11049000" cy="304800"/>
          </a:xfrm>
          <a:prstGeom prst="roundRect">
            <a:avLst>
              <a:gd name="adj" fmla="val 1875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45820" y="19221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84070" y="192214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17820" y="19221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84820" y="19221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类型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152650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44868" y="23140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架构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83118" y="2314099"/>
            <a:ext cx="21245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Hierarchical → Sequential Process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16868" y="2314099"/>
            <a:ext cx="1428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-3 次 LLM 调用（~16s）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96250" y="226695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303633" y="2320766"/>
            <a:ext cx="2519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架构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2609850"/>
            <a:ext cx="110490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44868" y="2771299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重排序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83118" y="2771299"/>
            <a:ext cx="11819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移除 CrossEncoder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416868" y="2771299"/>
            <a:ext cx="8113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-1-2s/次查询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96250" y="272415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303633" y="2777966"/>
            <a:ext cx="2519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算法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3067050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44868" y="3228499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上下文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83118" y="3228499"/>
            <a:ext cx="16499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RAG 上下文 4000→2000 字符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16868" y="3228499"/>
            <a:ext cx="1168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-500 token/次查询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96250" y="318135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260315" y="3235166"/>
            <a:ext cx="3386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Token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71500" y="3524250"/>
            <a:ext cx="110490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44868" y="36856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采样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083118" y="3685699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ChromaDB 候选 12→8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416868" y="3685699"/>
            <a:ext cx="869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-33% 检索开销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096250" y="363855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303633" y="3692366"/>
            <a:ext cx="2519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检索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3981450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44868" y="41428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路由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083118" y="4142899"/>
            <a:ext cx="1201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Guard 重试路径移除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416868" y="4142899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-1 次 LLM（~3% 请求）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8096250" y="409575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303633" y="4149566"/>
            <a:ext cx="2519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路由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71500" y="4438650"/>
            <a:ext cx="11049000" cy="4191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44868" y="46000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上传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083118" y="460009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index_file() 单文件索引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416868" y="4600099"/>
            <a:ext cx="17279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O(N)→O(1)，大目录显著加速</a:t>
            </a:r>
          </a:p>
        </p:txBody>
      </p:sp>
      <p:sp>
        <p:nvSpPr>
          <p:cNvPr id="65" name="Rectangle 65"/>
          <p:cNvSpPr/>
          <p:nvPr/>
        </p:nvSpPr>
        <p:spPr>
          <a:xfrm>
            <a:off x="8096250" y="455295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8326736" y="4606766"/>
            <a:ext cx="2057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I/O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4895850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44868" y="5057299"/>
            <a:ext cx="2909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BLIP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083118" y="505729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批量推理替代逐个处理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416868" y="5057299"/>
            <a:ext cx="1168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多图文档 2-5× 加速</a:t>
            </a:r>
          </a:p>
        </p:txBody>
      </p:sp>
      <p:sp>
        <p:nvSpPr>
          <p:cNvPr id="71" name="Rectangle 71"/>
          <p:cNvSpPr/>
          <p:nvPr/>
        </p:nvSpPr>
        <p:spPr>
          <a:xfrm>
            <a:off x="8096250" y="501015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8323848" y="5063966"/>
            <a:ext cx="2115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GPU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5353050"/>
            <a:ext cx="11049000" cy="419100"/>
          </a:xfrm>
          <a:prstGeom prst="roundRect">
            <a:avLst>
              <a:gd name="adj" fmla="val 13636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844868" y="55144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前端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083118" y="55144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侧边栏自动刷新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416868" y="5514499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缓存/文件列表实时更新</a:t>
            </a:r>
          </a:p>
        </p:txBody>
      </p:sp>
      <p:sp>
        <p:nvSpPr>
          <p:cNvPr id="77" name="Rectangle 77"/>
          <p:cNvSpPr/>
          <p:nvPr/>
        </p:nvSpPr>
        <p:spPr>
          <a:xfrm>
            <a:off x="8096250" y="546735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8355615" y="5521166"/>
            <a:ext cx="1480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UX</a:t>
            </a:r>
          </a:p>
        </p:txBody>
      </p:sp>
      <p:sp>
        <p:nvSpPr>
          <p:cNvPr id="79" name="Rectangle 79"/>
          <p:cNvSpPr/>
          <p:nvPr/>
        </p:nvSpPr>
        <p:spPr>
          <a:xfrm>
            <a:off x="571500" y="5953125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2540222" y="6106478"/>
            <a:ext cx="71115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全链路优化覆盖架构→算法→Token→检索→路由→I/O→GPU→UX 八个维度，累计减少 ~3-4 次 LLM 调用 + ~2s 检索时间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268980" y="6578441"/>
            <a:ext cx="3619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09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429000" y="190500"/>
            <a:ext cx="5334000" cy="5334000"/>
          </a:xfrm>
          <a:prstGeom prst="ellipse">
            <a:avLst/>
          </a:prstGeom>
          <a:gradFill>
            <a:gsLst>
              <a:gs pos="0">
                <a:srgbClr val="1E40AF">
                  <a:alpha val="6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37346" y="214312"/>
            <a:ext cx="13173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测试覆盖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0" y="5334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327017" y="1014412"/>
            <a:ext cx="1537966" cy="167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131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8364" y="2107882"/>
            <a:ext cx="29352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项测试 · 8 个模块 · 全部通过</a:t>
            </a:r>
          </a:p>
        </p:txBody>
      </p:sp>
      <p:sp>
        <p:nvSpPr>
          <p:cNvPr id="8" name="Freeform 8"/>
          <p:cNvSpPr/>
          <p:nvPr/>
        </p:nvSpPr>
        <p:spPr>
          <a:xfrm>
            <a:off x="5791200" y="24765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44302" y="87393"/>
                </a:moveTo>
                <a:cubicBezTo>
                  <a:pt x="257937" y="98072"/>
                  <a:pt x="266700" y="114688"/>
                  <a:pt x="266700" y="133350"/>
                </a:cubicBezTo>
                <a:cubicBezTo>
                  <a:pt x="266700" y="152013"/>
                  <a:pt x="257937" y="168629"/>
                  <a:pt x="244301" y="179309"/>
                </a:cubicBezTo>
                <a:cubicBezTo>
                  <a:pt x="246391" y="196501"/>
                  <a:pt x="240838" y="214447"/>
                  <a:pt x="227642" y="227643"/>
                </a:cubicBezTo>
                <a:cubicBezTo>
                  <a:pt x="214445" y="240840"/>
                  <a:pt x="196500" y="246392"/>
                  <a:pt x="179307" y="244302"/>
                </a:cubicBezTo>
                <a:cubicBezTo>
                  <a:pt x="168628" y="257937"/>
                  <a:pt x="152012" y="266700"/>
                  <a:pt x="133350" y="266700"/>
                </a:cubicBezTo>
                <a:cubicBezTo>
                  <a:pt x="114687" y="266700"/>
                  <a:pt x="98071" y="257937"/>
                  <a:pt x="87392" y="244301"/>
                </a:cubicBezTo>
                <a:cubicBezTo>
                  <a:pt x="70199" y="246392"/>
                  <a:pt x="52253" y="240838"/>
                  <a:pt x="39057" y="227642"/>
                </a:cubicBezTo>
                <a:cubicBezTo>
                  <a:pt x="25860" y="214447"/>
                  <a:pt x="20308" y="196501"/>
                  <a:pt x="22398" y="179307"/>
                </a:cubicBezTo>
                <a:cubicBezTo>
                  <a:pt x="8763" y="168628"/>
                  <a:pt x="0" y="152012"/>
                  <a:pt x="0" y="133350"/>
                </a:cubicBezTo>
                <a:cubicBezTo>
                  <a:pt x="0" y="114687"/>
                  <a:pt x="8763" y="98071"/>
                  <a:pt x="22399" y="87392"/>
                </a:cubicBezTo>
                <a:cubicBezTo>
                  <a:pt x="20308" y="70199"/>
                  <a:pt x="25861" y="52253"/>
                  <a:pt x="39058" y="39057"/>
                </a:cubicBezTo>
                <a:cubicBezTo>
                  <a:pt x="52254" y="25860"/>
                  <a:pt x="70200" y="20308"/>
                  <a:pt x="87393" y="22398"/>
                </a:cubicBezTo>
                <a:cubicBezTo>
                  <a:pt x="98072" y="8763"/>
                  <a:pt x="114688" y="0"/>
                  <a:pt x="133350" y="0"/>
                </a:cubicBezTo>
                <a:cubicBezTo>
                  <a:pt x="152013" y="0"/>
                  <a:pt x="168629" y="8763"/>
                  <a:pt x="179309" y="22399"/>
                </a:cubicBezTo>
                <a:cubicBezTo>
                  <a:pt x="196501" y="20309"/>
                  <a:pt x="214447" y="25862"/>
                  <a:pt x="227643" y="39058"/>
                </a:cubicBezTo>
                <a:cubicBezTo>
                  <a:pt x="240840" y="52255"/>
                  <a:pt x="246392" y="70200"/>
                  <a:pt x="244302" y="87393"/>
                </a:cubicBezTo>
                <a:close/>
                <a:moveTo>
                  <a:pt x="203477" y="103465"/>
                </a:moveTo>
                <a:lnTo>
                  <a:pt x="179904" y="79891"/>
                </a:lnTo>
                <a:lnTo>
                  <a:pt x="116681" y="143114"/>
                </a:lnTo>
                <a:lnTo>
                  <a:pt x="86796" y="113229"/>
                </a:lnTo>
                <a:lnTo>
                  <a:pt x="63223" y="136802"/>
                </a:lnTo>
                <a:lnTo>
                  <a:pt x="116681" y="190260"/>
                </a:lnTo>
                <a:lnTo>
                  <a:pt x="203477" y="103465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9" name="Line 9"/>
          <p:cNvSpPr/>
          <p:nvPr/>
        </p:nvSpPr>
        <p:spPr>
          <a:xfrm>
            <a:off x="3238500" y="29527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38212" y="32123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模块覆盖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165" y="3582352"/>
            <a:ext cx="873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test_rag.py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67890" y="3501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60320" y="3598545"/>
            <a:ext cx="45474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项 · 语义分块、文档分发、图片描述、向量 CRUD、混合检索、web→RAG、单文件索引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3906202"/>
            <a:ext cx="15948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test_answer_cache.py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53640" y="3825240"/>
            <a:ext cx="2599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98445" y="3922395"/>
            <a:ext cx="32932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项 · 缓存命中/过期、标点容忍、停用词过滤、jieba 语义匹配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165" y="4230052"/>
            <a:ext cx="21759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test_conversation_manager.py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34640" y="4149090"/>
            <a:ext cx="2599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79445" y="4246245"/>
            <a:ext cx="2501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项 · 消息 CRUD、持久化、上下文格式化、搜索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9165" y="4553902"/>
            <a:ext cx="17908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test_session_manager.py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44140" y="4472940"/>
            <a:ext cx="2599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88945" y="4570095"/>
            <a:ext cx="23991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项 · 会话创建/列表/标签/删除、跨会话搜索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9165" y="4877752"/>
            <a:ext cx="1174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test_web_api.py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67890" y="47967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60320" y="4893945"/>
            <a:ext cx="34312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项 · Flask API + HTML 模板 + SSE + 聊天 + 会话/知识/图片端点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9165" y="5201602"/>
            <a:ext cx="17208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test_status_tracker.py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53640" y="51206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50820" y="5217795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项 · SSE 进度追踪、并发安全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9165" y="5525452"/>
            <a:ext cx="1622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test_local_file_tool.py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58390" y="544449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655570" y="5541645"/>
            <a:ext cx="20451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项 · PDF/PPTX 读取、文件不存在处理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0" y="3476625"/>
            <a:ext cx="3619500" cy="238125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07816" y="35904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测试数量分布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00022" y="3892391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rag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239125" y="3886200"/>
            <a:ext cx="1762125" cy="152400"/>
          </a:xfrm>
          <a:prstGeom prst="roundRect">
            <a:avLst>
              <a:gd name="adj" fmla="val 1875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038398" y="3920966"/>
            <a:ext cx="1480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00022" y="4178141"/>
            <a:ext cx="4390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web_api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239125" y="4171950"/>
            <a:ext cx="2000250" cy="152400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276522" y="4206716"/>
            <a:ext cx="1480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00022" y="4463891"/>
            <a:ext cx="262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conv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39125" y="4457700"/>
            <a:ext cx="762000" cy="152400"/>
          </a:xfrm>
          <a:prstGeom prst="roundRect">
            <a:avLst>
              <a:gd name="adj" fmla="val 1875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38272" y="44924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800022" y="4749641"/>
            <a:ext cx="4170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session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239125" y="4743450"/>
            <a:ext cx="714375" cy="1524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990648" y="477821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00022" y="5035391"/>
            <a:ext cx="3234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cache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239125" y="5029200"/>
            <a:ext cx="571500" cy="152400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847772" y="50639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800022" y="5321141"/>
            <a:ext cx="384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status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239125" y="5314950"/>
            <a:ext cx="285750" cy="152400"/>
          </a:xfrm>
          <a:prstGeom prst="roundRect">
            <a:avLst>
              <a:gd name="adj" fmla="val 18750"/>
            </a:avLst>
          </a:prstGeom>
          <a:solidFill>
            <a:srgbClr val="94A3B8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562022" y="5349716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800022" y="5606891"/>
            <a:ext cx="2079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file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239125" y="5600700"/>
            <a:ext cx="142875" cy="152400"/>
          </a:xfrm>
          <a:prstGeom prst="roundRect">
            <a:avLst>
              <a:gd name="adj" fmla="val 2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419148" y="5635466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55" name="Rectangle 55"/>
          <p:cNvSpPr/>
          <p:nvPr/>
        </p:nvSpPr>
        <p:spPr>
          <a:xfrm>
            <a:off x="952500" y="6096000"/>
            <a:ext cx="1028700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4122420" y="6230302"/>
            <a:ext cx="39471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pytest 9.0.3 · python -m pytest tests/ -v · 8 模块零失败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296483" y="657844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10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201039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REST API 端点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23999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 个端点 · Flask 3.0.0 · SSE 实时流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57250"/>
            <a:ext cx="11049000" cy="304800"/>
          </a:xfrm>
          <a:prstGeom prst="roundRect">
            <a:avLst>
              <a:gd name="adj" fmla="val 1875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5820" y="9696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88820" y="9696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03570" y="9696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说明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37320" y="9696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类别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200150"/>
            <a:ext cx="11049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2001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14375" y="12858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6723" y="1349216"/>
            <a:ext cx="2115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87868" y="1333024"/>
            <a:ext cx="7788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/api/status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02618" y="13330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系统状态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37320" y="13411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系统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71500" y="16192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14375" y="17049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76339" y="1768316"/>
            <a:ext cx="5523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40AF"/>
                </a:solidFill>
                <a:latin typeface="Consolas"/>
                <a:ea typeface="Microsoft YaHei"/>
                <a:cs typeface="Consolas"/>
              </a:rPr>
              <a:t>GET/POST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87868" y="1752124"/>
            <a:ext cx="8893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/api/sessions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618" y="1752124"/>
            <a:ext cx="9543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会话列表 / 创建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37320" y="17602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会话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2038350"/>
            <a:ext cx="11049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20383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14375" y="21240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6339" y="2187416"/>
            <a:ext cx="5523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366F1"/>
                </a:solidFill>
                <a:latin typeface="Consolas"/>
                <a:ea typeface="Microsoft YaHei"/>
                <a:cs typeface="Consolas"/>
              </a:rPr>
              <a:t>POST/DEL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87868" y="2171224"/>
            <a:ext cx="138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/api/sessions/&lt;path&gt;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02618" y="2171224"/>
            <a:ext cx="9543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切换 / 删除会话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37320" y="21793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会话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2457450"/>
            <a:ext cx="11049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24574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14375" y="25431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46723" y="2606516"/>
            <a:ext cx="2115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87868" y="2590324"/>
            <a:ext cx="993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/api/chat/task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702618" y="2590324"/>
            <a:ext cx="7138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SSE task ID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037320" y="25984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聊天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876550"/>
            <a:ext cx="11049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28765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714375" y="2962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03405" y="3025616"/>
            <a:ext cx="2981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87868" y="3009424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/api/chat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702618" y="30094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发送消息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037320" y="30175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聊天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3295650"/>
            <a:ext cx="11049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571500" y="32956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714375" y="33813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6723" y="3444716"/>
            <a:ext cx="2115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987868" y="3428524"/>
            <a:ext cx="11624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/api/chat/stream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702618" y="3428524"/>
            <a:ext cx="6683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SSE 进度流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037320" y="34366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聊天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71500" y="3714750"/>
            <a:ext cx="11049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571500" y="37147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714375" y="38004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19657" y="3863816"/>
            <a:ext cx="4656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40AF"/>
                </a:solidFill>
                <a:latin typeface="Consolas"/>
                <a:ea typeface="Microsoft YaHei"/>
                <a:cs typeface="Consolas"/>
              </a:rPr>
              <a:t>GET/DEL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987868" y="3847624"/>
            <a:ext cx="8178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/api/history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702618" y="38476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对话历史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037320" y="38557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历史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71500" y="4133850"/>
            <a:ext cx="11049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571500" y="41338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62" name="Rectangle 62"/>
          <p:cNvSpPr/>
          <p:nvPr/>
        </p:nvSpPr>
        <p:spPr>
          <a:xfrm>
            <a:off x="714375" y="42195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46723" y="4282916"/>
            <a:ext cx="2115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366F1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987868" y="4266724"/>
            <a:ext cx="25015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/api/history/search?q=关键词&amp;all=true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702618" y="42667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跨会话搜索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037320" y="42748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历史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4552950"/>
            <a:ext cx="11049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571500" y="45529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714375" y="46386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49273" y="4702016"/>
            <a:ext cx="806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GET/POST/DEL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987868" y="4685824"/>
            <a:ext cx="11299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/api/knowledge/*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02618" y="4685824"/>
            <a:ext cx="20335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文件上传 / 列表 / 删除 / 重建索引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037320" y="46939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知识</a:t>
            </a:r>
          </a:p>
        </p:txBody>
      </p:sp>
      <p:sp>
        <p:nvSpPr>
          <p:cNvPr id="74" name="Rectangle 74"/>
          <p:cNvSpPr/>
          <p:nvPr/>
        </p:nvSpPr>
        <p:spPr>
          <a:xfrm>
            <a:off x="571500" y="4972050"/>
            <a:ext cx="11049000" cy="38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75" name="Rectangle 75"/>
          <p:cNvSpPr/>
          <p:nvPr/>
        </p:nvSpPr>
        <p:spPr>
          <a:xfrm>
            <a:off x="571500" y="49720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76" name="Rectangle 76"/>
          <p:cNvSpPr/>
          <p:nvPr/>
        </p:nvSpPr>
        <p:spPr>
          <a:xfrm>
            <a:off x="714375" y="50577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719657" y="5121116"/>
            <a:ext cx="4656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GET/DEL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987868" y="5104924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/api/cache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702618" y="5104924"/>
            <a:ext cx="9543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缓存统计 / 清除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037320" y="51130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缓存</a:t>
            </a:r>
          </a:p>
        </p:txBody>
      </p:sp>
      <p:sp>
        <p:nvSpPr>
          <p:cNvPr id="81" name="Rectangle 81"/>
          <p:cNvSpPr/>
          <p:nvPr/>
        </p:nvSpPr>
        <p:spPr>
          <a:xfrm>
            <a:off x="571500" y="5391150"/>
            <a:ext cx="11049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2" name="Rectangle 82"/>
          <p:cNvSpPr/>
          <p:nvPr/>
        </p:nvSpPr>
        <p:spPr>
          <a:xfrm>
            <a:off x="571500" y="5391150"/>
            <a:ext cx="28575" cy="381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846723" y="5549741"/>
            <a:ext cx="2115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987868" y="5533549"/>
            <a:ext cx="12664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/images/&lt;filename&gt;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702618" y="55335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提取的图片文件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037320" y="554164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资源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6000750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843915" y="6125528"/>
            <a:ext cx="11958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Flask 3.0.0 + SSE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320415" y="6125528"/>
            <a:ext cx="686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|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510915" y="6125528"/>
            <a:ext cx="2259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零框架前端 · 纯 JS Markdown 渲染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130415" y="6125528"/>
            <a:ext cx="686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|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320915" y="6125528"/>
            <a:ext cx="18188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端口 7860 · FLASK_DEBUG=0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1323987" y="6578441"/>
            <a:ext cx="3069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11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13173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项目结构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30020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lecture_crewLLM/ · 模块化设计 · 零框架前端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57250"/>
            <a:ext cx="5334000" cy="5715000"/>
          </a:xfrm>
          <a:prstGeom prst="roundRect">
            <a:avLst>
              <a:gd name="adj" fmla="val 1786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8665" y="982028"/>
            <a:ext cx="13424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lecture_crewLLM/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2018" y="1275874"/>
            <a:ext cx="5188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40AF"/>
                </a:solidFill>
                <a:latin typeface="Consolas"/>
                <a:ea typeface="Microsoft YaHei"/>
                <a:cs typeface="Consolas"/>
              </a:rPr>
              <a:t>main.py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28022" y="1292066"/>
            <a:ext cx="11100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CLI 入口 + Agent 编排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2018" y="1494949"/>
            <a:ext cx="6618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40AF"/>
                </a:solidFill>
                <a:latin typeface="Consolas"/>
                <a:ea typeface="Microsoft YaHei"/>
                <a:cs typeface="Consolas"/>
              </a:rPr>
              <a:t>web_ui.py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28022" y="1511141"/>
            <a:ext cx="1522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Flask Web UI + REST API + SSE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2018" y="1714024"/>
            <a:ext cx="11624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requirements.txt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2018" y="1933099"/>
            <a:ext cx="8763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.env.example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218849"/>
            <a:ext cx="4411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tools/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2018" y="2447449"/>
            <a:ext cx="8828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rag_store.py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28022" y="2463641"/>
            <a:ext cx="1390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ChromaDB + BM25 混合检索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2018" y="2666524"/>
            <a:ext cx="15524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document_processor.py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28022" y="2682716"/>
            <a:ext cx="10275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文档解析 + 语义分块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018" y="2885599"/>
            <a:ext cx="12729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image_captioner.py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28022" y="2901791"/>
            <a:ext cx="9285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BLIP 批量图片描述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018" y="3104674"/>
            <a:ext cx="16629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conversation_manager.py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28022" y="3120866"/>
            <a:ext cx="14456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对话历史 (≤300 token 摘要)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2018" y="3323749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session_manager.py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28022" y="3339941"/>
            <a:ext cx="10275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多会话 + 跨会话搜索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2018" y="3542824"/>
            <a:ext cx="11234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answer_cache.py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28022" y="3559016"/>
            <a:ext cx="1192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答案缓存(精确+相似度)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2018" y="3761899"/>
            <a:ext cx="1461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google_search_tool.py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2018" y="3980974"/>
            <a:ext cx="11494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local_file_tool.py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2018" y="4200049"/>
            <a:ext cx="12404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status_tracker.py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28022" y="4216241"/>
            <a:ext cx="6755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SSE 进度追踪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618" y="4485799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tests/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3522" y="4501991"/>
            <a:ext cx="7140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131 项，8 模块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4704874"/>
            <a:ext cx="14172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templates/ · static/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4923949"/>
            <a:ext cx="4411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picts/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13522" y="4940141"/>
            <a:ext cx="5655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SVG 架构图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9618" y="5143024"/>
            <a:ext cx="1376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knowledge/ · images/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9618" y="5362099"/>
            <a:ext cx="1344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chroma_db/ · cache/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9618" y="5581174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conversations/ · output/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71260" y="965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核心模块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286500" y="1285875"/>
            <a:ext cx="5334000" cy="685800"/>
            <a:chOff x="6286500" y="1285875"/>
            <a:chExt cx="5334000" cy="685800"/>
          </a:xfrm>
        </p:grpSpPr>
        <p:sp>
          <p:nvSpPr>
            <p:cNvPr id="40" name="Rectangle 40"/>
            <p:cNvSpPr/>
            <p:nvPr/>
          </p:nvSpPr>
          <p:spPr>
            <a:xfrm>
              <a:off x="6286500" y="1285875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400800" y="1457325"/>
              <a:ext cx="342900" cy="3429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36862" y="1563052"/>
              <a:ext cx="70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43712" y="138350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入口层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45618" y="1590199"/>
              <a:ext cx="38602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main.py + web_ui.py — CLI 与 Web 双入口，统一 Agent 编排逻辑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46570" y="1769745"/>
              <a:ext cx="1060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Flask + SSE + REST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2095500"/>
            <a:ext cx="5334000" cy="685800"/>
            <a:chOff x="6286500" y="2095500"/>
            <a:chExt cx="5334000" cy="685800"/>
          </a:xfrm>
        </p:grpSpPr>
        <p:sp>
          <p:nvSpPr>
            <p:cNvPr id="47" name="Rectangle 47"/>
            <p:cNvSpPr/>
            <p:nvPr/>
          </p:nvSpPr>
          <p:spPr>
            <a:xfrm>
              <a:off x="6286500" y="209550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400800" y="2266950"/>
              <a:ext cx="342900" cy="3429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18485" y="237267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43712" y="219313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检索层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45618" y="2399824"/>
              <a:ext cx="40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rag_store.py + document_processor.py — 多模态 RAG + 混合检索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46570" y="2579370"/>
              <a:ext cx="13730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ChromaDB + BM25 + BLIP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286500" y="2905125"/>
            <a:ext cx="5334000" cy="685800"/>
            <a:chOff x="6286500" y="2905125"/>
            <a:chExt cx="5334000" cy="685800"/>
          </a:xfrm>
        </p:grpSpPr>
        <p:sp>
          <p:nvSpPr>
            <p:cNvPr id="54" name="Rectangle 54"/>
            <p:cNvSpPr/>
            <p:nvPr/>
          </p:nvSpPr>
          <p:spPr>
            <a:xfrm>
              <a:off x="6286500" y="2905125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400800" y="3076575"/>
              <a:ext cx="342900" cy="34290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18485" y="31823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43712" y="30027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会话管理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45618" y="3209449"/>
              <a:ext cx="43413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conversation_manager.py + session_manager.py + answer_cache.py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46570" y="3388995"/>
              <a:ext cx="1721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多会话 + 4 级缓存 + 对话持久化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286500" y="3714750"/>
            <a:ext cx="5334000" cy="685800"/>
            <a:chOff x="6286500" y="3714750"/>
            <a:chExt cx="5334000" cy="685800"/>
          </a:xfrm>
        </p:grpSpPr>
        <p:sp>
          <p:nvSpPr>
            <p:cNvPr id="61" name="Rectangle 61"/>
            <p:cNvSpPr/>
            <p:nvPr/>
          </p:nvSpPr>
          <p:spPr>
            <a:xfrm>
              <a:off x="6286500" y="37147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6400800" y="3886200"/>
              <a:ext cx="342900" cy="3429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18485" y="399192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43712" y="381238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前端层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45618" y="4019074"/>
              <a:ext cx="44128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templates/index.html + static/{style.css,script.js} — 零框架，纯 JS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46570" y="4198620"/>
              <a:ext cx="2099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Markdown 渲染 + Font Awesome 图标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6286500" y="4619625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6557962" y="478393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关键指标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559868" y="5114449"/>
            <a:ext cx="785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9 个核心模块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560118" y="5114449"/>
            <a:ext cx="6033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131 项测试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559868" y="5343049"/>
            <a:ext cx="785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8 个测试模块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560118" y="534304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零框架前端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296483" y="657844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12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13173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开发历程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8 阶段迭代 · 从基础架构到生产级系统</a:t>
            </a:r>
          </a:p>
        </p:txBody>
      </p:sp>
      <p:sp>
        <p:nvSpPr>
          <p:cNvPr id="6" name="Line 6"/>
          <p:cNvSpPr/>
          <p:nvPr/>
        </p:nvSpPr>
        <p:spPr>
          <a:xfrm>
            <a:off x="1809750" y="904875"/>
            <a:ext cx="9525" cy="5476875"/>
          </a:xfrm>
          <a:custGeom>
            <a:avLst/>
            <a:gdLst/>
            <a:ahLst/>
            <a:cxnLst/>
            <a:rect l="l" t="t" r="r" b="b"/>
            <a:pathLst>
              <a:path w="9525" h="5476875">
                <a:moveTo>
                  <a:pt x="0" y="0"/>
                </a:moveTo>
                <a:lnTo>
                  <a:pt x="0" y="5476875"/>
                </a:lnTo>
              </a:path>
            </a:pathLst>
          </a:custGeom>
          <a:noFill/>
          <a:ln w="28575" cap="rnd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695450" y="933450"/>
            <a:ext cx="228600" cy="228600"/>
          </a:xfrm>
          <a:prstGeom prst="ellipse">
            <a:avLst/>
          </a:prstGeom>
          <a:solidFill>
            <a:srgbClr val="1E40AF"/>
          </a:solidFill>
          <a:ln w="2857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2095500" y="876300"/>
            <a:ext cx="4286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spPr>
      </p:sp>
      <p:sp>
        <p:nvSpPr>
          <p:cNvPr id="9" name="Rectangle 9"/>
          <p:cNvSpPr/>
          <p:nvPr/>
        </p:nvSpPr>
        <p:spPr>
          <a:xfrm>
            <a:off x="2095500" y="8763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72665" y="953452"/>
            <a:ext cx="11440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阶段 1：基础架构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4570" y="1141095"/>
            <a:ext cx="29092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CrewAI + ChromaDB + DeepSeek + Flask Web UI + CLI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810250" y="95250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008084" y="1004888"/>
            <a:ext cx="2710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DONE</a:t>
            </a:r>
          </a:p>
        </p:txBody>
      </p:sp>
      <p:sp>
        <p:nvSpPr>
          <p:cNvPr id="14" name="Ellipse 14"/>
          <p:cNvSpPr/>
          <p:nvPr/>
        </p:nvSpPr>
        <p:spPr>
          <a:xfrm>
            <a:off x="1695450" y="1543050"/>
            <a:ext cx="228600" cy="228600"/>
          </a:xfrm>
          <a:prstGeom prst="ellipse">
            <a:avLst/>
          </a:prstGeom>
          <a:solidFill>
            <a:srgbClr val="1E40AF"/>
          </a:solidFill>
          <a:ln w="2857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095500" y="1485900"/>
            <a:ext cx="4286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spPr>
      </p:sp>
      <p:sp>
        <p:nvSpPr>
          <p:cNvPr id="16" name="Rectangle 16"/>
          <p:cNvSpPr/>
          <p:nvPr/>
        </p:nvSpPr>
        <p:spPr>
          <a:xfrm>
            <a:off x="2095500" y="14859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272665" y="1563052"/>
            <a:ext cx="11734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阶段 2：RAG 增强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74570" y="1750695"/>
            <a:ext cx="28852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语义分块、BLIP 图片描述、表格 MD 转换、DOCX 支持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810250" y="156210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008084" y="1614488"/>
            <a:ext cx="2710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DONE</a:t>
            </a:r>
          </a:p>
        </p:txBody>
      </p:sp>
      <p:sp>
        <p:nvSpPr>
          <p:cNvPr id="21" name="Ellipse 21"/>
          <p:cNvSpPr/>
          <p:nvPr/>
        </p:nvSpPr>
        <p:spPr>
          <a:xfrm>
            <a:off x="1695450" y="2152650"/>
            <a:ext cx="228600" cy="228600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095500" y="2095500"/>
            <a:ext cx="4286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10B981"/>
            </a:solidFill>
          </a:ln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spPr>
      </p:sp>
      <p:sp>
        <p:nvSpPr>
          <p:cNvPr id="23" name="Rectangle 23"/>
          <p:cNvSpPr/>
          <p:nvPr/>
        </p:nvSpPr>
        <p:spPr>
          <a:xfrm>
            <a:off x="2095500" y="20955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272665" y="2172652"/>
            <a:ext cx="11807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阶段 3：性能优化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74570" y="2360295"/>
            <a:ext cx="41453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Sequential 取代 Hierarchical、移除 CrossEncoder、上下文减半、多级缓存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810250" y="217170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047464" y="2224088"/>
            <a:ext cx="1923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KEY</a:t>
            </a:r>
          </a:p>
        </p:txBody>
      </p:sp>
      <p:sp>
        <p:nvSpPr>
          <p:cNvPr id="28" name="Ellipse 28"/>
          <p:cNvSpPr/>
          <p:nvPr/>
        </p:nvSpPr>
        <p:spPr>
          <a:xfrm>
            <a:off x="1695450" y="2762250"/>
            <a:ext cx="228600" cy="228600"/>
          </a:xfrm>
          <a:prstGeom prst="ellipse">
            <a:avLst/>
          </a:prstGeom>
          <a:solidFill>
            <a:srgbClr val="1E40AF"/>
          </a:solidFill>
          <a:ln w="28575">
            <a:solidFill>
              <a:srgbClr val="FFFFFF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2095500" y="2705100"/>
            <a:ext cx="4286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spPr>
      </p:sp>
      <p:sp>
        <p:nvSpPr>
          <p:cNvPr id="30" name="Rectangle 30"/>
          <p:cNvSpPr/>
          <p:nvPr/>
        </p:nvSpPr>
        <p:spPr>
          <a:xfrm>
            <a:off x="2095500" y="27051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272665" y="2782252"/>
            <a:ext cx="11807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阶段 4：体验优化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74570" y="2969895"/>
            <a:ext cx="36113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中文界面、SSE 4 步进度、实时计时器、轮播提示、Markdown 导出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810250" y="278130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008084" y="2833688"/>
            <a:ext cx="2710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DONE</a:t>
            </a:r>
          </a:p>
        </p:txBody>
      </p:sp>
      <p:sp>
        <p:nvSpPr>
          <p:cNvPr id="35" name="Ellipse 35"/>
          <p:cNvSpPr/>
          <p:nvPr/>
        </p:nvSpPr>
        <p:spPr>
          <a:xfrm>
            <a:off x="1695450" y="3371850"/>
            <a:ext cx="228600" cy="228600"/>
          </a:xfrm>
          <a:prstGeom prst="ellipse">
            <a:avLst/>
          </a:prstGeom>
          <a:solidFill>
            <a:srgbClr val="F59E0B"/>
          </a:solidFill>
          <a:ln w="28575">
            <a:solidFill>
              <a:srgbClr val="FFFFFF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2095500" y="3314700"/>
            <a:ext cx="4286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F59E0B"/>
            </a:solidFill>
          </a:ln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spPr>
      </p:sp>
      <p:sp>
        <p:nvSpPr>
          <p:cNvPr id="37" name="Rectangle 37"/>
          <p:cNvSpPr/>
          <p:nvPr/>
        </p:nvSpPr>
        <p:spPr>
          <a:xfrm>
            <a:off x="2095500" y="33147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2272665" y="3391852"/>
            <a:ext cx="11807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阶段 5：智能路由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274570" y="3579495"/>
            <a:ext cx="3665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规则匹配 + LLM 双路由、Grounding Check 语义验证、三档阈值门控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810250" y="339090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008084" y="3443288"/>
            <a:ext cx="2710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CORE</a:t>
            </a:r>
          </a:p>
        </p:txBody>
      </p:sp>
      <p:sp>
        <p:nvSpPr>
          <p:cNvPr id="42" name="Ellipse 42"/>
          <p:cNvSpPr/>
          <p:nvPr/>
        </p:nvSpPr>
        <p:spPr>
          <a:xfrm>
            <a:off x="1695450" y="3981450"/>
            <a:ext cx="228600" cy="228600"/>
          </a:xfrm>
          <a:prstGeom prst="ellipse">
            <a:avLst/>
          </a:prstGeom>
          <a:solidFill>
            <a:srgbClr val="1E40AF"/>
          </a:solidFill>
          <a:ln w="28575">
            <a:solidFill>
              <a:srgbClr val="FFFFFF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2095500" y="3924300"/>
            <a:ext cx="4286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spPr>
      </p:sp>
      <p:sp>
        <p:nvSpPr>
          <p:cNvPr id="44" name="Rectangle 44"/>
          <p:cNvSpPr/>
          <p:nvPr/>
        </p:nvSpPr>
        <p:spPr>
          <a:xfrm>
            <a:off x="2095500" y="39243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272665" y="4001452"/>
            <a:ext cx="10337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阶段 6：稳定性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274570" y="4189095"/>
            <a:ext cx="31732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图片 URL 编码、路径穿越防护、文件名清理、缓存自动清理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810250" y="400050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008084" y="4052888"/>
            <a:ext cx="2710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DONE</a:t>
            </a:r>
          </a:p>
        </p:txBody>
      </p:sp>
      <p:sp>
        <p:nvSpPr>
          <p:cNvPr id="49" name="Ellipse 49"/>
          <p:cNvSpPr/>
          <p:nvPr/>
        </p:nvSpPr>
        <p:spPr>
          <a:xfrm>
            <a:off x="1695450" y="4591050"/>
            <a:ext cx="228600" cy="228600"/>
          </a:xfrm>
          <a:prstGeom prst="ellipse">
            <a:avLst/>
          </a:prstGeom>
          <a:solidFill>
            <a:srgbClr val="1E40AF"/>
          </a:solidFill>
          <a:ln w="28575">
            <a:solidFill>
              <a:srgbClr val="FFFFFF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2095500" y="4533900"/>
            <a:ext cx="4286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spPr>
      </p:sp>
      <p:sp>
        <p:nvSpPr>
          <p:cNvPr id="51" name="Rectangle 51"/>
          <p:cNvSpPr/>
          <p:nvPr/>
        </p:nvSpPr>
        <p:spPr>
          <a:xfrm>
            <a:off x="2095500" y="45339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2272665" y="4611052"/>
            <a:ext cx="11807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阶段 7：交互增强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274570" y="4798695"/>
            <a:ext cx="34492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历史搜索（CLI + Web UI）、搜索结果一键跳转、浏览器自动定位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810250" y="461010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008084" y="4662488"/>
            <a:ext cx="2710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DONE</a:t>
            </a:r>
          </a:p>
        </p:txBody>
      </p:sp>
      <p:sp>
        <p:nvSpPr>
          <p:cNvPr id="56" name="Ellipse 56"/>
          <p:cNvSpPr/>
          <p:nvPr/>
        </p:nvSpPr>
        <p:spPr>
          <a:xfrm>
            <a:off x="1695450" y="5200650"/>
            <a:ext cx="228600" cy="228600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2095500" y="5143500"/>
            <a:ext cx="4286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spPr>
      </p:sp>
      <p:sp>
        <p:nvSpPr>
          <p:cNvPr id="58" name="Rectangle 58"/>
          <p:cNvSpPr/>
          <p:nvPr/>
        </p:nvSpPr>
        <p:spPr>
          <a:xfrm>
            <a:off x="2095500" y="51435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2272665" y="5220652"/>
            <a:ext cx="14748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阶段 8：上传链路优化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274570" y="5408295"/>
            <a:ext cx="30832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单文件索引 O(1)、批量 BLIP 2-5× 加速、侧边栏自动刷新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810250" y="5219700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5960828" y="5272088"/>
            <a:ext cx="3655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LATEST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762750" y="876300"/>
            <a:ext cx="4857750" cy="552450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>
            <a:outerShdw blurRad="57150" dist="19050" dir="5400000" algn="ctr" rotWithShape="0">
              <a:srgbClr val="0F172A">
                <a:alpha val="3000"/>
              </a:srgbClr>
            </a:outerShdw>
          </a:effectLst>
        </p:spPr>
      </p:sp>
      <p:sp>
        <p:nvSpPr>
          <p:cNvPr id="64" name="TextBox 64"/>
          <p:cNvSpPr txBox="1"/>
          <p:nvPr/>
        </p:nvSpPr>
        <p:spPr>
          <a:xfrm>
            <a:off x="8672322" y="106108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迭代成果总览</a:t>
            </a:r>
          </a:p>
        </p:txBody>
      </p:sp>
      <p:sp>
        <p:nvSpPr>
          <p:cNvPr id="65" name="Line 65"/>
          <p:cNvSpPr/>
          <p:nvPr/>
        </p:nvSpPr>
        <p:spPr>
          <a:xfrm>
            <a:off x="6953250" y="1333500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6953250" y="1476375"/>
            <a:ext cx="44767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7" name="Ellipse 67"/>
          <p:cNvSpPr/>
          <p:nvPr/>
        </p:nvSpPr>
        <p:spPr>
          <a:xfrm>
            <a:off x="7038975" y="1581150"/>
            <a:ext cx="304800" cy="3048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7137610" y="1667828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462838" y="15740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迭代阶段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465695" y="1779270"/>
            <a:ext cx="20631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从原型到生产级，每阶段有明确交付物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953250" y="2095500"/>
            <a:ext cx="44767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2" name="Ellipse 72"/>
          <p:cNvSpPr/>
          <p:nvPr/>
        </p:nvSpPr>
        <p:spPr>
          <a:xfrm>
            <a:off x="7038975" y="2200275"/>
            <a:ext cx="304800" cy="30480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7056750" y="2286952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~8s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748588" y="2193131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最终响应时间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751445" y="2398395"/>
            <a:ext cx="16010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从 ~24s 优化到 ~8s，3× 加速</a:t>
            </a:r>
          </a:p>
        </p:txBody>
      </p:sp>
      <p:sp>
        <p:nvSpPr>
          <p:cNvPr id="76" name="Rectangle 76"/>
          <p:cNvSpPr/>
          <p:nvPr/>
        </p:nvSpPr>
        <p:spPr>
          <a:xfrm>
            <a:off x="6953250" y="2714625"/>
            <a:ext cx="44767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7" name="Ellipse 77"/>
          <p:cNvSpPr/>
          <p:nvPr/>
        </p:nvSpPr>
        <p:spPr>
          <a:xfrm>
            <a:off x="7038975" y="2819400"/>
            <a:ext cx="304800" cy="3048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7093504" y="2906078"/>
            <a:ext cx="1957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131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462838" y="28122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测试覆盖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465695" y="3017520"/>
            <a:ext cx="1745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pytest 9.0.3 · 8 模块 · 0 失败</a:t>
            </a:r>
          </a:p>
        </p:txBody>
      </p:sp>
      <p:sp>
        <p:nvSpPr>
          <p:cNvPr id="81" name="Rectangle 81"/>
          <p:cNvSpPr/>
          <p:nvPr/>
        </p:nvSpPr>
        <p:spPr>
          <a:xfrm>
            <a:off x="6953250" y="3333750"/>
            <a:ext cx="44767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2" name="Ellipse 82"/>
          <p:cNvSpPr/>
          <p:nvPr/>
        </p:nvSpPr>
        <p:spPr>
          <a:xfrm>
            <a:off x="7038975" y="3438525"/>
            <a:ext cx="304800" cy="304800"/>
          </a:xfrm>
          <a:prstGeom prst="ellipse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7056750" y="3525202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2-3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700962" y="3431381"/>
            <a:ext cx="15407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次 LLM 调用 / 次查询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703820" y="3636645"/>
            <a:ext cx="10309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从 5 次降至 2-3 次</a:t>
            </a:r>
          </a:p>
        </p:txBody>
      </p:sp>
      <p:sp>
        <p:nvSpPr>
          <p:cNvPr id="86" name="Rectangle 86"/>
          <p:cNvSpPr/>
          <p:nvPr/>
        </p:nvSpPr>
        <p:spPr>
          <a:xfrm>
            <a:off x="6953250" y="3952875"/>
            <a:ext cx="44767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7" name="Ellipse 87"/>
          <p:cNvSpPr/>
          <p:nvPr/>
        </p:nvSpPr>
        <p:spPr>
          <a:xfrm>
            <a:off x="7038975" y="4057650"/>
            <a:ext cx="304800" cy="3048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7044478" y="4160520"/>
            <a:ext cx="2937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284C7"/>
                </a:solidFill>
                <a:latin typeface="Arial"/>
                <a:ea typeface="Microsoft YaHei"/>
                <a:cs typeface="Arial"/>
              </a:rPr>
              <a:t>O(1)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7653338" y="40505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单文件上传复杂度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656195" y="4255770"/>
            <a:ext cx="10369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从 O(N) 降至 O(1)</a:t>
            </a:r>
          </a:p>
        </p:txBody>
      </p:sp>
      <p:sp>
        <p:nvSpPr>
          <p:cNvPr id="91" name="Rectangle 91"/>
          <p:cNvSpPr/>
          <p:nvPr/>
        </p:nvSpPr>
        <p:spPr>
          <a:xfrm>
            <a:off x="6953250" y="4667250"/>
            <a:ext cx="4476750" cy="762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9019818" y="4831556"/>
            <a:ext cx="343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092482" y="5076349"/>
            <a:ext cx="41982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8 阶段持续迭代，从基础原型演进为工程完备的生产级多智能体 RAG 系统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1296483" y="657844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13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226242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配置与环境变量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25259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 个环境变量 · .env.example 模板驱动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57250"/>
            <a:ext cx="11049000" cy="323850"/>
          </a:xfrm>
          <a:prstGeom prst="roundRect">
            <a:avLst>
              <a:gd name="adj" fmla="val 17647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4868" y="9710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变量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26118" y="9710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必填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73868" y="9710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说明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60118" y="971074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默认值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219200"/>
            <a:ext cx="1104900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21920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44868" y="13806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DEEPSEEK_API_KEY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238500" y="1381125"/>
            <a:ext cx="342900" cy="1905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367706" y="1425416"/>
            <a:ext cx="844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72915" y="137255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DeepSeek API 密钥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60118" y="138064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—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752600"/>
            <a:ext cx="11049000" cy="4953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4868" y="1914049"/>
            <a:ext cx="78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LLM_MODEL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238500" y="1914525"/>
            <a:ext cx="342900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289459" y="195881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72915" y="1905952"/>
            <a:ext cx="3786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LLM 模型名（provider/model 格式），切换模型无需改代码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60118" y="1914049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deepseek/deepseek-chat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2286000"/>
            <a:ext cx="1104900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4868" y="2447449"/>
            <a:ext cx="10076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TAVILY_API_KEY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238500" y="2447925"/>
            <a:ext cx="342900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289459" y="249221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72915" y="2439352"/>
            <a:ext cx="28340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Tavily 联网搜索密钥，不填则仅使用本地 RAG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60118" y="244744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—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2819400"/>
            <a:ext cx="11049000" cy="4953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4868" y="2980849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FLASK_SECRET_KEY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238500" y="2981325"/>
            <a:ext cx="342900" cy="1905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35940" y="3025616"/>
            <a:ext cx="1480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✅*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72915" y="2972752"/>
            <a:ext cx="12588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Flask 会话签名密钥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60118" y="298084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—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352800"/>
            <a:ext cx="1104900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44868" y="3514249"/>
            <a:ext cx="8711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WEB_UI_PORT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238500" y="3514725"/>
            <a:ext cx="342900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89459" y="355901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72915" y="3506152"/>
            <a:ext cx="10487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Web UI 监听端口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60118" y="3514249"/>
            <a:ext cx="310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7860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3886200"/>
            <a:ext cx="11049000" cy="4953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4868" y="4047649"/>
            <a:ext cx="8506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FLASK_DEBUG</a:t>
            </a:r>
          </a:p>
        </p:txBody>
      </p:sp>
      <p:sp>
        <p:nvSpPr>
          <p:cNvPr id="44" name="Rectangle 44"/>
          <p:cNvSpPr/>
          <p:nvPr/>
        </p:nvSpPr>
        <p:spPr>
          <a:xfrm>
            <a:off x="3238500" y="4048125"/>
            <a:ext cx="342900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289459" y="409241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可选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72915" y="4039552"/>
            <a:ext cx="24419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调试模式开关（1/0），生产环境建议 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60118" y="404764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619625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842010" y="48044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快速配置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2962" y="5098256"/>
            <a:ext cx="15962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E40AF"/>
                </a:solidFill>
                <a:latin typeface="Consolas"/>
                <a:ea typeface="Microsoft YaHei"/>
                <a:cs typeface="Consolas"/>
              </a:rPr>
              <a:t>cp .env.example .env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3915" y="5392102"/>
            <a:ext cx="12588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编辑 .env 填入密钥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57250" y="5667375"/>
            <a:ext cx="4762500" cy="342900"/>
          </a:xfrm>
          <a:prstGeom prst="roundRect">
            <a:avLst>
              <a:gd name="adj" fmla="val 16667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2104150" y="5782628"/>
            <a:ext cx="22687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pip install -r requirements.txt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57250" y="6096000"/>
            <a:ext cx="2190750" cy="3429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314462" y="6211252"/>
            <a:ext cx="12763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python web_ui.py</a:t>
            </a:r>
          </a:p>
        </p:txBody>
      </p:sp>
      <p:sp>
        <p:nvSpPr>
          <p:cNvPr id="56" name="Rectangle 56"/>
          <p:cNvSpPr/>
          <p:nvPr/>
        </p:nvSpPr>
        <p:spPr>
          <a:xfrm>
            <a:off x="3190875" y="6096000"/>
            <a:ext cx="2428875" cy="34290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3843247" y="6211252"/>
            <a:ext cx="11146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python main.py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286500" y="4619625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59" name="Freeform 59"/>
          <p:cNvSpPr/>
          <p:nvPr/>
        </p:nvSpPr>
        <p:spPr>
          <a:xfrm>
            <a:off x="6572250" y="4905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78581"/>
                </a:moveTo>
                <a:cubicBezTo>
                  <a:pt x="228600" y="121981"/>
                  <a:pt x="193418" y="157162"/>
                  <a:pt x="150019" y="157162"/>
                </a:cubicBezTo>
                <a:lnTo>
                  <a:pt x="100012" y="157162"/>
                </a:lnTo>
                <a:lnTo>
                  <a:pt x="100012" y="185738"/>
                </a:lnTo>
                <a:lnTo>
                  <a:pt x="71438" y="185738"/>
                </a:lnTo>
                <a:lnTo>
                  <a:pt x="71438" y="214312"/>
                </a:lnTo>
                <a:lnTo>
                  <a:pt x="57150" y="228600"/>
                </a:lnTo>
                <a:lnTo>
                  <a:pt x="0" y="228600"/>
                </a:lnTo>
                <a:lnTo>
                  <a:pt x="0" y="171450"/>
                </a:lnTo>
                <a:lnTo>
                  <a:pt x="73774" y="97676"/>
                </a:lnTo>
                <a:cubicBezTo>
                  <a:pt x="72248" y="91563"/>
                  <a:pt x="71438" y="85167"/>
                  <a:pt x="71438" y="78581"/>
                </a:cubicBezTo>
                <a:cubicBezTo>
                  <a:pt x="71438" y="35182"/>
                  <a:pt x="106619" y="0"/>
                  <a:pt x="150019" y="0"/>
                </a:cubicBezTo>
                <a:cubicBezTo>
                  <a:pt x="193418" y="0"/>
                  <a:pt x="228600" y="35182"/>
                  <a:pt x="228600" y="78581"/>
                </a:cubicBezTo>
                <a:close/>
                <a:moveTo>
                  <a:pt x="185738" y="57150"/>
                </a:moveTo>
                <a:cubicBezTo>
                  <a:pt x="185738" y="65041"/>
                  <a:pt x="179341" y="71438"/>
                  <a:pt x="171450" y="71438"/>
                </a:cubicBezTo>
                <a:cubicBezTo>
                  <a:pt x="163559" y="71438"/>
                  <a:pt x="157162" y="65041"/>
                  <a:pt x="157162" y="57150"/>
                </a:cubicBezTo>
                <a:cubicBezTo>
                  <a:pt x="157162" y="49259"/>
                  <a:pt x="163559" y="42862"/>
                  <a:pt x="171450" y="42862"/>
                </a:cubicBezTo>
                <a:cubicBezTo>
                  <a:pt x="179341" y="42862"/>
                  <a:pt x="185738" y="49259"/>
                  <a:pt x="185738" y="57150"/>
                </a:cubicBezTo>
                <a:close/>
              </a:path>
            </a:pathLst>
          </a:custGeom>
          <a:solidFill>
            <a:srgbClr val="1E40A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890385" y="49472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安全建议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558915" y="5296852"/>
            <a:ext cx="31980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DEEPSEEK_API_KEY 和 TAVILY_API_KEY 为敏感信息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58915" y="5554028"/>
            <a:ext cx="29390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.env 已加入 .gitignore，切勿提交到版本控制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58915" y="5811202"/>
            <a:ext cx="38071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FLASK_SECRET_KEY *: Web UI 模式必填，用于 session 签名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558915" y="6068378"/>
            <a:ext cx="1727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生产环境：FLASK_DEBUG=0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296483" y="657844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14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119062"/>
            <a:ext cx="163234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启动与运行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191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553402"/>
            <a:ext cx="30090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 步启动 · Web UI 推荐 · CLI 备选 · 测试即就绪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905500" cy="5715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904875"/>
            <a:ext cx="5905500" cy="38100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71575"/>
            <a:ext cx="5905500" cy="1143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23900" y="1038225"/>
            <a:ext cx="114300" cy="1143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14400" y="1038225"/>
            <a:ext cx="114300" cy="1143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04900" y="1038225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245334" y="1037749"/>
            <a:ext cx="5578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Terminal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962" y="1450181"/>
            <a:ext cx="13037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# Step 1: 安装依赖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962" y="1783556"/>
            <a:ext cx="1935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cp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3962" y="1783556"/>
            <a:ext cx="1386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.env.example .env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98570" y="180784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# 编辑填入密钥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2962" y="2050256"/>
            <a:ext cx="2386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pip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3962" y="2050256"/>
            <a:ext cx="20613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install -r requirements.txt</a:t>
            </a:r>
          </a:p>
        </p:txBody>
      </p:sp>
      <p:sp>
        <p:nvSpPr>
          <p:cNvPr id="19" name="Line 19"/>
          <p:cNvSpPr/>
          <p:nvPr/>
        </p:nvSpPr>
        <p:spPr>
          <a:xfrm>
            <a:off x="857250" y="238125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2962" y="2545556"/>
            <a:ext cx="20463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# Step 2: 启动 Web UI (推荐)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2962" y="2878931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python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4962" y="2878931"/>
            <a:ext cx="7636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web_ui.py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8570" y="2903220"/>
            <a:ext cx="15530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# → http://localhost:7860</a:t>
            </a:r>
          </a:p>
        </p:txBody>
      </p:sp>
      <p:sp>
        <p:nvSpPr>
          <p:cNvPr id="24" name="Line 24"/>
          <p:cNvSpPr/>
          <p:nvPr/>
        </p:nvSpPr>
        <p:spPr>
          <a:xfrm>
            <a:off x="857250" y="32385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42962" y="3402806"/>
            <a:ext cx="1806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# Step 3: CLI 模式 (备选)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962" y="3736181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6F1"/>
                </a:solidFill>
                <a:latin typeface="Consolas"/>
                <a:ea typeface="Microsoft YaHei"/>
                <a:cs typeface="Consolas"/>
              </a:rPr>
              <a:t>python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04962" y="3736181"/>
            <a:ext cx="5986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main.py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98570" y="3760470"/>
            <a:ext cx="1817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# find/history/sessions/cache</a:t>
            </a:r>
          </a:p>
        </p:txBody>
      </p:sp>
      <p:sp>
        <p:nvSpPr>
          <p:cNvPr id="29" name="Line 29"/>
          <p:cNvSpPr/>
          <p:nvPr/>
        </p:nvSpPr>
        <p:spPr>
          <a:xfrm>
            <a:off x="857250" y="409575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42962" y="4260056"/>
            <a:ext cx="13412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# Step 4: 运行测试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2962" y="4593431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284C7"/>
                </a:solidFill>
                <a:latin typeface="Consolas"/>
                <a:ea typeface="Microsoft YaHei"/>
                <a:cs typeface="Consolas"/>
              </a:rPr>
              <a:t>python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4962" y="4593431"/>
            <a:ext cx="15137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-m pytest tests/ -v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98570" y="4617720"/>
            <a:ext cx="7969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# 131 passed ✓</a:t>
            </a:r>
          </a:p>
        </p:txBody>
      </p:sp>
      <p:sp>
        <p:nvSpPr>
          <p:cNvPr id="34" name="Line 34"/>
          <p:cNvSpPr/>
          <p:nvPr/>
        </p:nvSpPr>
        <p:spPr>
          <a:xfrm>
            <a:off x="857250" y="49530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2962" y="5164931"/>
            <a:ext cx="9061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# 知识库管理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4868" y="5495449"/>
            <a:ext cx="2248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knowledge/*.pdf / *.pptx / *.docx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4868" y="5733574"/>
            <a:ext cx="21245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→ Web UI 上传或放入目录后重建索引</a:t>
            </a:r>
          </a:p>
        </p:txBody>
      </p:sp>
      <p:sp>
        <p:nvSpPr>
          <p:cNvPr id="38" name="Line 38"/>
          <p:cNvSpPr/>
          <p:nvPr/>
        </p:nvSpPr>
        <p:spPr>
          <a:xfrm>
            <a:off x="857250" y="6048375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42962" y="6212681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81088" y="6212681"/>
            <a:ext cx="32014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System ready. Open http://localhost:7860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42760" y="10610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运行说明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6858000" y="1381125"/>
            <a:ext cx="4762500" cy="952500"/>
            <a:chOff x="6858000" y="1381125"/>
            <a:chExt cx="4762500" cy="952500"/>
          </a:xfrm>
        </p:grpSpPr>
        <p:sp>
          <p:nvSpPr>
            <p:cNvPr id="42" name="Rectangle 42"/>
            <p:cNvSpPr/>
            <p:nvPr/>
          </p:nvSpPr>
          <p:spPr>
            <a:xfrm>
              <a:off x="6858000" y="1381125"/>
              <a:ext cx="4762500" cy="952500"/>
            </a:xfrm>
            <a:prstGeom prst="roundRect">
              <a:avLst>
                <a:gd name="adj" fmla="val 10000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972300" y="1590675"/>
              <a:ext cx="342900" cy="3429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08362" y="1696402"/>
              <a:ext cx="70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15212" y="15454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环境准备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17118" y="1780699"/>
              <a:ext cx="34896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Python 3.11+ 环境，复制 .env.example → .env 并填入密钥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17118" y="1990249"/>
              <a:ext cx="37107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DEEPSEEK_API_KEY 必填，TAVILY_API_KEY 为可选（联网搜索）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858000" y="2476500"/>
            <a:ext cx="4762500" cy="952500"/>
            <a:chOff x="6858000" y="2476500"/>
            <a:chExt cx="4762500" cy="952500"/>
          </a:xfrm>
        </p:grpSpPr>
        <p:sp>
          <p:nvSpPr>
            <p:cNvPr id="49" name="Rectangle 49"/>
            <p:cNvSpPr/>
            <p:nvPr/>
          </p:nvSpPr>
          <p:spPr>
            <a:xfrm>
              <a:off x="6858000" y="2476500"/>
              <a:ext cx="4762500" cy="952500"/>
            </a:xfrm>
            <a:prstGeom prst="roundRect">
              <a:avLst>
                <a:gd name="adj" fmla="val 10000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972300" y="2686050"/>
              <a:ext cx="342900" cy="3429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89985" y="279177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15212" y="2640806"/>
              <a:ext cx="14935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Web UI 启动（推荐）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17118" y="2876074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python web_ui.py → http://localhost:7860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17118" y="3085624"/>
              <a:ext cx="34506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SSE 实时进度 · 4 步进度条 · Markdown 渲染 · 多会话管理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858000" y="3571875"/>
            <a:ext cx="4762500" cy="952500"/>
            <a:chOff x="6858000" y="3571875"/>
            <a:chExt cx="4762500" cy="952500"/>
          </a:xfrm>
        </p:grpSpPr>
        <p:sp>
          <p:nvSpPr>
            <p:cNvPr id="56" name="Rectangle 56"/>
            <p:cNvSpPr/>
            <p:nvPr/>
          </p:nvSpPr>
          <p:spPr>
            <a:xfrm>
              <a:off x="6858000" y="3571875"/>
              <a:ext cx="4762500" cy="952500"/>
            </a:xfrm>
            <a:prstGeom prst="roundRect">
              <a:avLst>
                <a:gd name="adj" fmla="val 10000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972300" y="3781425"/>
              <a:ext cx="342900" cy="34290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89985" y="388715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15212" y="3736181"/>
              <a:ext cx="12414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CLI 模式（备选）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17118" y="3971449"/>
              <a:ext cx="38017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python main.py — 支持 find / history / sessions / cache 命令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17118" y="41809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适合自动化脚本或服务器环境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858000" y="4667250"/>
            <a:ext cx="4762500" cy="952500"/>
            <a:chOff x="6858000" y="4667250"/>
            <a:chExt cx="4762500" cy="952500"/>
          </a:xfrm>
        </p:grpSpPr>
        <p:sp>
          <p:nvSpPr>
            <p:cNvPr id="63" name="Rectangle 63"/>
            <p:cNvSpPr/>
            <p:nvPr/>
          </p:nvSpPr>
          <p:spPr>
            <a:xfrm>
              <a:off x="6858000" y="4667250"/>
              <a:ext cx="4762500" cy="952500"/>
            </a:xfrm>
            <a:prstGeom prst="roundRect">
              <a:avLst>
                <a:gd name="adj" fmla="val 10000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6972300" y="4876800"/>
              <a:ext cx="342900" cy="3429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89985" y="498252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15212" y="4831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测试验证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17118" y="5066824"/>
              <a:ext cx="3158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python -m pytest tests/ -v → 131 项测试，全部通过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17118" y="5276374"/>
              <a:ext cx="29501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pytest 9.0.3 · 8 个测试模块 · 覆盖完整功能链路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6858000" y="5810250"/>
            <a:ext cx="4762500" cy="666750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8177749" y="5950268"/>
            <a:ext cx="21230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http://localhost:7860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307003" y="6228874"/>
            <a:ext cx="18644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打开浏览器即用 · 无需额外配置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296483" y="657844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15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40A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6366F1"/>
              </a:gs>
            </a:gsLst>
            <a:lin ang="270000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37848" y="295275"/>
            <a:ext cx="91630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总结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0" y="742950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E40AF"/>
              </a:gs>
              <a:gs pos="100000">
                <a:srgbClr val="6366F1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507468" y="886778"/>
            <a:ext cx="31770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LectureCrewLLM — 完整的多智能体 RAG 问答系统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285875"/>
            <a:ext cx="5334000" cy="857250"/>
            <a:chOff x="571500" y="1285875"/>
            <a:chExt cx="5334000" cy="857250"/>
          </a:xfrm>
        </p:grpSpPr>
        <p:sp>
          <p:nvSpPr>
            <p:cNvPr id="8" name="Rectangle 8"/>
            <p:cNvSpPr/>
            <p:nvPr/>
          </p:nvSpPr>
          <p:spPr>
            <a:xfrm>
              <a:off x="571500" y="1285875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285875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71525" y="1485900"/>
              <a:ext cx="457200" cy="457200"/>
            </a:xfrm>
            <a:prstGeom prst="ellipse">
              <a:avLst/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4626" y="1625918"/>
              <a:ext cx="909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3980" y="14258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全链路优化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6838" y="168830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从用户提问到答案生成，每一层都有针对性优化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8742" y="1914049"/>
              <a:ext cx="33466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~24s → ~8s · 5 次 LLM → 2-3 次 · CrossEncoder → BM25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1285875"/>
            <a:ext cx="5334000" cy="857250"/>
            <a:chOff x="6286500" y="1285875"/>
            <a:chExt cx="5334000" cy="857250"/>
          </a:xfrm>
        </p:grpSpPr>
        <p:sp>
          <p:nvSpPr>
            <p:cNvPr id="16" name="Rectangle 16"/>
            <p:cNvSpPr/>
            <p:nvPr/>
          </p:nvSpPr>
          <p:spPr>
            <a:xfrm>
              <a:off x="6286500" y="1285875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86500" y="1285875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486525" y="1485900"/>
              <a:ext cx="457200" cy="4572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45999" y="16259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78980" y="14258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多模态支持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81838" y="1688306"/>
              <a:ext cx="3396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文本 + 图片 + 表格 + 网页搜索结果统一向量化检索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83742" y="1914049"/>
              <a:ext cx="2930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PDF/PPTX/DOCX · BLIP 图片描述 · 384 维 MiniLM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2333625"/>
            <a:ext cx="5334000" cy="857250"/>
            <a:chOff x="571500" y="2333625"/>
            <a:chExt cx="5334000" cy="857250"/>
          </a:xfrm>
        </p:grpSpPr>
        <p:sp>
          <p:nvSpPr>
            <p:cNvPr id="24" name="Rectangle 24"/>
            <p:cNvSpPr/>
            <p:nvPr/>
          </p:nvSpPr>
          <p:spPr>
            <a:xfrm>
              <a:off x="571500" y="2333625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" y="2333625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71525" y="2533650"/>
              <a:ext cx="457200" cy="457200"/>
            </a:xfrm>
            <a:prstGeom prst="ellipse">
              <a:avLst/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0999" y="26736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63980" y="2473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智能缓存体系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66838" y="273605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4 级缓存 + 相似度回退匹配，最大化查询复用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68742" y="2961799"/>
              <a:ext cx="35222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答案 30 天 TTL · 搜索 1h TTL · jieba 语义匹配 · MD5 归一化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2333625"/>
            <a:ext cx="5334000" cy="857250"/>
            <a:chOff x="6286500" y="2333625"/>
            <a:chExt cx="5334000" cy="857250"/>
          </a:xfrm>
        </p:grpSpPr>
        <p:sp>
          <p:nvSpPr>
            <p:cNvPr id="32" name="Rectangle 32"/>
            <p:cNvSpPr/>
            <p:nvPr/>
          </p:nvSpPr>
          <p:spPr>
            <a:xfrm>
              <a:off x="6286500" y="2333625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2333625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486525" y="2533650"/>
              <a:ext cx="457200" cy="457200"/>
            </a:xfrm>
            <a:prstGeom prst="ellipse">
              <a:avLst/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5999" y="26736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78980" y="2473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工程完备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81838" y="2736056"/>
              <a:ext cx="33664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131 项测试、8 测试模块、SVG 架构图、中英文文档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83742" y="2961799"/>
              <a:ext cx="3340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pytest 9.0.3 · LLM_MODEL 统一管理 · 零代码切换模型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429000" y="3381375"/>
            <a:ext cx="5334000" cy="857250"/>
            <a:chOff x="3429000" y="3381375"/>
            <a:chExt cx="5334000" cy="857250"/>
          </a:xfrm>
        </p:grpSpPr>
        <p:sp>
          <p:nvSpPr>
            <p:cNvPr id="40" name="Rectangle 40"/>
            <p:cNvSpPr/>
            <p:nvPr/>
          </p:nvSpPr>
          <p:spPr>
            <a:xfrm>
              <a:off x="3429000" y="3381375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429000" y="3381375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629025" y="3581400"/>
              <a:ext cx="457200" cy="4572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788499" y="3721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284C7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21480" y="35213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实战可部署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24338" y="3783806"/>
              <a:ext cx="36890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增量索引 · 单文件快速上传 · SSE 实时反馈 · 优雅降级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26242" y="4009549"/>
              <a:ext cx="31646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O(1) 上传 · 批量 BLIP · 路径穿越防护 · 缓存自动清理</a:t>
              </a:r>
            </a:p>
          </p:txBody>
        </p:sp>
      </p:grpSp>
      <p:sp>
        <p:nvSpPr>
          <p:cNvPr id="48" name="Rectangle 48"/>
          <p:cNvSpPr/>
          <p:nvPr/>
        </p:nvSpPr>
        <p:spPr>
          <a:xfrm>
            <a:off x="571500" y="4572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grpSp>
        <p:nvGrpSpPr>
          <p:cNvPr id="53" name="Group 53"/>
          <p:cNvGrpSpPr/>
          <p:nvPr/>
        </p:nvGrpSpPr>
        <p:grpSpPr>
          <a:xfrm>
            <a:off x="571500" y="4857750"/>
            <a:ext cx="2524125" cy="804862"/>
            <a:chOff x="571500" y="4857750"/>
            <a:chExt cx="2524125" cy="804862"/>
          </a:xfrm>
        </p:grpSpPr>
        <p:sp>
          <p:nvSpPr>
            <p:cNvPr id="49" name="Rectangle 49"/>
            <p:cNvSpPr/>
            <p:nvPr/>
          </p:nvSpPr>
          <p:spPr>
            <a:xfrm>
              <a:off x="571500" y="4857750"/>
              <a:ext cx="2524125" cy="71437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7242" y="5038249"/>
              <a:ext cx="681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Agent 角色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1050" y="5205412"/>
              <a:ext cx="230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463992" y="5343049"/>
              <a:ext cx="284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协同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333750" y="4857750"/>
            <a:ext cx="2524125" cy="804862"/>
            <a:chOff x="3333750" y="4857750"/>
            <a:chExt cx="2524125" cy="804862"/>
          </a:xfrm>
        </p:grpSpPr>
        <p:sp>
          <p:nvSpPr>
            <p:cNvPr id="54" name="Rectangle 54"/>
            <p:cNvSpPr/>
            <p:nvPr/>
          </p:nvSpPr>
          <p:spPr>
            <a:xfrm>
              <a:off x="3333750" y="4857750"/>
              <a:ext cx="2524125" cy="71437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559492" y="5038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响应时间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543300" y="5205412"/>
              <a:ext cx="5769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~8s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59618" y="5343049"/>
              <a:ext cx="4668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3× 加速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096000" y="4857750"/>
            <a:ext cx="2524125" cy="804862"/>
            <a:chOff x="6096000" y="4857750"/>
            <a:chExt cx="2524125" cy="804862"/>
          </a:xfrm>
        </p:grpSpPr>
        <p:sp>
          <p:nvSpPr>
            <p:cNvPr id="59" name="Rectangle 59"/>
            <p:cNvSpPr/>
            <p:nvPr/>
          </p:nvSpPr>
          <p:spPr>
            <a:xfrm>
              <a:off x="6096000" y="4857750"/>
              <a:ext cx="2524125" cy="71437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21742" y="5038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测试覆盖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05550" y="5205412"/>
              <a:ext cx="4194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131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21868" y="534304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项 0 失败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858250" y="4857750"/>
            <a:ext cx="2762250" cy="804862"/>
            <a:chOff x="8858250" y="4857750"/>
            <a:chExt cx="2762250" cy="804862"/>
          </a:xfrm>
        </p:grpSpPr>
        <p:sp>
          <p:nvSpPr>
            <p:cNvPr id="64" name="Rectangle 64"/>
            <p:cNvSpPr/>
            <p:nvPr/>
          </p:nvSpPr>
          <p:spPr>
            <a:xfrm>
              <a:off x="8858250" y="4857750"/>
              <a:ext cx="2762250" cy="71437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083992" y="5038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迭代阶段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67800" y="5205412"/>
              <a:ext cx="230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50742" y="5343049"/>
              <a:ext cx="284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阶段</a:t>
              </a:r>
            </a:p>
          </p:txBody>
        </p:sp>
      </p:grpSp>
      <p:sp>
        <p:nvSpPr>
          <p:cNvPr id="69" name="Rectangle 69"/>
          <p:cNvSpPr/>
          <p:nvPr/>
        </p:nvSpPr>
        <p:spPr>
          <a:xfrm>
            <a:off x="6096000" y="5810250"/>
            <a:ext cx="9525" cy="2857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760720" y="615696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感谢观看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395359" y="6475095"/>
            <a:ext cx="34012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Generated: May 2026 | Tests: 131/131 passing | Python 3.11+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296483" y="657844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16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