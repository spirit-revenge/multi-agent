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314" r:id="rId4"/>
    <p:sldId id="371" r:id="rId5"/>
    <p:sldId id="374" r:id="rId6"/>
    <p:sldId id="292" r:id="rId7"/>
    <p:sldId id="384" r:id="rId8"/>
    <p:sldId id="386" r:id="rId9"/>
    <p:sldId id="394" r:id="rId10"/>
    <p:sldId id="396" r:id="rId11"/>
    <p:sldId id="397" r:id="rId12"/>
    <p:sldId id="398" r:id="rId13"/>
    <p:sldId id="370" r:id="rId14"/>
    <p:sldId id="369" r:id="rId15"/>
    <p:sldId id="5464" r:id="rId16"/>
    <p:sldId id="399" r:id="rId17"/>
    <p:sldId id="372" r:id="rId18"/>
    <p:sldId id="373" r:id="rId19"/>
    <p:sldId id="400" r:id="rId20"/>
    <p:sldId id="379" r:id="rId21"/>
    <p:sldId id="381" r:id="rId22"/>
    <p:sldId id="5457" r:id="rId23"/>
    <p:sldId id="5426" r:id="rId24"/>
    <p:sldId id="5454" r:id="rId25"/>
    <p:sldId id="376" r:id="rId26"/>
    <p:sldId id="401" r:id="rId27"/>
    <p:sldId id="385" r:id="rId28"/>
    <p:sldId id="377" r:id="rId29"/>
    <p:sldId id="378" r:id="rId30"/>
    <p:sldId id="375" r:id="rId31"/>
    <p:sldId id="5456" r:id="rId32"/>
    <p:sldId id="5455" r:id="rId33"/>
    <p:sldId id="5458" r:id="rId34"/>
    <p:sldId id="5461" r:id="rId35"/>
    <p:sldId id="5460" r:id="rId36"/>
    <p:sldId id="5462" r:id="rId37"/>
    <p:sldId id="5459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4T13:11: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0.000 1.000 24575,'0.000'0.000'-8191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23CC-6255-45CE-A1A5-BB548B1BFF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Spring</a:t>
            </a:r>
            <a:r>
              <a:rPr lang="en-US" dirty="0"/>
              <a:t>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A0A9-AEE8-4961-892A-9A031FCB25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9839-AD17-48C6-A9E5-7529F43DB7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77ED-93D2-4135-90D2-96EC34F4A46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D785-6FE3-4B2F-A11C-2C762578403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842AA-8B4C-4491-AA39-C4836CBD996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26F5-E3B9-48DC-B915-CD65C8127A8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6CCC1-0812-4EF1-8655-87F1C118CD2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5A77-462C-42E3-9579-5C7E5B311DA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5B80C-B3ED-4CA8-96F6-957172211A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C9F8-F191-4537-AA1F-0DD4E7B5C96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1C677-D615-4C7C-AA52-81F40B6A7C3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5D405-5EAB-44DE-AB4D-07DBCDD93FC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90042" y="249909"/>
            <a:ext cx="8211914" cy="746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5E735-2B19-4772-AED0-FB1034D4E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9EA1D-6837-434B-8583-A8C8D4EE4C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点击编辑主标题样式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点击编辑主文本样式</a:t>
            </a:r>
            <a:endParaRPr lang="en-US" altLang="ko-KR" dirty="0"/>
          </a:p>
          <a:p>
            <a:pPr lvl="1"/>
            <a:r>
              <a:rPr lang="en-US" altLang="ko-KR" dirty="0"/>
              <a:t>二级标题</a:t>
            </a:r>
            <a:endParaRPr lang="en-US" altLang="ko-KR" dirty="0"/>
          </a:p>
          <a:p>
            <a:pPr lvl="2"/>
            <a:r>
              <a:rPr lang="en-US" altLang="ko-KR" dirty="0"/>
              <a:t>第三级</a:t>
            </a:r>
            <a:endParaRPr lang="en-US" altLang="ko-KR" dirty="0"/>
          </a:p>
          <a:p>
            <a:pPr lvl="3"/>
            <a:r>
              <a:rPr lang="en-US" altLang="ko-KR" dirty="0"/>
              <a:t>第四级</a:t>
            </a:r>
            <a:endParaRPr lang="en-US" altLang="ko-KR" dirty="0"/>
          </a:p>
          <a:p>
            <a:pPr lvl="4"/>
            <a:r>
              <a:rPr lang="en-US" altLang="ko-KR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25125-29B6-4294-A02A-6672D0F488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2025年</a:t>
            </a:r>
            <a:r>
              <a:rPr lang="en-US" altLang="zh-CN" dirty="0"/>
              <a:t>春季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64D4F-2754-45B5-A84F-43D41F98A5C0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7415683" cy="185738"/>
          </a:xfrm>
          <a:prstGeom prst="rect">
            <a:avLst/>
          </a:prstGeom>
          <a:solidFill>
            <a:srgbClr val="0F66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415687" y="0"/>
            <a:ext cx="4776316" cy="185738"/>
          </a:xfrm>
          <a:prstGeom prst="rect">
            <a:avLst/>
          </a:prstGeom>
          <a:solidFill>
            <a:srgbClr val="BB8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8" name="Picture 1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558" y="237986"/>
            <a:ext cx="1767839" cy="4664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hyperlink" Target="mailto:maxiaohan@ajou.ac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29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hyperlink" Target="https://andreban.github.io/temperature-topk-visualizer/" TargetMode="External"/><Relationship Id="rId1" Type="http://schemas.openxmlformats.org/officeDocument/2006/relationships/image" Target="../media/image3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hyperlink" Target="https://www.redcrab-software.com/en/Calculator/Softmax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hyperlink" Target="https://www.redcrab-software.com/en/Calculator/Softmax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https://www.redcrab-software.com/en/Calculator/Softmax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https://www.redcrab-software.com/en/Calculator/Softmax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hyperlink" Target="https://www.redcrab-software.com/en/Calculator/Softmax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zh-CN" altLang="en-US" dirty="0"/>
              <a:t>大语言模型及应用</a:t>
            </a:r>
            <a:endParaRPr lang="zh-CN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 lnSpcReduction="10000"/>
          </a:bodyPr>
          <a:lstStyle/>
          <a:p>
            <a:r>
              <a:rPr lang="en-US" sz="1700"/>
              <a:t>Instructor: X</a:t>
            </a:r>
            <a:r>
              <a:rPr lang="en-US" altLang="zh-CN" sz="1700"/>
              <a:t>iaohan Ma</a:t>
            </a:r>
            <a:r>
              <a:rPr lang="en-US" sz="1700"/>
              <a:t>(</a:t>
            </a:r>
            <a:r>
              <a:rPr lang="zh-CN" altLang="en-US" sz="1700"/>
              <a:t>马晓寒</a:t>
            </a:r>
            <a:r>
              <a:rPr lang="en-US" altLang="zh-CN" sz="1700"/>
              <a:t>),</a:t>
            </a:r>
            <a:r>
              <a:rPr lang="zh-CN" altLang="en-US" sz="1700"/>
              <a:t> </a:t>
            </a:r>
            <a:r>
              <a:rPr lang="en-US" altLang="zh-CN" sz="1700"/>
              <a:t>Ph.D.</a:t>
            </a:r>
            <a:endParaRPr lang="en-US" sz="1700"/>
          </a:p>
          <a:p>
            <a:r>
              <a:rPr lang="en-US" sz="1700"/>
              <a:t>Graduate School of Information and Communication Technology, </a:t>
            </a:r>
            <a:endParaRPr lang="en-US" sz="1700"/>
          </a:p>
          <a:p>
            <a:r>
              <a:rPr lang="en-US" sz="1700"/>
              <a:t>Ajou University, Korea</a:t>
            </a:r>
            <a:endParaRPr lang="en-US" sz="1700"/>
          </a:p>
          <a:p>
            <a:r>
              <a:rPr lang="en-US" altLang="zh-CN" sz="1700">
                <a:hlinkClick r:id="rId1"/>
              </a:rPr>
              <a:t>maxiaohan@ajou.ac.kr</a:t>
            </a:r>
            <a:r>
              <a:rPr lang="en-US" altLang="zh-CN" sz="1700"/>
              <a:t> </a:t>
            </a:r>
            <a:endParaRPr lang="en-US" sz="170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4F386B74-4664-4A73-928D-C31D01FB895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Fall 2025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71564D4F-2754-45B5-A84F-43D41F98A5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4349" y="110247"/>
            <a:ext cx="644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大语言模型架构</a:t>
            </a:r>
            <a:endParaRPr lang="zh-CN" altLang="en-US" sz="3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032" y="927535"/>
            <a:ext cx="7391936" cy="57434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058" y="0"/>
            <a:ext cx="7795688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7280" y="1107877"/>
            <a:ext cx="3666744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/>
              <a:t>输入</a:t>
            </a:r>
            <a:r>
              <a:rPr lang="en-US" altLang="zh-CN"/>
              <a:t>token</a:t>
            </a:r>
            <a:r>
              <a:rPr lang="zh-CN" altLang="en-US"/>
              <a:t>的数量与输出</a:t>
            </a:r>
            <a:r>
              <a:rPr lang="en-US" altLang="zh-CN"/>
              <a:t>token</a:t>
            </a:r>
            <a:r>
              <a:rPr lang="zh-CN" altLang="en-US"/>
              <a:t>的数量相匹配；因此，第一个</a:t>
            </a:r>
            <a:r>
              <a:rPr lang="en-US" altLang="zh-CN"/>
              <a:t>token</a:t>
            </a:r>
            <a:r>
              <a:rPr lang="zh-CN" altLang="en-US"/>
              <a:t>（“</a:t>
            </a:r>
            <a:r>
              <a:rPr lang="en-US" altLang="zh-CN"/>
              <a:t>Every</a:t>
            </a:r>
            <a:r>
              <a:rPr lang="zh-CN" altLang="en-US"/>
              <a:t>”）将不包含在输出中。</a:t>
            </a:r>
            <a:endParaRPr lang="ko-KR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693408" y="112991"/>
            <a:ext cx="366674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目标是生成下一个单词“</a:t>
            </a:r>
            <a:r>
              <a:rPr lang="en-US" altLang="ko-KR" dirty="0"/>
              <a:t>forward</a:t>
            </a:r>
            <a:r>
              <a:rPr lang="ko-KR" altLang="en-US" dirty="0"/>
              <a:t>”。</a:t>
            </a:r>
            <a:endParaRPr lang="ko-KR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427978" y="1431042"/>
            <a:ext cx="3252214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LLM 为每个输入</a:t>
            </a:r>
            <a:r>
              <a:rPr lang="en-US" altLang="zh-CN" dirty="0"/>
              <a:t>token(</a:t>
            </a:r>
            <a:r>
              <a:rPr lang="zh-CN" altLang="en-US" dirty="0"/>
              <a:t>词向量维度为</a:t>
            </a:r>
            <a:r>
              <a:rPr lang="en-US" altLang="zh-CN" dirty="0"/>
              <a:t>768)</a:t>
            </a:r>
            <a:r>
              <a:rPr lang="ko-KR" altLang="en-US" dirty="0"/>
              <a:t>  返回一个 768 维输出向量。</a:t>
            </a:r>
            <a:endParaRPr lang="ko-KR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427978" y="3354963"/>
            <a:ext cx="4489704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/>
              <a:t>对于最小的 GPT-2 模型，每个嵌入向量由 768 个维组成（仅显示前 2 个维）。</a:t>
            </a:r>
            <a:endParaRPr lang="ko-KR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632761" y="5207466"/>
            <a:ext cx="2727391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我们对输入文本进行标记并将其转换为标记嵌入。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76265" y="524238"/>
            <a:ext cx="2521402" cy="4925746"/>
            <a:chOff x="10514227" y="864507"/>
            <a:chExt cx="4157979" cy="8122920"/>
          </a:xfrm>
        </p:grpSpPr>
        <p:sp>
          <p:nvSpPr>
            <p:cNvPr id="3" name="object 3"/>
            <p:cNvSpPr/>
            <p:nvPr/>
          </p:nvSpPr>
          <p:spPr>
            <a:xfrm>
              <a:off x="10524786" y="1180684"/>
              <a:ext cx="4136390" cy="7700009"/>
            </a:xfrm>
            <a:custGeom>
              <a:avLst/>
              <a:gdLst/>
              <a:ahLst/>
              <a:cxnLst/>
              <a:rect l="l" t="t" r="r" b="b"/>
              <a:pathLst>
                <a:path w="4136390" h="7700009">
                  <a:moveTo>
                    <a:pt x="3634453" y="0"/>
                  </a:moveTo>
                  <a:lnTo>
                    <a:pt x="501906" y="0"/>
                  </a:lnTo>
                  <a:lnTo>
                    <a:pt x="441874" y="569"/>
                  </a:lnTo>
                  <a:lnTo>
                    <a:pt x="388853" y="2116"/>
                  </a:lnTo>
                  <a:lnTo>
                    <a:pt x="342259" y="5127"/>
                  </a:lnTo>
                  <a:lnTo>
                    <a:pt x="301508" y="10091"/>
                  </a:lnTo>
                  <a:lnTo>
                    <a:pt x="235199" y="27833"/>
                  </a:lnTo>
                  <a:lnTo>
                    <a:pt x="188829" y="48687"/>
                  </a:lnTo>
                  <a:lnTo>
                    <a:pt x="146429" y="75782"/>
                  </a:lnTo>
                  <a:lnTo>
                    <a:pt x="108567" y="108552"/>
                  </a:lnTo>
                  <a:lnTo>
                    <a:pt x="75809" y="146431"/>
                  </a:lnTo>
                  <a:lnTo>
                    <a:pt x="48722" y="188853"/>
                  </a:lnTo>
                  <a:lnTo>
                    <a:pt x="27875" y="235251"/>
                  </a:lnTo>
                  <a:lnTo>
                    <a:pt x="10106" y="301533"/>
                  </a:lnTo>
                  <a:lnTo>
                    <a:pt x="5135" y="342278"/>
                  </a:lnTo>
                  <a:lnTo>
                    <a:pt x="2119" y="388870"/>
                  </a:lnTo>
                  <a:lnTo>
                    <a:pt x="570" y="441896"/>
                  </a:lnTo>
                  <a:lnTo>
                    <a:pt x="0" y="501940"/>
                  </a:lnTo>
                  <a:lnTo>
                    <a:pt x="0" y="7197977"/>
                  </a:lnTo>
                  <a:lnTo>
                    <a:pt x="570" y="7258022"/>
                  </a:lnTo>
                  <a:lnTo>
                    <a:pt x="2119" y="7311050"/>
                  </a:lnTo>
                  <a:lnTo>
                    <a:pt x="5135" y="7357645"/>
                  </a:lnTo>
                  <a:lnTo>
                    <a:pt x="10106" y="7398391"/>
                  </a:lnTo>
                  <a:lnTo>
                    <a:pt x="27875" y="7464675"/>
                  </a:lnTo>
                  <a:lnTo>
                    <a:pt x="48722" y="7511073"/>
                  </a:lnTo>
                  <a:lnTo>
                    <a:pt x="75809" y="7553495"/>
                  </a:lnTo>
                  <a:lnTo>
                    <a:pt x="108567" y="7591373"/>
                  </a:lnTo>
                  <a:lnTo>
                    <a:pt x="146429" y="7624141"/>
                  </a:lnTo>
                  <a:lnTo>
                    <a:pt x="188829" y="7651233"/>
                  </a:lnTo>
                  <a:lnTo>
                    <a:pt x="235199" y="7672082"/>
                  </a:lnTo>
                  <a:lnTo>
                    <a:pt x="301508" y="7689825"/>
                  </a:lnTo>
                  <a:lnTo>
                    <a:pt x="342259" y="7694789"/>
                  </a:lnTo>
                  <a:lnTo>
                    <a:pt x="388853" y="7697800"/>
                  </a:lnTo>
                  <a:lnTo>
                    <a:pt x="441874" y="7699347"/>
                  </a:lnTo>
                  <a:lnTo>
                    <a:pt x="501906" y="7699916"/>
                  </a:lnTo>
                  <a:lnTo>
                    <a:pt x="3634453" y="7699916"/>
                  </a:lnTo>
                  <a:lnTo>
                    <a:pt x="3694486" y="7699347"/>
                  </a:lnTo>
                  <a:lnTo>
                    <a:pt x="3747506" y="7697800"/>
                  </a:lnTo>
                  <a:lnTo>
                    <a:pt x="3794100" y="7694789"/>
                  </a:lnTo>
                  <a:lnTo>
                    <a:pt x="3834851" y="7689825"/>
                  </a:lnTo>
                  <a:lnTo>
                    <a:pt x="3901160" y="7672082"/>
                  </a:lnTo>
                  <a:lnTo>
                    <a:pt x="3947575" y="7651233"/>
                  </a:lnTo>
                  <a:lnTo>
                    <a:pt x="3990004" y="7624141"/>
                  </a:lnTo>
                  <a:lnTo>
                    <a:pt x="4027884" y="7591373"/>
                  </a:lnTo>
                  <a:lnTo>
                    <a:pt x="4060651" y="7553495"/>
                  </a:lnTo>
                  <a:lnTo>
                    <a:pt x="4087741" y="7511073"/>
                  </a:lnTo>
                  <a:lnTo>
                    <a:pt x="4108589" y="7464675"/>
                  </a:lnTo>
                  <a:lnTo>
                    <a:pt x="4126291" y="7398391"/>
                  </a:lnTo>
                  <a:lnTo>
                    <a:pt x="4131244" y="7357645"/>
                  </a:lnTo>
                  <a:lnTo>
                    <a:pt x="4134249" y="7311050"/>
                  </a:lnTo>
                  <a:lnTo>
                    <a:pt x="4135792" y="7258022"/>
                  </a:lnTo>
                  <a:lnTo>
                    <a:pt x="4136360" y="7197977"/>
                  </a:lnTo>
                  <a:lnTo>
                    <a:pt x="4136360" y="501940"/>
                  </a:lnTo>
                  <a:lnTo>
                    <a:pt x="4135792" y="441896"/>
                  </a:lnTo>
                  <a:lnTo>
                    <a:pt x="4134249" y="388870"/>
                  </a:lnTo>
                  <a:lnTo>
                    <a:pt x="4131244" y="342278"/>
                  </a:lnTo>
                  <a:lnTo>
                    <a:pt x="4126291" y="301533"/>
                  </a:lnTo>
                  <a:lnTo>
                    <a:pt x="4108589" y="235251"/>
                  </a:lnTo>
                  <a:lnTo>
                    <a:pt x="4087741" y="188853"/>
                  </a:lnTo>
                  <a:lnTo>
                    <a:pt x="4060651" y="146431"/>
                  </a:lnTo>
                  <a:lnTo>
                    <a:pt x="4027884" y="108552"/>
                  </a:lnTo>
                  <a:lnTo>
                    <a:pt x="3990004" y="75782"/>
                  </a:lnTo>
                  <a:lnTo>
                    <a:pt x="3947575" y="48687"/>
                  </a:lnTo>
                  <a:lnTo>
                    <a:pt x="3901160" y="27833"/>
                  </a:lnTo>
                  <a:lnTo>
                    <a:pt x="3834851" y="10091"/>
                  </a:lnTo>
                  <a:lnTo>
                    <a:pt x="3794100" y="5127"/>
                  </a:lnTo>
                  <a:lnTo>
                    <a:pt x="3747506" y="2116"/>
                  </a:lnTo>
                  <a:lnTo>
                    <a:pt x="3694486" y="569"/>
                  </a:lnTo>
                  <a:lnTo>
                    <a:pt x="3634453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0524705" y="1180602"/>
              <a:ext cx="4137025" cy="7700645"/>
            </a:xfrm>
            <a:custGeom>
              <a:avLst/>
              <a:gdLst/>
              <a:ahLst/>
              <a:cxnLst/>
              <a:rect l="l" t="t" r="r" b="b"/>
              <a:pathLst>
                <a:path w="4137025" h="7700645">
                  <a:moveTo>
                    <a:pt x="569669" y="0"/>
                  </a:moveTo>
                  <a:lnTo>
                    <a:pt x="3566907" y="0"/>
                  </a:lnTo>
                  <a:lnTo>
                    <a:pt x="3634554" y="81"/>
                  </a:lnTo>
                  <a:lnTo>
                    <a:pt x="3694599" y="651"/>
                  </a:lnTo>
                  <a:lnTo>
                    <a:pt x="3747627" y="2197"/>
                  </a:lnTo>
                  <a:lnTo>
                    <a:pt x="3794222" y="5208"/>
                  </a:lnTo>
                  <a:lnTo>
                    <a:pt x="3834968" y="10173"/>
                  </a:lnTo>
                  <a:lnTo>
                    <a:pt x="3901252" y="27916"/>
                  </a:lnTo>
                  <a:lnTo>
                    <a:pt x="3947650" y="48768"/>
                  </a:lnTo>
                  <a:lnTo>
                    <a:pt x="3990072" y="75862"/>
                  </a:lnTo>
                  <a:lnTo>
                    <a:pt x="4027950" y="108632"/>
                  </a:lnTo>
                  <a:lnTo>
                    <a:pt x="4060719" y="146511"/>
                  </a:lnTo>
                  <a:lnTo>
                    <a:pt x="4087811" y="188932"/>
                  </a:lnTo>
                  <a:lnTo>
                    <a:pt x="4108660" y="235331"/>
                  </a:lnTo>
                  <a:lnTo>
                    <a:pt x="4126402" y="301613"/>
                  </a:lnTo>
                  <a:lnTo>
                    <a:pt x="4131366" y="342358"/>
                  </a:lnTo>
                  <a:lnTo>
                    <a:pt x="4134378" y="388951"/>
                  </a:lnTo>
                  <a:lnTo>
                    <a:pt x="4135924" y="441977"/>
                  </a:lnTo>
                  <a:lnTo>
                    <a:pt x="4136494" y="502021"/>
                  </a:lnTo>
                  <a:lnTo>
                    <a:pt x="4136575" y="569669"/>
                  </a:lnTo>
                  <a:lnTo>
                    <a:pt x="4136575" y="7130421"/>
                  </a:lnTo>
                  <a:lnTo>
                    <a:pt x="4136494" y="7198068"/>
                  </a:lnTo>
                  <a:lnTo>
                    <a:pt x="4135924" y="7258112"/>
                  </a:lnTo>
                  <a:lnTo>
                    <a:pt x="4134378" y="7311138"/>
                  </a:lnTo>
                  <a:lnTo>
                    <a:pt x="4131366" y="7357730"/>
                  </a:lnTo>
                  <a:lnTo>
                    <a:pt x="4126402" y="7398474"/>
                  </a:lnTo>
                  <a:lnTo>
                    <a:pt x="4108660" y="7464757"/>
                  </a:lnTo>
                  <a:lnTo>
                    <a:pt x="4087811" y="7511155"/>
                  </a:lnTo>
                  <a:lnTo>
                    <a:pt x="4060719" y="7553576"/>
                  </a:lnTo>
                  <a:lnTo>
                    <a:pt x="4027950" y="7591456"/>
                  </a:lnTo>
                  <a:lnTo>
                    <a:pt x="3990072" y="7624226"/>
                  </a:lnTo>
                  <a:lnTo>
                    <a:pt x="3947650" y="7651321"/>
                  </a:lnTo>
                  <a:lnTo>
                    <a:pt x="3901252" y="7672174"/>
                  </a:lnTo>
                  <a:lnTo>
                    <a:pt x="3834968" y="7689916"/>
                  </a:lnTo>
                  <a:lnTo>
                    <a:pt x="3794222" y="7694881"/>
                  </a:lnTo>
                  <a:lnTo>
                    <a:pt x="3747627" y="7697892"/>
                  </a:lnTo>
                  <a:lnTo>
                    <a:pt x="3694599" y="7699439"/>
                  </a:lnTo>
                  <a:lnTo>
                    <a:pt x="3634554" y="7700008"/>
                  </a:lnTo>
                  <a:lnTo>
                    <a:pt x="3566907" y="7700090"/>
                  </a:lnTo>
                  <a:lnTo>
                    <a:pt x="569669" y="7700090"/>
                  </a:lnTo>
                  <a:lnTo>
                    <a:pt x="502021" y="7700008"/>
                  </a:lnTo>
                  <a:lnTo>
                    <a:pt x="441977" y="7699439"/>
                  </a:lnTo>
                  <a:lnTo>
                    <a:pt x="388951" y="7697892"/>
                  </a:lnTo>
                  <a:lnTo>
                    <a:pt x="342358" y="7694881"/>
                  </a:lnTo>
                  <a:lnTo>
                    <a:pt x="301613" y="7689916"/>
                  </a:lnTo>
                  <a:lnTo>
                    <a:pt x="235331" y="7672174"/>
                  </a:lnTo>
                  <a:lnTo>
                    <a:pt x="188932" y="7651321"/>
                  </a:lnTo>
                  <a:lnTo>
                    <a:pt x="146511" y="7624226"/>
                  </a:lnTo>
                  <a:lnTo>
                    <a:pt x="108632" y="7591456"/>
                  </a:lnTo>
                  <a:lnTo>
                    <a:pt x="75862" y="7553576"/>
                  </a:lnTo>
                  <a:lnTo>
                    <a:pt x="48768" y="7511155"/>
                  </a:lnTo>
                  <a:lnTo>
                    <a:pt x="27916" y="7464757"/>
                  </a:lnTo>
                  <a:lnTo>
                    <a:pt x="10173" y="7398474"/>
                  </a:lnTo>
                  <a:lnTo>
                    <a:pt x="5208" y="7357730"/>
                  </a:lnTo>
                  <a:lnTo>
                    <a:pt x="2197" y="7311138"/>
                  </a:lnTo>
                  <a:lnTo>
                    <a:pt x="651" y="7258112"/>
                  </a:lnTo>
                  <a:lnTo>
                    <a:pt x="81" y="7198068"/>
                  </a:lnTo>
                  <a:lnTo>
                    <a:pt x="0" y="7130421"/>
                  </a:lnTo>
                  <a:lnTo>
                    <a:pt x="0" y="569669"/>
                  </a:lnTo>
                  <a:lnTo>
                    <a:pt x="81" y="502021"/>
                  </a:lnTo>
                  <a:lnTo>
                    <a:pt x="651" y="441977"/>
                  </a:lnTo>
                  <a:lnTo>
                    <a:pt x="2197" y="388951"/>
                  </a:lnTo>
                  <a:lnTo>
                    <a:pt x="5208" y="342358"/>
                  </a:lnTo>
                  <a:lnTo>
                    <a:pt x="10173" y="301613"/>
                  </a:lnTo>
                  <a:lnTo>
                    <a:pt x="27916" y="235331"/>
                  </a:lnTo>
                  <a:lnTo>
                    <a:pt x="48768" y="188932"/>
                  </a:lnTo>
                  <a:lnTo>
                    <a:pt x="75862" y="146511"/>
                  </a:lnTo>
                  <a:lnTo>
                    <a:pt x="108632" y="108632"/>
                  </a:lnTo>
                  <a:lnTo>
                    <a:pt x="146511" y="75862"/>
                  </a:lnTo>
                  <a:lnTo>
                    <a:pt x="188932" y="48768"/>
                  </a:lnTo>
                  <a:lnTo>
                    <a:pt x="235331" y="27916"/>
                  </a:lnTo>
                  <a:lnTo>
                    <a:pt x="301613" y="10173"/>
                  </a:lnTo>
                  <a:lnTo>
                    <a:pt x="342358" y="5208"/>
                  </a:lnTo>
                  <a:lnTo>
                    <a:pt x="388951" y="2197"/>
                  </a:lnTo>
                  <a:lnTo>
                    <a:pt x="441977" y="651"/>
                  </a:lnTo>
                  <a:lnTo>
                    <a:pt x="502021" y="81"/>
                  </a:lnTo>
                  <a:lnTo>
                    <a:pt x="569669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2671760" y="8203768"/>
              <a:ext cx="0" cy="773430"/>
            </a:xfrm>
            <a:custGeom>
              <a:avLst/>
              <a:gdLst/>
              <a:ahLst/>
              <a:cxnLst/>
              <a:rect l="l" t="t" r="r" b="b"/>
              <a:pathLst>
                <a:path h="773429">
                  <a:moveTo>
                    <a:pt x="0" y="773100"/>
                  </a:moveTo>
                  <a:lnTo>
                    <a:pt x="0" y="1047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621500" y="8113711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50260" y="0"/>
                  </a:moveTo>
                  <a:lnTo>
                    <a:pt x="0" y="100520"/>
                  </a:lnTo>
                  <a:lnTo>
                    <a:pt x="100520" y="100520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2689037" y="954561"/>
              <a:ext cx="0" cy="582295"/>
            </a:xfrm>
            <a:custGeom>
              <a:avLst/>
              <a:gdLst/>
              <a:ahLst/>
              <a:cxnLst/>
              <a:rect l="l" t="t" r="r" b="b"/>
              <a:pathLst>
                <a:path h="582294">
                  <a:moveTo>
                    <a:pt x="0" y="582019"/>
                  </a:moveTo>
                  <a:lnTo>
                    <a:pt x="0" y="1047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2638777" y="864507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50260" y="0"/>
                  </a:moveTo>
                  <a:lnTo>
                    <a:pt x="0" y="100520"/>
                  </a:lnTo>
                  <a:lnTo>
                    <a:pt x="100520" y="100520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28201" y="955519"/>
            <a:ext cx="391611" cy="32824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66040" defTabSz="554355" latinLnBrk="0">
              <a:spcBef>
                <a:spcPts val="60"/>
              </a:spcBef>
            </a:pPr>
            <a:r>
              <a:rPr sz="1000" b="1" kern="0" spc="-15" dirty="0">
                <a:solidFill>
                  <a:sysClr val="windowText" lastClr="000000"/>
                </a:solidFill>
                <a:latin typeface="Arial" panose="020B0604020202090204"/>
                <a:cs typeface="Arial" panose="020B0604020202090204"/>
              </a:rPr>
              <a:t>GPT</a:t>
            </a:r>
            <a:endParaRPr sz="1000" kern="0">
              <a:solidFill>
                <a:sysClr val="windowText" lastClr="000000"/>
              </a:solidFill>
              <a:latin typeface="Arial" panose="020B0604020202090204"/>
              <a:cs typeface="Arial" panose="020B0604020202090204"/>
            </a:endParaRPr>
          </a:p>
          <a:p>
            <a:pPr marL="7620" defTabSz="554355" latinLnBrk="0">
              <a:spcBef>
                <a:spcPts val="50"/>
              </a:spcBef>
            </a:pPr>
            <a:r>
              <a:rPr sz="1000" b="1" kern="0" spc="-6" dirty="0">
                <a:solidFill>
                  <a:sysClr val="windowText" lastClr="000000"/>
                </a:solidFill>
                <a:latin typeface="Arial" panose="020B0604020202090204"/>
                <a:cs typeface="Arial" panose="020B0604020202090204"/>
              </a:rPr>
              <a:t>model</a:t>
            </a:r>
            <a:endParaRPr sz="1000" kern="0">
              <a:solidFill>
                <a:sysClr val="windowText" lastClr="000000"/>
              </a:solidFill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13813" y="854834"/>
            <a:ext cx="1790935" cy="4058196"/>
            <a:chOff x="11235776" y="1409685"/>
            <a:chExt cx="2953385" cy="6692265"/>
          </a:xfrm>
        </p:grpSpPr>
        <p:sp>
          <p:nvSpPr>
            <p:cNvPr id="11" name="object 11"/>
            <p:cNvSpPr/>
            <p:nvPr/>
          </p:nvSpPr>
          <p:spPr>
            <a:xfrm>
              <a:off x="11246335" y="2465419"/>
              <a:ext cx="2931795" cy="4632960"/>
            </a:xfrm>
            <a:custGeom>
              <a:avLst/>
              <a:gdLst/>
              <a:ahLst/>
              <a:cxnLst/>
              <a:rect l="l" t="t" r="r" b="b"/>
              <a:pathLst>
                <a:path w="2931794" h="4632959">
                  <a:moveTo>
                    <a:pt x="2434522" y="0"/>
                  </a:moveTo>
                  <a:lnTo>
                    <a:pt x="497268" y="0"/>
                  </a:lnTo>
                  <a:lnTo>
                    <a:pt x="437772" y="564"/>
                  </a:lnTo>
                  <a:lnTo>
                    <a:pt x="385231" y="2096"/>
                  </a:lnTo>
                  <a:lnTo>
                    <a:pt x="339064" y="5079"/>
                  </a:lnTo>
                  <a:lnTo>
                    <a:pt x="298690" y="9997"/>
                  </a:lnTo>
                  <a:lnTo>
                    <a:pt x="233001" y="27572"/>
                  </a:lnTo>
                  <a:lnTo>
                    <a:pt x="187039" y="48232"/>
                  </a:lnTo>
                  <a:lnTo>
                    <a:pt x="145022" y="75074"/>
                  </a:lnTo>
                  <a:lnTo>
                    <a:pt x="107507" y="107537"/>
                  </a:lnTo>
                  <a:lnTo>
                    <a:pt x="75053" y="145060"/>
                  </a:lnTo>
                  <a:lnTo>
                    <a:pt x="48219" y="187083"/>
                  </a:lnTo>
                  <a:lnTo>
                    <a:pt x="27562" y="233043"/>
                  </a:lnTo>
                  <a:lnTo>
                    <a:pt x="9993" y="298709"/>
                  </a:lnTo>
                  <a:lnTo>
                    <a:pt x="5077" y="339073"/>
                  </a:lnTo>
                  <a:lnTo>
                    <a:pt x="2095" y="385230"/>
                  </a:lnTo>
                  <a:lnTo>
                    <a:pt x="564" y="437760"/>
                  </a:lnTo>
                  <a:lnTo>
                    <a:pt x="0" y="497243"/>
                  </a:lnTo>
                  <a:lnTo>
                    <a:pt x="0" y="4135166"/>
                  </a:lnTo>
                  <a:lnTo>
                    <a:pt x="564" y="4194649"/>
                  </a:lnTo>
                  <a:lnTo>
                    <a:pt x="2095" y="4247178"/>
                  </a:lnTo>
                  <a:lnTo>
                    <a:pt x="5077" y="4293334"/>
                  </a:lnTo>
                  <a:lnTo>
                    <a:pt x="9993" y="4333696"/>
                  </a:lnTo>
                  <a:lnTo>
                    <a:pt x="27562" y="4399356"/>
                  </a:lnTo>
                  <a:lnTo>
                    <a:pt x="48219" y="4445320"/>
                  </a:lnTo>
                  <a:lnTo>
                    <a:pt x="75053" y="4487345"/>
                  </a:lnTo>
                  <a:lnTo>
                    <a:pt x="107507" y="4524870"/>
                  </a:lnTo>
                  <a:lnTo>
                    <a:pt x="145022" y="4557334"/>
                  </a:lnTo>
                  <a:lnTo>
                    <a:pt x="187039" y="4584176"/>
                  </a:lnTo>
                  <a:lnTo>
                    <a:pt x="233001" y="4604836"/>
                  </a:lnTo>
                  <a:lnTo>
                    <a:pt x="298690" y="4622412"/>
                  </a:lnTo>
                  <a:lnTo>
                    <a:pt x="339064" y="4627330"/>
                  </a:lnTo>
                  <a:lnTo>
                    <a:pt x="385231" y="4630313"/>
                  </a:lnTo>
                  <a:lnTo>
                    <a:pt x="437772" y="4631845"/>
                  </a:lnTo>
                  <a:lnTo>
                    <a:pt x="497268" y="4632409"/>
                  </a:lnTo>
                  <a:lnTo>
                    <a:pt x="2434522" y="4632409"/>
                  </a:lnTo>
                  <a:lnTo>
                    <a:pt x="2494016" y="4631845"/>
                  </a:lnTo>
                  <a:lnTo>
                    <a:pt x="2546551" y="4630313"/>
                  </a:lnTo>
                  <a:lnTo>
                    <a:pt x="2592707" y="4627330"/>
                  </a:lnTo>
                  <a:lnTo>
                    <a:pt x="2633062" y="4622412"/>
                  </a:lnTo>
                  <a:lnTo>
                    <a:pt x="2698685" y="4604836"/>
                  </a:lnTo>
                  <a:lnTo>
                    <a:pt x="2744654" y="4584176"/>
                  </a:lnTo>
                  <a:lnTo>
                    <a:pt x="2786691" y="4557334"/>
                  </a:lnTo>
                  <a:lnTo>
                    <a:pt x="2824231" y="4524870"/>
                  </a:lnTo>
                  <a:lnTo>
                    <a:pt x="2856710" y="4487345"/>
                  </a:lnTo>
                  <a:lnTo>
                    <a:pt x="2883564" y="4445320"/>
                  </a:lnTo>
                  <a:lnTo>
                    <a:pt x="2904228" y="4399356"/>
                  </a:lnTo>
                  <a:lnTo>
                    <a:pt x="2921797" y="4333696"/>
                  </a:lnTo>
                  <a:lnTo>
                    <a:pt x="2926714" y="4293334"/>
                  </a:lnTo>
                  <a:lnTo>
                    <a:pt x="2929696" y="4247178"/>
                  </a:lnTo>
                  <a:lnTo>
                    <a:pt x="2931227" y="4194649"/>
                  </a:lnTo>
                  <a:lnTo>
                    <a:pt x="2931791" y="4135166"/>
                  </a:lnTo>
                  <a:lnTo>
                    <a:pt x="2931791" y="497243"/>
                  </a:lnTo>
                  <a:lnTo>
                    <a:pt x="2931227" y="437760"/>
                  </a:lnTo>
                  <a:lnTo>
                    <a:pt x="2929696" y="385230"/>
                  </a:lnTo>
                  <a:lnTo>
                    <a:pt x="2926714" y="339073"/>
                  </a:lnTo>
                  <a:lnTo>
                    <a:pt x="2921797" y="298709"/>
                  </a:lnTo>
                  <a:lnTo>
                    <a:pt x="2904228" y="233043"/>
                  </a:lnTo>
                  <a:lnTo>
                    <a:pt x="2883564" y="187083"/>
                  </a:lnTo>
                  <a:lnTo>
                    <a:pt x="2856710" y="145060"/>
                  </a:lnTo>
                  <a:lnTo>
                    <a:pt x="2824231" y="107537"/>
                  </a:lnTo>
                  <a:lnTo>
                    <a:pt x="2786691" y="75074"/>
                  </a:lnTo>
                  <a:lnTo>
                    <a:pt x="2744654" y="48232"/>
                  </a:lnTo>
                  <a:lnTo>
                    <a:pt x="2698685" y="27572"/>
                  </a:lnTo>
                  <a:lnTo>
                    <a:pt x="2633062" y="9997"/>
                  </a:lnTo>
                  <a:lnTo>
                    <a:pt x="2592707" y="5079"/>
                  </a:lnTo>
                  <a:lnTo>
                    <a:pt x="2546551" y="2096"/>
                  </a:lnTo>
                  <a:lnTo>
                    <a:pt x="2494016" y="564"/>
                  </a:lnTo>
                  <a:lnTo>
                    <a:pt x="2434522" y="0"/>
                  </a:lnTo>
                  <a:close/>
                </a:path>
              </a:pathLst>
            </a:custGeom>
            <a:solidFill>
              <a:srgbClr val="056BB2">
                <a:alpha val="30349"/>
              </a:srgbClr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246254" y="2465338"/>
              <a:ext cx="2932430" cy="4632960"/>
            </a:xfrm>
            <a:custGeom>
              <a:avLst/>
              <a:gdLst/>
              <a:ahLst/>
              <a:cxnLst/>
              <a:rect l="l" t="t" r="r" b="b"/>
              <a:pathLst>
                <a:path w="2932430" h="4632959">
                  <a:moveTo>
                    <a:pt x="564336" y="0"/>
                  </a:moveTo>
                  <a:lnTo>
                    <a:pt x="2367592" y="0"/>
                  </a:lnTo>
                  <a:lnTo>
                    <a:pt x="2434607" y="80"/>
                  </a:lnTo>
                  <a:lnTo>
                    <a:pt x="2494090" y="645"/>
                  </a:lnTo>
                  <a:lnTo>
                    <a:pt x="2546619" y="2176"/>
                  </a:lnTo>
                  <a:lnTo>
                    <a:pt x="2592775" y="5160"/>
                  </a:lnTo>
                  <a:lnTo>
                    <a:pt x="2633137" y="10078"/>
                  </a:lnTo>
                  <a:lnTo>
                    <a:pt x="2698797" y="27654"/>
                  </a:lnTo>
                  <a:lnTo>
                    <a:pt x="2744761" y="48312"/>
                  </a:lnTo>
                  <a:lnTo>
                    <a:pt x="2786786" y="75152"/>
                  </a:lnTo>
                  <a:lnTo>
                    <a:pt x="2824311" y="107615"/>
                  </a:lnTo>
                  <a:lnTo>
                    <a:pt x="2856775" y="145139"/>
                  </a:lnTo>
                  <a:lnTo>
                    <a:pt x="2883618" y="187164"/>
                  </a:lnTo>
                  <a:lnTo>
                    <a:pt x="2904278" y="233127"/>
                  </a:lnTo>
                  <a:lnTo>
                    <a:pt x="2921853" y="298790"/>
                  </a:lnTo>
                  <a:lnTo>
                    <a:pt x="2926771" y="339153"/>
                  </a:lnTo>
                  <a:lnTo>
                    <a:pt x="2929754" y="385310"/>
                  </a:lnTo>
                  <a:lnTo>
                    <a:pt x="2931286" y="437840"/>
                  </a:lnTo>
                  <a:lnTo>
                    <a:pt x="2931851" y="497322"/>
                  </a:lnTo>
                  <a:lnTo>
                    <a:pt x="2931931" y="564336"/>
                  </a:lnTo>
                  <a:lnTo>
                    <a:pt x="2931931" y="4068232"/>
                  </a:lnTo>
                  <a:lnTo>
                    <a:pt x="2931851" y="4135247"/>
                  </a:lnTo>
                  <a:lnTo>
                    <a:pt x="2931286" y="4194729"/>
                  </a:lnTo>
                  <a:lnTo>
                    <a:pt x="2929754" y="4247259"/>
                  </a:lnTo>
                  <a:lnTo>
                    <a:pt x="2926771" y="4293415"/>
                  </a:lnTo>
                  <a:lnTo>
                    <a:pt x="2921853" y="4333777"/>
                  </a:lnTo>
                  <a:lnTo>
                    <a:pt x="2904278" y="4399436"/>
                  </a:lnTo>
                  <a:lnTo>
                    <a:pt x="2883618" y="4445401"/>
                  </a:lnTo>
                  <a:lnTo>
                    <a:pt x="2856775" y="4487426"/>
                  </a:lnTo>
                  <a:lnTo>
                    <a:pt x="2824311" y="4524951"/>
                  </a:lnTo>
                  <a:lnTo>
                    <a:pt x="2786786" y="4557415"/>
                  </a:lnTo>
                  <a:lnTo>
                    <a:pt x="2744761" y="4584257"/>
                  </a:lnTo>
                  <a:lnTo>
                    <a:pt x="2698797" y="4604917"/>
                  </a:lnTo>
                  <a:lnTo>
                    <a:pt x="2633137" y="4622493"/>
                  </a:lnTo>
                  <a:lnTo>
                    <a:pt x="2592775" y="4627411"/>
                  </a:lnTo>
                  <a:lnTo>
                    <a:pt x="2546619" y="4630394"/>
                  </a:lnTo>
                  <a:lnTo>
                    <a:pt x="2494090" y="4631926"/>
                  </a:lnTo>
                  <a:lnTo>
                    <a:pt x="2434607" y="4632490"/>
                  </a:lnTo>
                  <a:lnTo>
                    <a:pt x="2367592" y="4632570"/>
                  </a:lnTo>
                  <a:lnTo>
                    <a:pt x="564336" y="4632570"/>
                  </a:lnTo>
                  <a:lnTo>
                    <a:pt x="497322" y="4632490"/>
                  </a:lnTo>
                  <a:lnTo>
                    <a:pt x="437840" y="4631926"/>
                  </a:lnTo>
                  <a:lnTo>
                    <a:pt x="385310" y="4630394"/>
                  </a:lnTo>
                  <a:lnTo>
                    <a:pt x="339153" y="4627411"/>
                  </a:lnTo>
                  <a:lnTo>
                    <a:pt x="298790" y="4622493"/>
                  </a:lnTo>
                  <a:lnTo>
                    <a:pt x="233127" y="4604917"/>
                  </a:lnTo>
                  <a:lnTo>
                    <a:pt x="187164" y="4584257"/>
                  </a:lnTo>
                  <a:lnTo>
                    <a:pt x="145139" y="4557415"/>
                  </a:lnTo>
                  <a:lnTo>
                    <a:pt x="107615" y="4524951"/>
                  </a:lnTo>
                  <a:lnTo>
                    <a:pt x="75152" y="4487426"/>
                  </a:lnTo>
                  <a:lnTo>
                    <a:pt x="48312" y="4445401"/>
                  </a:lnTo>
                  <a:lnTo>
                    <a:pt x="27654" y="4399436"/>
                  </a:lnTo>
                  <a:lnTo>
                    <a:pt x="10078" y="4333777"/>
                  </a:lnTo>
                  <a:lnTo>
                    <a:pt x="5160" y="4293415"/>
                  </a:lnTo>
                  <a:lnTo>
                    <a:pt x="2176" y="4247259"/>
                  </a:lnTo>
                  <a:lnTo>
                    <a:pt x="645" y="4194729"/>
                  </a:lnTo>
                  <a:lnTo>
                    <a:pt x="80" y="4135247"/>
                  </a:lnTo>
                  <a:lnTo>
                    <a:pt x="0" y="4068232"/>
                  </a:lnTo>
                  <a:lnTo>
                    <a:pt x="0" y="564336"/>
                  </a:lnTo>
                  <a:lnTo>
                    <a:pt x="80" y="497322"/>
                  </a:lnTo>
                  <a:lnTo>
                    <a:pt x="645" y="437840"/>
                  </a:lnTo>
                  <a:lnTo>
                    <a:pt x="2176" y="385310"/>
                  </a:lnTo>
                  <a:lnTo>
                    <a:pt x="5160" y="339153"/>
                  </a:lnTo>
                  <a:lnTo>
                    <a:pt x="10078" y="298790"/>
                  </a:lnTo>
                  <a:lnTo>
                    <a:pt x="27654" y="233127"/>
                  </a:lnTo>
                  <a:lnTo>
                    <a:pt x="48312" y="187164"/>
                  </a:lnTo>
                  <a:lnTo>
                    <a:pt x="75152" y="145139"/>
                  </a:lnTo>
                  <a:lnTo>
                    <a:pt x="107615" y="107615"/>
                  </a:lnTo>
                  <a:lnTo>
                    <a:pt x="145139" y="75152"/>
                  </a:lnTo>
                  <a:lnTo>
                    <a:pt x="187164" y="48312"/>
                  </a:lnTo>
                  <a:lnTo>
                    <a:pt x="233127" y="27654"/>
                  </a:lnTo>
                  <a:lnTo>
                    <a:pt x="298790" y="10078"/>
                  </a:lnTo>
                  <a:lnTo>
                    <a:pt x="339153" y="5160"/>
                  </a:lnTo>
                  <a:lnTo>
                    <a:pt x="385310" y="2176"/>
                  </a:lnTo>
                  <a:lnTo>
                    <a:pt x="437840" y="645"/>
                  </a:lnTo>
                  <a:lnTo>
                    <a:pt x="497322" y="80"/>
                  </a:lnTo>
                  <a:lnTo>
                    <a:pt x="564336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2678883" y="6949830"/>
              <a:ext cx="913130" cy="0"/>
            </a:xfrm>
            <a:custGeom>
              <a:avLst/>
              <a:gdLst/>
              <a:ahLst/>
              <a:cxnLst/>
              <a:rect l="l" t="t" r="r" b="b"/>
              <a:pathLst>
                <a:path w="913130">
                  <a:moveTo>
                    <a:pt x="912744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3590371" y="4935242"/>
              <a:ext cx="0" cy="2024380"/>
            </a:xfrm>
            <a:custGeom>
              <a:avLst/>
              <a:gdLst/>
              <a:ahLst/>
              <a:cxnLst/>
              <a:rect l="l" t="t" r="r" b="b"/>
              <a:pathLst>
                <a:path h="2024379">
                  <a:moveTo>
                    <a:pt x="0" y="0"/>
                  </a:moveTo>
                  <a:lnTo>
                    <a:pt x="0" y="2023781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656481" y="1409685"/>
              <a:ext cx="2030610" cy="669164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294016" y="3489475"/>
            <a:ext cx="781296" cy="220349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L="215900" marR="3175" indent="-208915" defTabSz="554355" latinLnBrk="0">
              <a:lnSpc>
                <a:spcPts val="800"/>
              </a:lnSpc>
              <a:spcBef>
                <a:spcPts val="120"/>
              </a:spcBef>
            </a:pPr>
            <a:r>
              <a:rPr sz="695" kern="0" dirty="0">
                <a:solidFill>
                  <a:srgbClr val="FFFFFF"/>
                </a:solidFill>
                <a:latin typeface="Arial MT"/>
                <a:cs typeface="Arial MT"/>
              </a:rPr>
              <a:t>Masked</a:t>
            </a:r>
            <a:r>
              <a:rPr sz="695" kern="0" spc="8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95" kern="0" dirty="0">
                <a:solidFill>
                  <a:srgbClr val="FFFFFF"/>
                </a:solidFill>
                <a:latin typeface="Arial MT"/>
                <a:cs typeface="Arial MT"/>
              </a:rPr>
              <a:t>multi-</a:t>
            </a:r>
            <a:r>
              <a:rPr sz="695" kern="0" spc="-12" dirty="0">
                <a:solidFill>
                  <a:srgbClr val="FFFFFF"/>
                </a:solidFill>
                <a:latin typeface="Arial MT"/>
                <a:cs typeface="Arial MT"/>
              </a:rPr>
              <a:t>head </a:t>
            </a:r>
            <a:r>
              <a:rPr sz="695" kern="0" spc="-6" dirty="0">
                <a:solidFill>
                  <a:srgbClr val="FFFFFF"/>
                </a:solidFill>
                <a:latin typeface="Arial MT"/>
                <a:cs typeface="Arial MT"/>
              </a:rPr>
              <a:t>attention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5133" y="2554820"/>
            <a:ext cx="529464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LayerNorm </a:t>
            </a:r>
            <a:r>
              <a:rPr sz="695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8974" y="2230358"/>
            <a:ext cx="542171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Feed</a:t>
            </a:r>
            <a:r>
              <a:rPr sz="695" kern="0" spc="-18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forward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19927" y="3939087"/>
            <a:ext cx="529464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LayerNorm </a:t>
            </a:r>
            <a:r>
              <a:rPr sz="695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5901" y="3160510"/>
            <a:ext cx="338472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Dropout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25901" y="1910360"/>
            <a:ext cx="338472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Dropout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68925" y="5064213"/>
            <a:ext cx="1231436" cy="604166"/>
            <a:chOff x="11656475" y="8351262"/>
            <a:chExt cx="2030730" cy="996315"/>
          </a:xfrm>
        </p:grpSpPr>
        <p:sp>
          <p:nvSpPr>
            <p:cNvPr id="23" name="object 23"/>
            <p:cNvSpPr/>
            <p:nvPr/>
          </p:nvSpPr>
          <p:spPr>
            <a:xfrm>
              <a:off x="11667073" y="8361798"/>
              <a:ext cx="2009775" cy="327025"/>
            </a:xfrm>
            <a:custGeom>
              <a:avLst/>
              <a:gdLst/>
              <a:ahLst/>
              <a:cxnLst/>
              <a:rect l="l" t="t" r="r" b="b"/>
              <a:pathLst>
                <a:path w="2009775" h="327025">
                  <a:moveTo>
                    <a:pt x="167014" y="0"/>
                  </a:moveTo>
                  <a:lnTo>
                    <a:pt x="109810" y="0"/>
                  </a:lnTo>
                  <a:lnTo>
                    <a:pt x="87831" y="690"/>
                  </a:lnTo>
                  <a:lnTo>
                    <a:pt x="40296" y="14556"/>
                  </a:lnTo>
                  <a:lnTo>
                    <a:pt x="6812" y="56248"/>
                  </a:lnTo>
                  <a:lnTo>
                    <a:pt x="68" y="109318"/>
                  </a:lnTo>
                  <a:lnTo>
                    <a:pt x="0" y="217643"/>
                  </a:lnTo>
                  <a:lnTo>
                    <a:pt x="582" y="235996"/>
                  </a:lnTo>
                  <a:lnTo>
                    <a:pt x="14444" y="283515"/>
                  </a:lnTo>
                  <a:lnTo>
                    <a:pt x="56130" y="317046"/>
                  </a:lnTo>
                  <a:lnTo>
                    <a:pt x="109227" y="323750"/>
                  </a:lnTo>
                  <a:lnTo>
                    <a:pt x="1872305" y="327025"/>
                  </a:lnTo>
                  <a:lnTo>
                    <a:pt x="1897809" y="327025"/>
                  </a:lnTo>
                  <a:lnTo>
                    <a:pt x="1938964" y="324314"/>
                  </a:lnTo>
                  <a:lnTo>
                    <a:pt x="1983126" y="301124"/>
                  </a:lnTo>
                  <a:lnTo>
                    <a:pt x="2006455" y="257049"/>
                  </a:lnTo>
                  <a:lnTo>
                    <a:pt x="2009292" y="217643"/>
                  </a:lnTo>
                  <a:lnTo>
                    <a:pt x="2009474" y="190411"/>
                  </a:lnTo>
                  <a:lnTo>
                    <a:pt x="2009446" y="112930"/>
                  </a:lnTo>
                  <a:lnTo>
                    <a:pt x="2006838" y="73519"/>
                  </a:lnTo>
                  <a:lnTo>
                    <a:pt x="1983650" y="29358"/>
                  </a:lnTo>
                  <a:lnTo>
                    <a:pt x="1939533" y="6012"/>
                  </a:lnTo>
                  <a:lnTo>
                    <a:pt x="1900133" y="3216"/>
                  </a:lnTo>
                  <a:lnTo>
                    <a:pt x="167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1666952" y="8361739"/>
              <a:ext cx="2009775" cy="327660"/>
            </a:xfrm>
            <a:custGeom>
              <a:avLst/>
              <a:gdLst/>
              <a:ahLst/>
              <a:cxnLst/>
              <a:rect l="l" t="t" r="r" b="b"/>
              <a:pathLst>
                <a:path w="2009775" h="327659">
                  <a:moveTo>
                    <a:pt x="137194" y="0"/>
                  </a:moveTo>
                  <a:lnTo>
                    <a:pt x="1873060" y="3120"/>
                  </a:lnTo>
                  <a:lnTo>
                    <a:pt x="1922255" y="4047"/>
                  </a:lnTo>
                  <a:lnTo>
                    <a:pt x="1969728" y="18086"/>
                  </a:lnTo>
                  <a:lnTo>
                    <a:pt x="2003112" y="59890"/>
                  </a:lnTo>
                  <a:lnTo>
                    <a:pt x="2009613" y="112990"/>
                  </a:lnTo>
                  <a:lnTo>
                    <a:pt x="2009669" y="140224"/>
                  </a:lnTo>
                  <a:lnTo>
                    <a:pt x="2009578" y="190468"/>
                  </a:lnTo>
                  <a:lnTo>
                    <a:pt x="2008652" y="239663"/>
                  </a:lnTo>
                  <a:lnTo>
                    <a:pt x="1994618" y="287134"/>
                  </a:lnTo>
                  <a:lnTo>
                    <a:pt x="1952812" y="320518"/>
                  </a:lnTo>
                  <a:lnTo>
                    <a:pt x="1899710" y="327024"/>
                  </a:lnTo>
                  <a:lnTo>
                    <a:pt x="1872478" y="327080"/>
                  </a:lnTo>
                  <a:lnTo>
                    <a:pt x="136612" y="323960"/>
                  </a:lnTo>
                  <a:lnTo>
                    <a:pt x="87416" y="323033"/>
                  </a:lnTo>
                  <a:lnTo>
                    <a:pt x="39946" y="308994"/>
                  </a:lnTo>
                  <a:lnTo>
                    <a:pt x="6562" y="267189"/>
                  </a:lnTo>
                  <a:lnTo>
                    <a:pt x="55" y="214090"/>
                  </a:lnTo>
                  <a:lnTo>
                    <a:pt x="0" y="186855"/>
                  </a:lnTo>
                  <a:lnTo>
                    <a:pt x="90" y="136612"/>
                  </a:lnTo>
                  <a:lnTo>
                    <a:pt x="1017" y="87416"/>
                  </a:lnTo>
                  <a:lnTo>
                    <a:pt x="15056" y="39946"/>
                  </a:lnTo>
                  <a:lnTo>
                    <a:pt x="56860" y="6562"/>
                  </a:lnTo>
                  <a:lnTo>
                    <a:pt x="109960" y="55"/>
                  </a:lnTo>
                  <a:lnTo>
                    <a:pt x="137194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2025184" y="9017411"/>
              <a:ext cx="1311275" cy="319405"/>
            </a:xfrm>
            <a:custGeom>
              <a:avLst/>
              <a:gdLst/>
              <a:ahLst/>
              <a:cxnLst/>
              <a:rect l="l" t="t" r="r" b="b"/>
              <a:pathLst>
                <a:path w="1311275" h="319404">
                  <a:moveTo>
                    <a:pt x="128484" y="0"/>
                  </a:moveTo>
                  <a:lnTo>
                    <a:pt x="1182717" y="0"/>
                  </a:lnTo>
                  <a:lnTo>
                    <a:pt x="1208286" y="98"/>
                  </a:lnTo>
                  <a:lnTo>
                    <a:pt x="1258118" y="6296"/>
                  </a:lnTo>
                  <a:lnTo>
                    <a:pt x="1297311" y="37708"/>
                  </a:lnTo>
                  <a:lnTo>
                    <a:pt x="1310409" y="82297"/>
                  </a:lnTo>
                  <a:lnTo>
                    <a:pt x="1311195" y="128484"/>
                  </a:lnTo>
                  <a:lnTo>
                    <a:pt x="1311195" y="190916"/>
                  </a:lnTo>
                  <a:lnTo>
                    <a:pt x="1310409" y="237103"/>
                  </a:lnTo>
                  <a:lnTo>
                    <a:pt x="1297311" y="281692"/>
                  </a:lnTo>
                  <a:lnTo>
                    <a:pt x="1258118" y="313104"/>
                  </a:lnTo>
                  <a:lnTo>
                    <a:pt x="1208286" y="319302"/>
                  </a:lnTo>
                  <a:lnTo>
                    <a:pt x="1182717" y="319400"/>
                  </a:lnTo>
                  <a:lnTo>
                    <a:pt x="128484" y="319400"/>
                  </a:lnTo>
                  <a:lnTo>
                    <a:pt x="82297" y="318613"/>
                  </a:lnTo>
                  <a:lnTo>
                    <a:pt x="37708" y="305513"/>
                  </a:lnTo>
                  <a:lnTo>
                    <a:pt x="6296" y="266323"/>
                  </a:lnTo>
                  <a:lnTo>
                    <a:pt x="98" y="216484"/>
                  </a:lnTo>
                  <a:lnTo>
                    <a:pt x="0" y="190916"/>
                  </a:lnTo>
                  <a:lnTo>
                    <a:pt x="0" y="128484"/>
                  </a:lnTo>
                  <a:lnTo>
                    <a:pt x="787" y="82297"/>
                  </a:lnTo>
                  <a:lnTo>
                    <a:pt x="13886" y="37708"/>
                  </a:lnTo>
                  <a:lnTo>
                    <a:pt x="53077" y="6296"/>
                  </a:lnTo>
                  <a:lnTo>
                    <a:pt x="102916" y="98"/>
                  </a:lnTo>
                  <a:lnTo>
                    <a:pt x="128484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98592" y="5498372"/>
            <a:ext cx="588379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Tokenized</a:t>
            </a:r>
            <a:r>
              <a:rPr sz="695" kern="0" spc="-3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12" dirty="0">
                <a:solidFill>
                  <a:sysClr val="windowText" lastClr="000000"/>
                </a:solidFill>
                <a:latin typeface="Arial MT"/>
                <a:cs typeface="Arial MT"/>
              </a:rPr>
              <a:t>text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662245" y="5683219"/>
            <a:ext cx="61225" cy="156336"/>
            <a:chOff x="12634903" y="9372049"/>
            <a:chExt cx="100965" cy="257810"/>
          </a:xfrm>
        </p:grpSpPr>
        <p:sp>
          <p:nvSpPr>
            <p:cNvPr id="28" name="object 28"/>
            <p:cNvSpPr/>
            <p:nvPr/>
          </p:nvSpPr>
          <p:spPr>
            <a:xfrm>
              <a:off x="12685163" y="9462099"/>
              <a:ext cx="0" cy="157480"/>
            </a:xfrm>
            <a:custGeom>
              <a:avLst/>
              <a:gdLst/>
              <a:ahLst/>
              <a:cxnLst/>
              <a:rect l="l" t="t" r="r" b="b"/>
              <a:pathLst>
                <a:path h="157479">
                  <a:moveTo>
                    <a:pt x="0" y="157147"/>
                  </a:moveTo>
                  <a:lnTo>
                    <a:pt x="0" y="1047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2634903" y="937204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50260" y="0"/>
                  </a:moveTo>
                  <a:lnTo>
                    <a:pt x="0" y="100520"/>
                  </a:lnTo>
                  <a:lnTo>
                    <a:pt x="100520" y="100520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999650" y="5902273"/>
            <a:ext cx="1356968" cy="130584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620" defTabSz="554355" latinLnBrk="0">
              <a:spcBef>
                <a:spcPts val="75"/>
              </a:spcBef>
            </a:pPr>
            <a:r>
              <a:rPr sz="790" kern="0" dirty="0">
                <a:solidFill>
                  <a:sysClr val="windowText" lastClr="000000"/>
                </a:solidFill>
                <a:latin typeface="Courier New" panose="02070609020205090404"/>
                <a:cs typeface="Courier New" panose="02070609020205090404"/>
              </a:rPr>
              <a:t>Every</a:t>
            </a:r>
            <a:r>
              <a:rPr sz="790" kern="0" spc="55" dirty="0">
                <a:solidFill>
                  <a:sysClr val="windowText" lastClr="000000"/>
                </a:solidFill>
                <a:latin typeface="Courier New" panose="02070609020205090404"/>
                <a:cs typeface="Courier New" panose="02070609020205090404"/>
              </a:rPr>
              <a:t> </a:t>
            </a:r>
            <a:r>
              <a:rPr sz="790" kern="0" dirty="0">
                <a:solidFill>
                  <a:sysClr val="windowText" lastClr="000000"/>
                </a:solidFill>
                <a:latin typeface="Courier New" panose="02070609020205090404"/>
                <a:cs typeface="Courier New" panose="02070609020205090404"/>
              </a:rPr>
              <a:t>effort</a:t>
            </a:r>
            <a:r>
              <a:rPr sz="790" kern="0" spc="58" dirty="0">
                <a:solidFill>
                  <a:sysClr val="windowText" lastClr="000000"/>
                </a:solidFill>
                <a:latin typeface="Courier New" panose="02070609020205090404"/>
                <a:cs typeface="Courier New" panose="02070609020205090404"/>
              </a:rPr>
              <a:t> </a:t>
            </a:r>
            <a:r>
              <a:rPr sz="790" kern="0" dirty="0">
                <a:solidFill>
                  <a:sysClr val="windowText" lastClr="000000"/>
                </a:solidFill>
                <a:latin typeface="Courier New" panose="02070609020205090404"/>
                <a:cs typeface="Courier New" panose="02070609020205090404"/>
              </a:rPr>
              <a:t>moves</a:t>
            </a:r>
            <a:r>
              <a:rPr sz="790" kern="0" spc="55" dirty="0">
                <a:solidFill>
                  <a:sysClr val="windowText" lastClr="000000"/>
                </a:solidFill>
                <a:latin typeface="Courier New" panose="02070609020205090404"/>
                <a:cs typeface="Courier New" panose="02070609020205090404"/>
              </a:rPr>
              <a:t> </a:t>
            </a:r>
            <a:r>
              <a:rPr sz="790" kern="0" spc="-15" dirty="0">
                <a:solidFill>
                  <a:sysClr val="windowText" lastClr="000000"/>
                </a:solidFill>
                <a:latin typeface="Courier New" panose="02070609020205090404"/>
                <a:cs typeface="Courier New" panose="02070609020205090404"/>
              </a:rPr>
              <a:t>you</a:t>
            </a:r>
            <a:endParaRPr sz="790" kern="0">
              <a:solidFill>
                <a:sysClr val="windowText" lastClr="000000"/>
              </a:solidFill>
              <a:latin typeface="Courier New" panose="02070609020205090404"/>
              <a:cs typeface="Courier New" panose="020706090202050904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61066" y="1212454"/>
            <a:ext cx="667702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Final</a:t>
            </a:r>
            <a:r>
              <a:rPr sz="695" kern="0" spc="-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LayerNorm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16556" y="886157"/>
            <a:ext cx="756652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Linear</a:t>
            </a:r>
            <a:r>
              <a:rPr sz="695" kern="0" spc="27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output</a:t>
            </a:r>
            <a:r>
              <a:rPr sz="695" kern="0" spc="30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layer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 rot="19680000">
            <a:off x="6560541" y="4042121"/>
            <a:ext cx="446876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554355" latinLnBrk="0">
              <a:lnSpc>
                <a:spcPts val="3125"/>
              </a:lnSpc>
            </a:pPr>
            <a:r>
              <a:rPr sz="3155" kern="0" spc="-30" dirty="0">
                <a:solidFill>
                  <a:sysClr val="windowText" lastClr="000000"/>
                </a:solidFill>
                <a:latin typeface="Tahoma" panose="020B0804030504040204"/>
                <a:cs typeface="Tahoma" panose="020B0804030504040204"/>
              </a:rPr>
              <a:t>{</a:t>
            </a:r>
            <a:endParaRPr sz="3155" kern="0">
              <a:solidFill>
                <a:sysClr val="windowText" lastClr="000000"/>
              </a:solidFill>
              <a:latin typeface="Tahoma" panose="020B0804030504040204"/>
              <a:cs typeface="Tahoma" panose="020B080403050404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63874" y="4232677"/>
            <a:ext cx="239510" cy="193653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620" defTabSz="554355" latinLnBrk="0">
              <a:spcBef>
                <a:spcPts val="55"/>
              </a:spcBef>
            </a:pPr>
            <a:r>
              <a:rPr sz="1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</a:t>
            </a:r>
            <a:r>
              <a:rPr sz="1000" kern="0" spc="-12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1215" kern="0" spc="-73" dirty="0">
                <a:solidFill>
                  <a:sysClr val="windowText" lastClr="000000"/>
                </a:solidFill>
                <a:latin typeface="Tahoma" panose="020B0804030504040204"/>
                <a:cs typeface="Tahoma" panose="020B0804030504040204"/>
              </a:rPr>
              <a:t>×</a:t>
            </a:r>
            <a:endParaRPr sz="1215" kern="0">
              <a:solidFill>
                <a:sysClr val="windowText" lastClr="000000"/>
              </a:solidFill>
              <a:latin typeface="Tahoma" panose="020B0804030504040204"/>
              <a:cs typeface="Tahoma" panose="020B080403050404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31531" y="4409696"/>
            <a:ext cx="1092428" cy="786583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algn="ctr" defTabSz="554355" latinLnBrk="0">
              <a:spcBef>
                <a:spcPts val="65"/>
              </a:spcBef>
            </a:pP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Dropout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7620" marR="3175" algn="ctr" defTabSz="554355" latinLnBrk="0">
              <a:lnSpc>
                <a:spcPts val="2880"/>
              </a:lnSpc>
              <a:spcBef>
                <a:spcPts val="20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Positional</a:t>
            </a:r>
            <a:r>
              <a:rPr sz="695" kern="0" spc="4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embedding</a:t>
            </a:r>
            <a:r>
              <a:rPr sz="695" kern="0" spc="49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layer </a:t>
            </a:r>
            <a:r>
              <a:rPr sz="695" kern="0" spc="-12" dirty="0">
                <a:solidFill>
                  <a:sysClr val="windowText" lastClr="000000"/>
                </a:solidFill>
                <a:latin typeface="Arial MT"/>
                <a:cs typeface="Arial MT"/>
              </a:rPr>
              <a:t>Token</a:t>
            </a:r>
            <a:r>
              <a:rPr sz="695" kern="0" spc="18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embedding</a:t>
            </a:r>
            <a:r>
              <a:rPr sz="695" kern="0" spc="18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layer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66822" y="3540213"/>
            <a:ext cx="1684657" cy="4875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1395" b="1" kern="0" spc="-143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Repeat</a:t>
            </a:r>
            <a:r>
              <a:rPr sz="1395" b="1" kern="0" spc="-39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95" b="1" kern="0" spc="-94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this</a:t>
            </a:r>
            <a:r>
              <a:rPr sz="1395" b="1" kern="0" spc="-39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95" b="1" kern="0" spc="-106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transformer</a:t>
            </a:r>
            <a:endParaRPr sz="1395" kern="0" dirty="0">
              <a:solidFill>
                <a:sysClr val="windowText" lastClr="000000"/>
              </a:solidFill>
              <a:latin typeface="Trebuchet MS" panose="020B0603020202020204"/>
              <a:cs typeface="Trebuchet MS" panose="020B0603020202020204"/>
            </a:endParaRPr>
          </a:p>
          <a:p>
            <a:pPr marL="7620" defTabSz="554355" latinLnBrk="0">
              <a:spcBef>
                <a:spcPts val="85"/>
              </a:spcBef>
            </a:pPr>
            <a:r>
              <a:rPr sz="1395" b="1" kern="0" spc="-124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block</a:t>
            </a:r>
            <a:r>
              <a:rPr sz="1395" b="1" kern="0" spc="-58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35" i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35" i="1" kern="0" spc="-42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95" b="1" kern="0" spc="-12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times</a:t>
            </a:r>
            <a:endParaRPr sz="1395" kern="0" dirty="0">
              <a:solidFill>
                <a:sysClr val="windowText" lastClr="000000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887851" y="1557484"/>
            <a:ext cx="4667753" cy="2685440"/>
            <a:chOff x="9708797" y="2568407"/>
            <a:chExt cx="7697470" cy="4428490"/>
          </a:xfrm>
        </p:grpSpPr>
        <p:sp>
          <p:nvSpPr>
            <p:cNvPr id="38" name="object 38"/>
            <p:cNvSpPr/>
            <p:nvPr/>
          </p:nvSpPr>
          <p:spPr>
            <a:xfrm>
              <a:off x="9719274" y="6307253"/>
              <a:ext cx="915669" cy="638175"/>
            </a:xfrm>
            <a:custGeom>
              <a:avLst/>
              <a:gdLst/>
              <a:ahLst/>
              <a:cxnLst/>
              <a:rect l="l" t="t" r="r" b="b"/>
              <a:pathLst>
                <a:path w="915670" h="638175">
                  <a:moveTo>
                    <a:pt x="0" y="0"/>
                  </a:moveTo>
                  <a:lnTo>
                    <a:pt x="906644" y="631960"/>
                  </a:lnTo>
                  <a:lnTo>
                    <a:pt x="915234" y="63794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0597164" y="6897978"/>
              <a:ext cx="111760" cy="99060"/>
            </a:xfrm>
            <a:custGeom>
              <a:avLst/>
              <a:gdLst/>
              <a:ahLst/>
              <a:cxnLst/>
              <a:rect l="l" t="t" r="r" b="b"/>
              <a:pathLst>
                <a:path w="111759" h="99059">
                  <a:moveTo>
                    <a:pt x="57485" y="0"/>
                  </a:moveTo>
                  <a:lnTo>
                    <a:pt x="0" y="82458"/>
                  </a:lnTo>
                  <a:lnTo>
                    <a:pt x="111200" y="98709"/>
                  </a:lnTo>
                  <a:lnTo>
                    <a:pt x="574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5459529" y="2578884"/>
              <a:ext cx="1936114" cy="2289810"/>
            </a:xfrm>
            <a:custGeom>
              <a:avLst/>
              <a:gdLst/>
              <a:ahLst/>
              <a:cxnLst/>
              <a:rect l="l" t="t" r="r" b="b"/>
              <a:pathLst>
                <a:path w="1936115" h="2289810">
                  <a:moveTo>
                    <a:pt x="1664451" y="0"/>
                  </a:moveTo>
                  <a:lnTo>
                    <a:pt x="271510" y="0"/>
                  </a:lnTo>
                  <a:lnTo>
                    <a:pt x="217468" y="207"/>
                  </a:lnTo>
                  <a:lnTo>
                    <a:pt x="173882" y="1663"/>
                  </a:lnTo>
                  <a:lnTo>
                    <a:pt x="112143" y="13308"/>
                  </a:lnTo>
                  <a:lnTo>
                    <a:pt x="51726" y="51775"/>
                  </a:lnTo>
                  <a:lnTo>
                    <a:pt x="13298" y="112153"/>
                  </a:lnTo>
                  <a:lnTo>
                    <a:pt x="1662" y="173896"/>
                  </a:lnTo>
                  <a:lnTo>
                    <a:pt x="207" y="217466"/>
                  </a:lnTo>
                  <a:lnTo>
                    <a:pt x="0" y="271489"/>
                  </a:lnTo>
                  <a:lnTo>
                    <a:pt x="0" y="2018158"/>
                  </a:lnTo>
                  <a:lnTo>
                    <a:pt x="207" y="2072185"/>
                  </a:lnTo>
                  <a:lnTo>
                    <a:pt x="1662" y="2115754"/>
                  </a:lnTo>
                  <a:lnTo>
                    <a:pt x="13298" y="2177493"/>
                  </a:lnTo>
                  <a:lnTo>
                    <a:pt x="51726" y="2237879"/>
                  </a:lnTo>
                  <a:lnTo>
                    <a:pt x="112143" y="2276339"/>
                  </a:lnTo>
                  <a:lnTo>
                    <a:pt x="173882" y="2287983"/>
                  </a:lnTo>
                  <a:lnTo>
                    <a:pt x="217468" y="2289439"/>
                  </a:lnTo>
                  <a:lnTo>
                    <a:pt x="271510" y="2289647"/>
                  </a:lnTo>
                  <a:lnTo>
                    <a:pt x="1664451" y="2289647"/>
                  </a:lnTo>
                  <a:lnTo>
                    <a:pt x="1718493" y="2289439"/>
                  </a:lnTo>
                  <a:lnTo>
                    <a:pt x="1762079" y="2287983"/>
                  </a:lnTo>
                  <a:lnTo>
                    <a:pt x="1823818" y="2276339"/>
                  </a:lnTo>
                  <a:lnTo>
                    <a:pt x="1884196" y="2237879"/>
                  </a:lnTo>
                  <a:lnTo>
                    <a:pt x="1922663" y="2177493"/>
                  </a:lnTo>
                  <a:lnTo>
                    <a:pt x="1934299" y="2115754"/>
                  </a:lnTo>
                  <a:lnTo>
                    <a:pt x="1935754" y="2072185"/>
                  </a:lnTo>
                  <a:lnTo>
                    <a:pt x="1935961" y="2018158"/>
                  </a:lnTo>
                  <a:lnTo>
                    <a:pt x="1935961" y="271489"/>
                  </a:lnTo>
                  <a:lnTo>
                    <a:pt x="1935754" y="217466"/>
                  </a:lnTo>
                  <a:lnTo>
                    <a:pt x="1934299" y="173896"/>
                  </a:lnTo>
                  <a:lnTo>
                    <a:pt x="1922663" y="112153"/>
                  </a:lnTo>
                  <a:lnTo>
                    <a:pt x="1884196" y="51775"/>
                  </a:lnTo>
                  <a:lnTo>
                    <a:pt x="1823818" y="13308"/>
                  </a:lnTo>
                  <a:lnTo>
                    <a:pt x="1762079" y="1663"/>
                  </a:lnTo>
                  <a:lnTo>
                    <a:pt x="1718493" y="207"/>
                  </a:lnTo>
                  <a:lnTo>
                    <a:pt x="1664451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5459529" y="2578884"/>
              <a:ext cx="1936114" cy="2289810"/>
            </a:xfrm>
            <a:custGeom>
              <a:avLst/>
              <a:gdLst/>
              <a:ahLst/>
              <a:cxnLst/>
              <a:rect l="l" t="t" r="r" b="b"/>
              <a:pathLst>
                <a:path w="1936115" h="2289810">
                  <a:moveTo>
                    <a:pt x="271487" y="0"/>
                  </a:moveTo>
                  <a:lnTo>
                    <a:pt x="1664514" y="0"/>
                  </a:lnTo>
                  <a:lnTo>
                    <a:pt x="1718542" y="207"/>
                  </a:lnTo>
                  <a:lnTo>
                    <a:pt x="1762111" y="1663"/>
                  </a:lnTo>
                  <a:lnTo>
                    <a:pt x="1823850" y="13304"/>
                  </a:lnTo>
                  <a:lnTo>
                    <a:pt x="1884227" y="51770"/>
                  </a:lnTo>
                  <a:lnTo>
                    <a:pt x="1922695" y="112151"/>
                  </a:lnTo>
                  <a:lnTo>
                    <a:pt x="1934340" y="173894"/>
                  </a:lnTo>
                  <a:lnTo>
                    <a:pt x="1935795" y="217462"/>
                  </a:lnTo>
                  <a:lnTo>
                    <a:pt x="1936003" y="271487"/>
                  </a:lnTo>
                  <a:lnTo>
                    <a:pt x="1936003" y="2018158"/>
                  </a:lnTo>
                  <a:lnTo>
                    <a:pt x="1935795" y="2072185"/>
                  </a:lnTo>
                  <a:lnTo>
                    <a:pt x="1934340" y="2115754"/>
                  </a:lnTo>
                  <a:lnTo>
                    <a:pt x="1922695" y="2177493"/>
                  </a:lnTo>
                  <a:lnTo>
                    <a:pt x="1884227" y="2237871"/>
                  </a:lnTo>
                  <a:lnTo>
                    <a:pt x="1823850" y="2276339"/>
                  </a:lnTo>
                  <a:lnTo>
                    <a:pt x="1762111" y="2287983"/>
                  </a:lnTo>
                  <a:lnTo>
                    <a:pt x="1718542" y="2289439"/>
                  </a:lnTo>
                  <a:lnTo>
                    <a:pt x="1664514" y="2289647"/>
                  </a:lnTo>
                  <a:lnTo>
                    <a:pt x="271487" y="2289647"/>
                  </a:lnTo>
                  <a:lnTo>
                    <a:pt x="217462" y="2289439"/>
                  </a:lnTo>
                  <a:lnTo>
                    <a:pt x="173894" y="2287983"/>
                  </a:lnTo>
                  <a:lnTo>
                    <a:pt x="112151" y="2276339"/>
                  </a:lnTo>
                  <a:lnTo>
                    <a:pt x="51770" y="2237871"/>
                  </a:lnTo>
                  <a:lnTo>
                    <a:pt x="13304" y="2177493"/>
                  </a:lnTo>
                  <a:lnTo>
                    <a:pt x="1663" y="2115754"/>
                  </a:lnTo>
                  <a:lnTo>
                    <a:pt x="207" y="2072185"/>
                  </a:lnTo>
                  <a:lnTo>
                    <a:pt x="0" y="2018158"/>
                  </a:lnTo>
                  <a:lnTo>
                    <a:pt x="0" y="271487"/>
                  </a:lnTo>
                  <a:lnTo>
                    <a:pt x="207" y="217462"/>
                  </a:lnTo>
                  <a:lnTo>
                    <a:pt x="1663" y="173894"/>
                  </a:lnTo>
                  <a:lnTo>
                    <a:pt x="13304" y="112151"/>
                  </a:lnTo>
                  <a:lnTo>
                    <a:pt x="51770" y="51770"/>
                  </a:lnTo>
                  <a:lnTo>
                    <a:pt x="112151" y="13304"/>
                  </a:lnTo>
                  <a:lnTo>
                    <a:pt x="173894" y="1663"/>
                  </a:lnTo>
                  <a:lnTo>
                    <a:pt x="217462" y="207"/>
                  </a:lnTo>
                  <a:lnTo>
                    <a:pt x="271487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13452863" y="3316087"/>
              <a:ext cx="2018664" cy="425450"/>
            </a:xfrm>
            <a:custGeom>
              <a:avLst/>
              <a:gdLst/>
              <a:ahLst/>
              <a:cxnLst/>
              <a:rect l="l" t="t" r="r" b="b"/>
              <a:pathLst>
                <a:path w="2018665" h="425450">
                  <a:moveTo>
                    <a:pt x="2018183" y="0"/>
                  </a:moveTo>
                  <a:lnTo>
                    <a:pt x="10246" y="422908"/>
                  </a:lnTo>
                  <a:lnTo>
                    <a:pt x="0" y="425066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3364724" y="3689814"/>
              <a:ext cx="109220" cy="98425"/>
            </a:xfrm>
            <a:custGeom>
              <a:avLst/>
              <a:gdLst/>
              <a:ahLst/>
              <a:cxnLst/>
              <a:rect l="l" t="t" r="r" b="b"/>
              <a:pathLst>
                <a:path w="109219" h="98425">
                  <a:moveTo>
                    <a:pt x="88060" y="0"/>
                  </a:moveTo>
                  <a:lnTo>
                    <a:pt x="0" y="69893"/>
                  </a:lnTo>
                  <a:lnTo>
                    <a:pt x="108687" y="98363"/>
                  </a:lnTo>
                  <a:lnTo>
                    <a:pt x="88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5797948" y="4294947"/>
              <a:ext cx="1252220" cy="374650"/>
            </a:xfrm>
            <a:custGeom>
              <a:avLst/>
              <a:gdLst/>
              <a:ahLst/>
              <a:cxnLst/>
              <a:rect l="l" t="t" r="r" b="b"/>
              <a:pathLst>
                <a:path w="1252219" h="374650">
                  <a:moveTo>
                    <a:pt x="1077872" y="0"/>
                  </a:moveTo>
                  <a:lnTo>
                    <a:pt x="173921" y="0"/>
                  </a:lnTo>
                  <a:lnTo>
                    <a:pt x="139328" y="133"/>
                  </a:lnTo>
                  <a:lnTo>
                    <a:pt x="89225" y="3595"/>
                  </a:lnTo>
                  <a:lnTo>
                    <a:pt x="51037" y="18798"/>
                  </a:lnTo>
                  <a:lnTo>
                    <a:pt x="18836" y="51040"/>
                  </a:lnTo>
                  <a:lnTo>
                    <a:pt x="3622" y="89221"/>
                  </a:lnTo>
                  <a:lnTo>
                    <a:pt x="134" y="139297"/>
                  </a:lnTo>
                  <a:lnTo>
                    <a:pt x="0" y="173900"/>
                  </a:lnTo>
                  <a:lnTo>
                    <a:pt x="0" y="200653"/>
                  </a:lnTo>
                  <a:lnTo>
                    <a:pt x="1073" y="263160"/>
                  </a:lnTo>
                  <a:lnTo>
                    <a:pt x="8586" y="302713"/>
                  </a:lnTo>
                  <a:lnTo>
                    <a:pt x="33179" y="341388"/>
                  </a:lnTo>
                  <a:lnTo>
                    <a:pt x="71830" y="366030"/>
                  </a:lnTo>
                  <a:lnTo>
                    <a:pt x="111410" y="373488"/>
                  </a:lnTo>
                  <a:lnTo>
                    <a:pt x="173921" y="374554"/>
                  </a:lnTo>
                  <a:lnTo>
                    <a:pt x="1077872" y="374554"/>
                  </a:lnTo>
                  <a:lnTo>
                    <a:pt x="1140384" y="373488"/>
                  </a:lnTo>
                  <a:lnTo>
                    <a:pt x="1179964" y="366030"/>
                  </a:lnTo>
                  <a:lnTo>
                    <a:pt x="1218614" y="341388"/>
                  </a:lnTo>
                  <a:lnTo>
                    <a:pt x="1243208" y="302713"/>
                  </a:lnTo>
                  <a:lnTo>
                    <a:pt x="1250721" y="263160"/>
                  </a:lnTo>
                  <a:lnTo>
                    <a:pt x="1251794" y="200653"/>
                  </a:lnTo>
                  <a:lnTo>
                    <a:pt x="1251794" y="173900"/>
                  </a:lnTo>
                  <a:lnTo>
                    <a:pt x="1250721" y="111389"/>
                  </a:lnTo>
                  <a:lnTo>
                    <a:pt x="1243208" y="71840"/>
                  </a:lnTo>
                  <a:lnTo>
                    <a:pt x="1218614" y="33165"/>
                  </a:lnTo>
                  <a:lnTo>
                    <a:pt x="1179964" y="8523"/>
                  </a:lnTo>
                  <a:lnTo>
                    <a:pt x="1140384" y="1065"/>
                  </a:lnTo>
                  <a:lnTo>
                    <a:pt x="107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15797948" y="4294947"/>
              <a:ext cx="1252220" cy="374650"/>
            </a:xfrm>
            <a:custGeom>
              <a:avLst/>
              <a:gdLst/>
              <a:ahLst/>
              <a:cxnLst/>
              <a:rect l="l" t="t" r="r" b="b"/>
              <a:pathLst>
                <a:path w="1252219" h="374650">
                  <a:moveTo>
                    <a:pt x="173903" y="0"/>
                  </a:moveTo>
                  <a:lnTo>
                    <a:pt x="1077851" y="0"/>
                  </a:lnTo>
                  <a:lnTo>
                    <a:pt x="1112455" y="133"/>
                  </a:lnTo>
                  <a:lnTo>
                    <a:pt x="1162530" y="3595"/>
                  </a:lnTo>
                  <a:lnTo>
                    <a:pt x="1200711" y="18795"/>
                  </a:lnTo>
                  <a:lnTo>
                    <a:pt x="1232954" y="51038"/>
                  </a:lnTo>
                  <a:lnTo>
                    <a:pt x="1248156" y="89222"/>
                  </a:lnTo>
                  <a:lnTo>
                    <a:pt x="1251619" y="139297"/>
                  </a:lnTo>
                  <a:lnTo>
                    <a:pt x="1251752" y="173903"/>
                  </a:lnTo>
                  <a:lnTo>
                    <a:pt x="1251752" y="200649"/>
                  </a:lnTo>
                  <a:lnTo>
                    <a:pt x="1250687" y="263163"/>
                  </a:lnTo>
                  <a:lnTo>
                    <a:pt x="1243229" y="302713"/>
                  </a:lnTo>
                  <a:lnTo>
                    <a:pt x="1218587" y="341390"/>
                  </a:lnTo>
                  <a:lnTo>
                    <a:pt x="1179911" y="366030"/>
                  </a:lnTo>
                  <a:lnTo>
                    <a:pt x="1140363" y="373487"/>
                  </a:lnTo>
                  <a:lnTo>
                    <a:pt x="1077851" y="374552"/>
                  </a:lnTo>
                  <a:lnTo>
                    <a:pt x="173903" y="374552"/>
                  </a:lnTo>
                  <a:lnTo>
                    <a:pt x="111389" y="373487"/>
                  </a:lnTo>
                  <a:lnTo>
                    <a:pt x="71839" y="366030"/>
                  </a:lnTo>
                  <a:lnTo>
                    <a:pt x="33162" y="341390"/>
                  </a:lnTo>
                  <a:lnTo>
                    <a:pt x="8522" y="302713"/>
                  </a:lnTo>
                  <a:lnTo>
                    <a:pt x="1065" y="263163"/>
                  </a:lnTo>
                  <a:lnTo>
                    <a:pt x="0" y="200649"/>
                  </a:lnTo>
                  <a:lnTo>
                    <a:pt x="0" y="173903"/>
                  </a:lnTo>
                  <a:lnTo>
                    <a:pt x="1065" y="111389"/>
                  </a:lnTo>
                  <a:lnTo>
                    <a:pt x="8522" y="71839"/>
                  </a:lnTo>
                  <a:lnTo>
                    <a:pt x="33162" y="33162"/>
                  </a:lnTo>
                  <a:lnTo>
                    <a:pt x="71839" y="8522"/>
                  </a:lnTo>
                  <a:lnTo>
                    <a:pt x="111389" y="1065"/>
                  </a:lnTo>
                  <a:lnTo>
                    <a:pt x="173903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15797948" y="3562729"/>
              <a:ext cx="1252220" cy="374650"/>
            </a:xfrm>
            <a:custGeom>
              <a:avLst/>
              <a:gdLst/>
              <a:ahLst/>
              <a:cxnLst/>
              <a:rect l="l" t="t" r="r" b="b"/>
              <a:pathLst>
                <a:path w="1252219" h="374650">
                  <a:moveTo>
                    <a:pt x="1077872" y="0"/>
                  </a:moveTo>
                  <a:lnTo>
                    <a:pt x="173921" y="0"/>
                  </a:lnTo>
                  <a:lnTo>
                    <a:pt x="139328" y="133"/>
                  </a:lnTo>
                  <a:lnTo>
                    <a:pt x="89225" y="3595"/>
                  </a:lnTo>
                  <a:lnTo>
                    <a:pt x="51037" y="18798"/>
                  </a:lnTo>
                  <a:lnTo>
                    <a:pt x="18836" y="51040"/>
                  </a:lnTo>
                  <a:lnTo>
                    <a:pt x="3622" y="89221"/>
                  </a:lnTo>
                  <a:lnTo>
                    <a:pt x="134" y="139297"/>
                  </a:lnTo>
                  <a:lnTo>
                    <a:pt x="0" y="173900"/>
                  </a:lnTo>
                  <a:lnTo>
                    <a:pt x="0" y="200653"/>
                  </a:lnTo>
                  <a:lnTo>
                    <a:pt x="1073" y="263160"/>
                  </a:lnTo>
                  <a:lnTo>
                    <a:pt x="8586" y="302713"/>
                  </a:lnTo>
                  <a:lnTo>
                    <a:pt x="33179" y="341388"/>
                  </a:lnTo>
                  <a:lnTo>
                    <a:pt x="71830" y="366030"/>
                  </a:lnTo>
                  <a:lnTo>
                    <a:pt x="111410" y="373488"/>
                  </a:lnTo>
                  <a:lnTo>
                    <a:pt x="173921" y="374554"/>
                  </a:lnTo>
                  <a:lnTo>
                    <a:pt x="1077872" y="374554"/>
                  </a:lnTo>
                  <a:lnTo>
                    <a:pt x="1140384" y="373488"/>
                  </a:lnTo>
                  <a:lnTo>
                    <a:pt x="1179964" y="366030"/>
                  </a:lnTo>
                  <a:lnTo>
                    <a:pt x="1218614" y="341388"/>
                  </a:lnTo>
                  <a:lnTo>
                    <a:pt x="1243208" y="302713"/>
                  </a:lnTo>
                  <a:lnTo>
                    <a:pt x="1250721" y="263160"/>
                  </a:lnTo>
                  <a:lnTo>
                    <a:pt x="1251794" y="200653"/>
                  </a:lnTo>
                  <a:lnTo>
                    <a:pt x="1251794" y="173900"/>
                  </a:lnTo>
                  <a:lnTo>
                    <a:pt x="1250721" y="111389"/>
                  </a:lnTo>
                  <a:lnTo>
                    <a:pt x="1243208" y="71840"/>
                  </a:lnTo>
                  <a:lnTo>
                    <a:pt x="1218614" y="33165"/>
                  </a:lnTo>
                  <a:lnTo>
                    <a:pt x="1179964" y="8523"/>
                  </a:lnTo>
                  <a:lnTo>
                    <a:pt x="1140384" y="1065"/>
                  </a:lnTo>
                  <a:lnTo>
                    <a:pt x="107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15797948" y="3562729"/>
              <a:ext cx="1252220" cy="374650"/>
            </a:xfrm>
            <a:custGeom>
              <a:avLst/>
              <a:gdLst/>
              <a:ahLst/>
              <a:cxnLst/>
              <a:rect l="l" t="t" r="r" b="b"/>
              <a:pathLst>
                <a:path w="1252219" h="374650">
                  <a:moveTo>
                    <a:pt x="173903" y="0"/>
                  </a:moveTo>
                  <a:lnTo>
                    <a:pt x="1077851" y="0"/>
                  </a:lnTo>
                  <a:lnTo>
                    <a:pt x="1112455" y="133"/>
                  </a:lnTo>
                  <a:lnTo>
                    <a:pt x="1162530" y="3595"/>
                  </a:lnTo>
                  <a:lnTo>
                    <a:pt x="1200711" y="18795"/>
                  </a:lnTo>
                  <a:lnTo>
                    <a:pt x="1232954" y="51038"/>
                  </a:lnTo>
                  <a:lnTo>
                    <a:pt x="1248156" y="89222"/>
                  </a:lnTo>
                  <a:lnTo>
                    <a:pt x="1251619" y="139297"/>
                  </a:lnTo>
                  <a:lnTo>
                    <a:pt x="1251752" y="173903"/>
                  </a:lnTo>
                  <a:lnTo>
                    <a:pt x="1251752" y="200649"/>
                  </a:lnTo>
                  <a:lnTo>
                    <a:pt x="1250687" y="263163"/>
                  </a:lnTo>
                  <a:lnTo>
                    <a:pt x="1243229" y="302713"/>
                  </a:lnTo>
                  <a:lnTo>
                    <a:pt x="1218587" y="341390"/>
                  </a:lnTo>
                  <a:lnTo>
                    <a:pt x="1179911" y="366030"/>
                  </a:lnTo>
                  <a:lnTo>
                    <a:pt x="1140363" y="373487"/>
                  </a:lnTo>
                  <a:lnTo>
                    <a:pt x="1077851" y="374552"/>
                  </a:lnTo>
                  <a:lnTo>
                    <a:pt x="173903" y="374552"/>
                  </a:lnTo>
                  <a:lnTo>
                    <a:pt x="111389" y="373487"/>
                  </a:lnTo>
                  <a:lnTo>
                    <a:pt x="71839" y="366030"/>
                  </a:lnTo>
                  <a:lnTo>
                    <a:pt x="33162" y="341390"/>
                  </a:lnTo>
                  <a:lnTo>
                    <a:pt x="8522" y="302713"/>
                  </a:lnTo>
                  <a:lnTo>
                    <a:pt x="1065" y="263163"/>
                  </a:lnTo>
                  <a:lnTo>
                    <a:pt x="0" y="200649"/>
                  </a:lnTo>
                  <a:lnTo>
                    <a:pt x="0" y="173903"/>
                  </a:lnTo>
                  <a:lnTo>
                    <a:pt x="1065" y="111389"/>
                  </a:lnTo>
                  <a:lnTo>
                    <a:pt x="8522" y="71839"/>
                  </a:lnTo>
                  <a:lnTo>
                    <a:pt x="33162" y="33162"/>
                  </a:lnTo>
                  <a:lnTo>
                    <a:pt x="71839" y="8522"/>
                  </a:lnTo>
                  <a:lnTo>
                    <a:pt x="111389" y="1065"/>
                  </a:lnTo>
                  <a:lnTo>
                    <a:pt x="173903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15791456" y="2804448"/>
              <a:ext cx="1252220" cy="374650"/>
            </a:xfrm>
            <a:custGeom>
              <a:avLst/>
              <a:gdLst/>
              <a:ahLst/>
              <a:cxnLst/>
              <a:rect l="l" t="t" r="r" b="b"/>
              <a:pathLst>
                <a:path w="1252219" h="374650">
                  <a:moveTo>
                    <a:pt x="1077872" y="0"/>
                  </a:moveTo>
                  <a:lnTo>
                    <a:pt x="173921" y="0"/>
                  </a:lnTo>
                  <a:lnTo>
                    <a:pt x="139328" y="133"/>
                  </a:lnTo>
                  <a:lnTo>
                    <a:pt x="89225" y="3595"/>
                  </a:lnTo>
                  <a:lnTo>
                    <a:pt x="51037" y="18798"/>
                  </a:lnTo>
                  <a:lnTo>
                    <a:pt x="18836" y="51040"/>
                  </a:lnTo>
                  <a:lnTo>
                    <a:pt x="3622" y="89226"/>
                  </a:lnTo>
                  <a:lnTo>
                    <a:pt x="134" y="139303"/>
                  </a:lnTo>
                  <a:lnTo>
                    <a:pt x="0" y="173910"/>
                  </a:lnTo>
                  <a:lnTo>
                    <a:pt x="0" y="200653"/>
                  </a:lnTo>
                  <a:lnTo>
                    <a:pt x="1073" y="263168"/>
                  </a:lnTo>
                  <a:lnTo>
                    <a:pt x="8586" y="302713"/>
                  </a:lnTo>
                  <a:lnTo>
                    <a:pt x="33179" y="341397"/>
                  </a:lnTo>
                  <a:lnTo>
                    <a:pt x="71830" y="366041"/>
                  </a:lnTo>
                  <a:lnTo>
                    <a:pt x="111410" y="373489"/>
                  </a:lnTo>
                  <a:lnTo>
                    <a:pt x="173921" y="374554"/>
                  </a:lnTo>
                  <a:lnTo>
                    <a:pt x="1077872" y="374554"/>
                  </a:lnTo>
                  <a:lnTo>
                    <a:pt x="1140384" y="373489"/>
                  </a:lnTo>
                  <a:lnTo>
                    <a:pt x="1179964" y="366041"/>
                  </a:lnTo>
                  <a:lnTo>
                    <a:pt x="1218614" y="341397"/>
                  </a:lnTo>
                  <a:lnTo>
                    <a:pt x="1243208" y="302713"/>
                  </a:lnTo>
                  <a:lnTo>
                    <a:pt x="1250721" y="263168"/>
                  </a:lnTo>
                  <a:lnTo>
                    <a:pt x="1251794" y="200653"/>
                  </a:lnTo>
                  <a:lnTo>
                    <a:pt x="1251794" y="173910"/>
                  </a:lnTo>
                  <a:lnTo>
                    <a:pt x="1250721" y="111394"/>
                  </a:lnTo>
                  <a:lnTo>
                    <a:pt x="1243208" y="71840"/>
                  </a:lnTo>
                  <a:lnTo>
                    <a:pt x="1218614" y="33165"/>
                  </a:lnTo>
                  <a:lnTo>
                    <a:pt x="1179964" y="8523"/>
                  </a:lnTo>
                  <a:lnTo>
                    <a:pt x="1140384" y="1065"/>
                  </a:lnTo>
                  <a:lnTo>
                    <a:pt x="1077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15791456" y="2804448"/>
              <a:ext cx="1252220" cy="374650"/>
            </a:xfrm>
            <a:custGeom>
              <a:avLst/>
              <a:gdLst/>
              <a:ahLst/>
              <a:cxnLst/>
              <a:rect l="l" t="t" r="r" b="b"/>
              <a:pathLst>
                <a:path w="1252219" h="374650">
                  <a:moveTo>
                    <a:pt x="173903" y="0"/>
                  </a:moveTo>
                  <a:lnTo>
                    <a:pt x="1077851" y="0"/>
                  </a:lnTo>
                  <a:lnTo>
                    <a:pt x="1112455" y="133"/>
                  </a:lnTo>
                  <a:lnTo>
                    <a:pt x="1162530" y="3595"/>
                  </a:lnTo>
                  <a:lnTo>
                    <a:pt x="1200711" y="18795"/>
                  </a:lnTo>
                  <a:lnTo>
                    <a:pt x="1232954" y="51038"/>
                  </a:lnTo>
                  <a:lnTo>
                    <a:pt x="1248156" y="89222"/>
                  </a:lnTo>
                  <a:lnTo>
                    <a:pt x="1251619" y="139297"/>
                  </a:lnTo>
                  <a:lnTo>
                    <a:pt x="1251752" y="173903"/>
                  </a:lnTo>
                  <a:lnTo>
                    <a:pt x="1251752" y="200649"/>
                  </a:lnTo>
                  <a:lnTo>
                    <a:pt x="1250687" y="263163"/>
                  </a:lnTo>
                  <a:lnTo>
                    <a:pt x="1243229" y="302713"/>
                  </a:lnTo>
                  <a:lnTo>
                    <a:pt x="1218587" y="341390"/>
                  </a:lnTo>
                  <a:lnTo>
                    <a:pt x="1179911" y="366030"/>
                  </a:lnTo>
                  <a:lnTo>
                    <a:pt x="1140363" y="373487"/>
                  </a:lnTo>
                  <a:lnTo>
                    <a:pt x="1077851" y="374552"/>
                  </a:lnTo>
                  <a:lnTo>
                    <a:pt x="173903" y="374552"/>
                  </a:lnTo>
                  <a:lnTo>
                    <a:pt x="111389" y="373487"/>
                  </a:lnTo>
                  <a:lnTo>
                    <a:pt x="71839" y="366030"/>
                  </a:lnTo>
                  <a:lnTo>
                    <a:pt x="33162" y="341390"/>
                  </a:lnTo>
                  <a:lnTo>
                    <a:pt x="8522" y="302713"/>
                  </a:lnTo>
                  <a:lnTo>
                    <a:pt x="1065" y="263163"/>
                  </a:lnTo>
                  <a:lnTo>
                    <a:pt x="0" y="200649"/>
                  </a:lnTo>
                  <a:lnTo>
                    <a:pt x="0" y="173903"/>
                  </a:lnTo>
                  <a:lnTo>
                    <a:pt x="1065" y="111389"/>
                  </a:lnTo>
                  <a:lnTo>
                    <a:pt x="8522" y="71839"/>
                  </a:lnTo>
                  <a:lnTo>
                    <a:pt x="33162" y="33162"/>
                  </a:lnTo>
                  <a:lnTo>
                    <a:pt x="71839" y="8522"/>
                  </a:lnTo>
                  <a:lnTo>
                    <a:pt x="111389" y="1065"/>
                  </a:lnTo>
                  <a:lnTo>
                    <a:pt x="173903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756788" y="944136"/>
            <a:ext cx="4122116" cy="653708"/>
          </a:xfrm>
          <a:prstGeom prst="rect">
            <a:avLst/>
          </a:prstGeom>
        </p:spPr>
        <p:txBody>
          <a:bodyPr vert="horz" wrap="square" lIns="0" tIns="126686" rIns="0" bIns="0" rtlCol="0">
            <a:spAutoFit/>
          </a:bodyPr>
          <a:lstStyle/>
          <a:p>
            <a:pPr marL="7620" marR="6350">
              <a:lnSpc>
                <a:spcPts val="4140"/>
              </a:lnSpc>
              <a:spcBef>
                <a:spcPts val="1000"/>
              </a:spcBef>
            </a:pPr>
            <a:r>
              <a:rPr spc="-88" dirty="0"/>
              <a:t>GPT </a:t>
            </a:r>
            <a:r>
              <a:rPr spc="-6" dirty="0"/>
              <a:t>model</a:t>
            </a:r>
            <a:endParaRPr spc="-6" dirty="0"/>
          </a:p>
        </p:txBody>
      </p:sp>
      <p:sp>
        <p:nvSpPr>
          <p:cNvPr id="51" name="object 51"/>
          <p:cNvSpPr txBox="1"/>
          <p:nvPr/>
        </p:nvSpPr>
        <p:spPr>
          <a:xfrm>
            <a:off x="9720181" y="2652044"/>
            <a:ext cx="473244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Linear</a:t>
            </a:r>
            <a:r>
              <a:rPr sz="695" kern="0" spc="-21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layer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616428" y="2208027"/>
            <a:ext cx="659231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GELU</a:t>
            </a:r>
            <a:r>
              <a:rPr sz="695" kern="0" spc="-33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activation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716244" y="1748211"/>
            <a:ext cx="473244" cy="11543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 defTabSz="554355" latinLnBrk="0">
              <a:spcBef>
                <a:spcPts val="65"/>
              </a:spcBef>
            </a:pPr>
            <a:r>
              <a:rPr sz="695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Linear</a:t>
            </a:r>
            <a:r>
              <a:rPr sz="695" kern="0" spc="-21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695" kern="0" spc="-6" dirty="0">
                <a:solidFill>
                  <a:sysClr val="windowText" lastClr="000000"/>
                </a:solidFill>
                <a:latin typeface="Arial MT"/>
                <a:cs typeface="Arial MT"/>
              </a:rPr>
              <a:t>layer</a:t>
            </a:r>
            <a:endParaRPr sz="695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929416" y="1940125"/>
            <a:ext cx="70467" cy="674248"/>
            <a:chOff x="16373637" y="3199410"/>
            <a:chExt cx="116205" cy="1111885"/>
          </a:xfrm>
        </p:grpSpPr>
        <p:sp>
          <p:nvSpPr>
            <p:cNvPr id="55" name="object 55"/>
            <p:cNvSpPr/>
            <p:nvPr/>
          </p:nvSpPr>
          <p:spPr>
            <a:xfrm>
              <a:off x="16439290" y="4036375"/>
              <a:ext cx="0" cy="264160"/>
            </a:xfrm>
            <a:custGeom>
              <a:avLst/>
              <a:gdLst/>
              <a:ahLst/>
              <a:cxnLst/>
              <a:rect l="l" t="t" r="r" b="b"/>
              <a:pathLst>
                <a:path h="264160">
                  <a:moveTo>
                    <a:pt x="0" y="264006"/>
                  </a:moveTo>
                  <a:lnTo>
                    <a:pt x="0" y="1047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16389029" y="394631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50260" y="0"/>
                  </a:moveTo>
                  <a:lnTo>
                    <a:pt x="0" y="100520"/>
                  </a:lnTo>
                  <a:lnTo>
                    <a:pt x="100520" y="100520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6423898" y="3289455"/>
              <a:ext cx="0" cy="264160"/>
            </a:xfrm>
            <a:custGeom>
              <a:avLst/>
              <a:gdLst/>
              <a:ahLst/>
              <a:cxnLst/>
              <a:rect l="l" t="t" r="r" b="b"/>
              <a:pathLst>
                <a:path h="264160">
                  <a:moveTo>
                    <a:pt x="0" y="264006"/>
                  </a:moveTo>
                  <a:lnTo>
                    <a:pt x="0" y="1047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6373637" y="319941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50260" y="0"/>
                  </a:moveTo>
                  <a:lnTo>
                    <a:pt x="0" y="100520"/>
                  </a:lnTo>
                  <a:lnTo>
                    <a:pt x="100520" y="100520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9027317" y="3351143"/>
            <a:ext cx="1053922" cy="34895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169545" marR="3175" indent="-162560" defTabSz="554355" latinLnBrk="0">
              <a:lnSpc>
                <a:spcPct val="124000"/>
              </a:lnSpc>
              <a:spcBef>
                <a:spcPts val="60"/>
              </a:spcBef>
            </a:pPr>
            <a:r>
              <a:rPr sz="940" b="1" kern="0" spc="-136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940" b="1" kern="0" spc="-42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40" b="1" kern="0" spc="-106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view</a:t>
            </a:r>
            <a:r>
              <a:rPr sz="940" b="1" kern="0" spc="-42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40" b="1" kern="0" spc="-73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into</a:t>
            </a:r>
            <a:r>
              <a:rPr sz="940" b="1" kern="0" spc="-42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40" b="1" kern="0" spc="-36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940" b="1" kern="0" spc="73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40" b="1" kern="0" spc="-109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“Feed </a:t>
            </a:r>
            <a:r>
              <a:rPr sz="940" b="1" kern="0" spc="-85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forward”</a:t>
            </a:r>
            <a:r>
              <a:rPr sz="940" b="1" kern="0" spc="-27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40" b="1" kern="0" spc="-6" dirty="0">
                <a:solidFill>
                  <a:sysClr val="windowText" lastClr="000000"/>
                </a:solidFill>
                <a:latin typeface="Trebuchet MS" panose="020B0603020202020204"/>
                <a:cs typeface="Trebuchet MS" panose="020B0603020202020204"/>
              </a:rPr>
              <a:t>block</a:t>
            </a:r>
            <a:endParaRPr sz="940" kern="0">
              <a:solidFill>
                <a:sysClr val="windowText" lastClr="000000"/>
              </a:solidFill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359290" y="2973502"/>
            <a:ext cx="215251" cy="402778"/>
            <a:chOff x="15433456" y="4903526"/>
            <a:chExt cx="354965" cy="664210"/>
          </a:xfrm>
        </p:grpSpPr>
        <p:sp>
          <p:nvSpPr>
            <p:cNvPr id="61" name="object 61"/>
            <p:cNvSpPr/>
            <p:nvPr/>
          </p:nvSpPr>
          <p:spPr>
            <a:xfrm>
              <a:off x="15443927" y="4983199"/>
              <a:ext cx="302260" cy="574040"/>
            </a:xfrm>
            <a:custGeom>
              <a:avLst/>
              <a:gdLst/>
              <a:ahLst/>
              <a:cxnLst/>
              <a:rect l="l" t="t" r="r" b="b"/>
              <a:pathLst>
                <a:path w="302259" h="574039">
                  <a:moveTo>
                    <a:pt x="0" y="573752"/>
                  </a:moveTo>
                  <a:lnTo>
                    <a:pt x="297341" y="9264"/>
                  </a:lnTo>
                  <a:lnTo>
                    <a:pt x="30222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15696799" y="4903526"/>
              <a:ext cx="91440" cy="112395"/>
            </a:xfrm>
            <a:custGeom>
              <a:avLst/>
              <a:gdLst/>
              <a:ahLst/>
              <a:cxnLst/>
              <a:rect l="l" t="t" r="r" b="b"/>
              <a:pathLst>
                <a:path w="91440" h="112395">
                  <a:moveTo>
                    <a:pt x="91306" y="0"/>
                  </a:moveTo>
                  <a:lnTo>
                    <a:pt x="0" y="65516"/>
                  </a:lnTo>
                  <a:lnTo>
                    <a:pt x="88897" y="112363"/>
                  </a:lnTo>
                  <a:lnTo>
                    <a:pt x="913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355" latinLnBrk="0"/>
              <a:endParaRPr sz="1090" kern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实现 </a:t>
            </a:r>
            <a:r>
              <a:rPr lang="en-US" altLang="zh-CN" sz="3600" dirty="0"/>
              <a:t>Transformer </a:t>
            </a:r>
            <a:r>
              <a:rPr lang="zh-CN" altLang="en-US" sz="3600" dirty="0"/>
              <a:t>模块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多头注意力</a:t>
            </a:r>
            <a:endParaRPr lang="en-US" altLang="zh-CN" dirty="0"/>
          </a:p>
          <a:p>
            <a:r>
              <a:rPr lang="zh-CN" altLang="en-US" dirty="0"/>
              <a:t>层归一化</a:t>
            </a:r>
            <a:endParaRPr lang="en-US" altLang="zh-CN" dirty="0"/>
          </a:p>
          <a:p>
            <a:r>
              <a:rPr lang="en-US" altLang="zh-CN" dirty="0"/>
              <a:t>Dropout</a:t>
            </a:r>
            <a:endParaRPr lang="en-US" altLang="zh-CN" dirty="0"/>
          </a:p>
          <a:p>
            <a:r>
              <a:rPr lang="zh-CN" altLang="en-US" dirty="0"/>
              <a:t>前馈层和 </a:t>
            </a:r>
            <a:r>
              <a:rPr lang="en-US" altLang="zh-CN" dirty="0"/>
              <a:t>GELU </a:t>
            </a:r>
            <a:r>
              <a:rPr lang="zh-CN" altLang="en-US" dirty="0"/>
              <a:t>激活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6570" y="18095"/>
            <a:ext cx="6125430" cy="6839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</a:t>
            </a:r>
            <a:r>
              <a:rPr lang="en-US" altLang="zh-CN" dirty="0"/>
              <a:t>GPT-2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407152" cy="4351338"/>
          </a:xfrm>
        </p:spPr>
        <p:txBody>
          <a:bodyPr/>
          <a:lstStyle/>
          <a:p>
            <a:r>
              <a:rPr lang="en-US" altLang="zh-CN" dirty="0"/>
              <a:t>12</a:t>
            </a:r>
            <a:r>
              <a:rPr lang="zh-CN" altLang="en-US" dirty="0"/>
              <a:t>个</a:t>
            </a:r>
            <a:r>
              <a:rPr lang="en-US" altLang="zh-CN" dirty="0"/>
              <a:t>Transformer block</a:t>
            </a:r>
            <a:endParaRPr lang="en-US" altLang="zh-CN" dirty="0"/>
          </a:p>
          <a:p>
            <a:r>
              <a:rPr lang="zh-CN" altLang="en-US" dirty="0"/>
              <a:t>输出映射到</a:t>
            </a:r>
            <a:r>
              <a:rPr lang="en-US" altLang="zh-CN" dirty="0"/>
              <a:t>50,257 </a:t>
            </a:r>
            <a:r>
              <a:rPr lang="zh-CN" altLang="en-US" dirty="0"/>
              <a:t>维，对应于模型的词汇量），以预测序列中的下一个标记。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4" y="0"/>
            <a:ext cx="5873496" cy="68066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生成文本：一次一个</a:t>
            </a:r>
            <a:r>
              <a:rPr lang="en-US" altLang="zh-CN" dirty="0"/>
              <a:t>token</a:t>
            </a:r>
            <a:r>
              <a:rPr lang="zh-CN" altLang="en-US" dirty="0"/>
              <a:t>地生成文本</a:t>
            </a:r>
            <a:endParaRPr lang="ko-KR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7587" y="1557338"/>
            <a:ext cx="5076825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200" y="0"/>
            <a:ext cx="10412083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16736" y="286250"/>
            <a:ext cx="2203704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将文本输入编码为四个 </a:t>
            </a:r>
            <a:r>
              <a:rPr lang="en-US" altLang="zh-CN"/>
              <a:t>token ID</a:t>
            </a:r>
            <a:endParaRPr lang="ko-KR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870960" y="147750"/>
            <a:ext cx="4943856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2. GPT </a:t>
            </a:r>
            <a:r>
              <a:rPr lang="zh-CN" altLang="en-US" dirty="0"/>
              <a:t>模型返回一个由四个向量（行）组成的矩阵，其中每个向量有 </a:t>
            </a:r>
            <a:r>
              <a:rPr lang="en-US" altLang="zh-CN" dirty="0"/>
              <a:t>50257 </a:t>
            </a:r>
            <a:r>
              <a:rPr lang="zh-CN" altLang="en-US" dirty="0"/>
              <a:t>个维度（列）。</a:t>
            </a:r>
            <a:endParaRPr lang="ko-KR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732520" y="1043863"/>
            <a:ext cx="2816352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提取最后一个向量，该向量对应于 </a:t>
            </a:r>
            <a:r>
              <a:rPr lang="en-US" altLang="zh-CN" dirty="0"/>
              <a:t>GPT </a:t>
            </a:r>
            <a:r>
              <a:rPr lang="zh-CN" altLang="en-US" dirty="0"/>
              <a:t>模型应该生成的下一个</a:t>
            </a:r>
            <a:r>
              <a:rPr lang="en-US" altLang="zh-CN" dirty="0"/>
              <a:t>token</a:t>
            </a:r>
            <a:endParaRPr lang="en-US" altLang="zh-CN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020556" y="2641724"/>
            <a:ext cx="2240280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使用</a:t>
            </a:r>
            <a:r>
              <a:rPr lang="en-US" altLang="zh-CN" dirty="0" err="1"/>
              <a:t>softmax</a:t>
            </a:r>
            <a:r>
              <a:rPr lang="zh-CN" altLang="en-US" dirty="0"/>
              <a:t>函数将</a:t>
            </a:r>
            <a:r>
              <a:rPr lang="en-US" altLang="zh-CN" dirty="0"/>
              <a:t>logits</a:t>
            </a:r>
            <a:r>
              <a:rPr lang="zh-CN" altLang="en-US" dirty="0"/>
              <a:t>转换为概率分布</a:t>
            </a:r>
            <a:endParaRPr lang="en-US" altLang="zh-CN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9100566" y="4239585"/>
            <a:ext cx="2080260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5.</a:t>
            </a:r>
            <a:r>
              <a:rPr lang="ko-KR" altLang="en-US" dirty="0"/>
              <a:t>标识最大值的索引位置，也代表 </a:t>
            </a:r>
            <a:r>
              <a:rPr lang="en-US" altLang="ko-KR" dirty="0"/>
              <a:t>token ID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956816" y="5214866"/>
            <a:ext cx="3127248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/>
              <a:t>6. </a:t>
            </a:r>
            <a:r>
              <a:rPr lang="zh-CN" altLang="en-US"/>
              <a:t>将 </a:t>
            </a:r>
            <a:r>
              <a:rPr lang="en-US" altLang="zh-CN"/>
              <a:t>token </a:t>
            </a:r>
            <a:r>
              <a:rPr lang="zh-CN" altLang="en-US"/>
              <a:t>附加到下一轮的先前输入中</a:t>
            </a:r>
            <a:endParaRPr lang="ko-KR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7168896" y="5882271"/>
            <a:ext cx="4315968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如果最大元素位于位置257，</a:t>
            </a:r>
            <a:endParaRPr lang="en-US" altLang="ko-KR" dirty="0"/>
          </a:p>
          <a:p>
            <a:r>
              <a:rPr lang="ko-KR" altLang="en-US" dirty="0"/>
              <a:t>我们将获得</a:t>
            </a:r>
            <a:r>
              <a:rPr lang="en-US" altLang="zh-CN" dirty="0"/>
              <a:t>token</a:t>
            </a:r>
            <a:r>
              <a:rPr lang="ko-KR" altLang="en-US" dirty="0"/>
              <a:t> ID 257。</a:t>
            </a:r>
            <a:endParaRPr lang="ko-KR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352544" y="6343936"/>
            <a:ext cx="23682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T</a:t>
            </a:r>
            <a:r>
              <a:rPr lang="en-US" altLang="zh-CN" dirty="0"/>
              <a:t>oken </a:t>
            </a:r>
            <a:r>
              <a:rPr lang="en-US" altLang="ko-KR" dirty="0"/>
              <a:t>ID</a:t>
            </a:r>
            <a:r>
              <a:rPr lang="ko-KR" altLang="en-US" dirty="0"/>
              <a:t>解码成文本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535" y="0"/>
            <a:ext cx="9948930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0727" y="1825625"/>
            <a:ext cx="2935705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为了便于说明，将 </a:t>
            </a:r>
            <a:r>
              <a:rPr lang="en-US" altLang="zh-CN" dirty="0"/>
              <a:t>token ID </a:t>
            </a:r>
            <a:r>
              <a:rPr lang="zh-CN" altLang="en-US" dirty="0"/>
              <a:t>转换为文本表示</a:t>
            </a:r>
            <a:endParaRPr lang="ko-KR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581144" y="230188"/>
            <a:ext cx="2670048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作为</a:t>
            </a:r>
            <a:r>
              <a:rPr lang="en-US" altLang="zh-CN" dirty="0"/>
              <a:t>LLM</a:t>
            </a:r>
            <a:r>
              <a:rPr lang="zh-CN" altLang="en-US" dirty="0"/>
              <a:t>输入提供的初始</a:t>
            </a:r>
            <a:r>
              <a:rPr lang="en-US" altLang="zh-CN" dirty="0"/>
              <a:t>token</a:t>
            </a:r>
            <a:r>
              <a:rPr lang="zh-CN" altLang="en-US" dirty="0"/>
              <a:t>（上下文）</a:t>
            </a:r>
            <a:endParaRPr lang="ko-KR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409561" y="-46811"/>
            <a:ext cx="2660904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预测的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ID </a:t>
            </a:r>
            <a:r>
              <a:rPr lang="zh-CN" altLang="en-US" dirty="0"/>
              <a:t>将附加到上下文中以供下一轮使用。</a:t>
            </a:r>
            <a:endParaRPr lang="ko-KR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537576" y="5747758"/>
            <a:ext cx="2691255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六次迭代后的输出</a:t>
            </a:r>
            <a:r>
              <a:rPr lang="en-US" altLang="zh-CN" dirty="0"/>
              <a:t>token</a:t>
            </a:r>
            <a:endParaRPr lang="en-US" altLang="zh-CN" dirty="0"/>
          </a:p>
          <a:p>
            <a:r>
              <a:rPr lang="ko-KR" altLang="en-US" dirty="0"/>
              <a:t>（</a:t>
            </a:r>
            <a:r>
              <a:rPr lang="en-US" altLang="ko-KR" dirty="0" err="1"/>
              <a:t>max_new_tokens</a:t>
            </a:r>
            <a:r>
              <a:rPr lang="en-US" altLang="ko-KR" dirty="0"/>
              <a:t>=6</a:t>
            </a:r>
            <a:r>
              <a:rPr lang="ko-KR" altLang="en-US" dirty="0"/>
              <a:t>）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使用随机权重初始化的</a:t>
            </a:r>
            <a:r>
              <a:rPr lang="en-US" altLang="zh-CN" dirty="0"/>
              <a:t>GPT</a:t>
            </a:r>
            <a:r>
              <a:rPr lang="zh-CN" altLang="en-US" dirty="0"/>
              <a:t>生成文本</a:t>
            </a:r>
            <a:endParaRPr lang="ko-KR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矩形 3"/>
          <p:cNvSpPr/>
          <p:nvPr/>
        </p:nvSpPr>
        <p:spPr>
          <a:xfrm>
            <a:off x="3666744" y="2950726"/>
            <a:ext cx="1984248" cy="1325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随机权重初始化的</a:t>
            </a:r>
            <a:r>
              <a:rPr lang="en-US" altLang="zh-CN" dirty="0"/>
              <a:t>GPT </a:t>
            </a:r>
            <a:r>
              <a:rPr lang="zh-CN" altLang="en-US" dirty="0"/>
              <a:t>模型实例</a:t>
            </a:r>
            <a:endParaRPr lang="ko-KR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562100" y="3429000"/>
            <a:ext cx="1711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"Hello, I am"</a:t>
            </a:r>
            <a:endParaRPr lang="ko-KR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291840" y="3602736"/>
            <a:ext cx="374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5650992" y="3602736"/>
            <a:ext cx="374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025896" y="2950726"/>
            <a:ext cx="3182112" cy="1325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altLang="ko-KR" b="0" dirty="0" err="1">
                <a:solidFill>
                  <a:schemeClr val="bg1"/>
                </a:solidFill>
                <a:effectLst/>
                <a:latin typeface="Courier New" panose="02070609020205090404" pitchFamily="49" charset="0"/>
              </a:rPr>
              <a:t>generate_text_simple</a:t>
            </a:r>
            <a:r>
              <a:rPr lang="en-US" altLang="ko-KR" dirty="0">
                <a:solidFill>
                  <a:schemeClr val="bg1"/>
                </a:solidFill>
                <a:latin typeface="Courier New" panose="02070609020205090404" pitchFamily="49" charset="0"/>
              </a:rPr>
              <a:t>()</a:t>
            </a:r>
            <a:endParaRPr lang="en-US" altLang="ko-KR" b="0" dirty="0">
              <a:solidFill>
                <a:schemeClr val="bg1"/>
              </a:solidFill>
              <a:effectLst/>
              <a:latin typeface="Courier New" panose="02070609020205090404" pitchFamily="49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635240" y="4276605"/>
            <a:ext cx="0" cy="405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91328" y="4684514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“Hello, I am </a:t>
            </a:r>
            <a:r>
              <a:rPr lang="en-US" altLang="ko-KR" dirty="0" err="1"/>
              <a:t>Featureiman</a:t>
            </a:r>
            <a:r>
              <a:rPr lang="en-US" altLang="ko-KR" dirty="0"/>
              <a:t> </a:t>
            </a:r>
            <a:r>
              <a:rPr lang="en-US" altLang="ko-KR" dirty="0" err="1"/>
              <a:t>Byeswickattribute</a:t>
            </a:r>
            <a:r>
              <a:rPr lang="en-US" altLang="ko-KR" dirty="0"/>
              <a:t> argue”</a:t>
            </a:r>
            <a:endParaRPr lang="ko-KR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5367528" y="5807631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“</a:t>
            </a:r>
            <a:r>
              <a:rPr lang="ko-KR" altLang="en-US" dirty="0" err="1">
                <a:solidFill>
                  <a:srgbClr val="FF0000"/>
                </a:solidFill>
              </a:rPr>
              <a:t>Hello</a:t>
            </a:r>
            <a:r>
              <a:rPr lang="ko-KR" altLang="en-US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I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am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a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model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ready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to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help</a:t>
            </a:r>
            <a:r>
              <a:rPr lang="en-US" altLang="ko-KR" dirty="0">
                <a:solidFill>
                  <a:srgbClr val="FF0000"/>
                </a:solidFill>
              </a:rPr>
              <a:t>”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45608" y="5186165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模型生成的是胡言乱语，一点也不连贯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95436" y="2367171"/>
            <a:ext cx="740112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110004020202020204"/>
                <a:ea typeface="等线" panose="02010600030101010101" pitchFamily="2" charset="-122"/>
                <a:cs typeface="+mn-cs"/>
              </a:rPr>
              <a:t>在未标记的数据上预训练GPT 模型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文本框 172"/>
          <p:cNvSpPr txBox="1"/>
          <p:nvPr/>
        </p:nvSpPr>
        <p:spPr>
          <a:xfrm>
            <a:off x="1154349" y="110247"/>
            <a:ext cx="644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大纲</a:t>
            </a:r>
            <a:endParaRPr lang="zh-CN" altLang="en-US" sz="3600" dirty="0"/>
          </a:p>
        </p:txBody>
      </p:sp>
      <p:sp>
        <p:nvSpPr>
          <p:cNvPr id="175" name="文本框 174"/>
          <p:cNvSpPr txBox="1"/>
          <p:nvPr/>
        </p:nvSpPr>
        <p:spPr>
          <a:xfrm>
            <a:off x="2408239" y="-181868"/>
            <a:ext cx="9092119" cy="222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计算训练集和验证集损失，以评估训练期间生成的文本的质量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实现训练函数并进行预训练 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保存和加载模型权重以继续训练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从 </a:t>
            </a:r>
            <a:r>
              <a:rPr lang="en-US" altLang="zh-CN" dirty="0"/>
              <a:t>OpenAI </a:t>
            </a:r>
            <a:r>
              <a:rPr lang="zh-CN" altLang="en-US" dirty="0"/>
              <a:t>加载预训练权重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43" y="2047204"/>
            <a:ext cx="10679015" cy="48107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A0A9-AEE8-4961-892A-9A031FCB256E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745" y="0"/>
            <a:ext cx="7034509" cy="672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4349" y="110247"/>
            <a:ext cx="644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使用 </a:t>
            </a:r>
            <a:r>
              <a:rPr lang="en-US" altLang="zh-CN" sz="3600" dirty="0"/>
              <a:t>GPT </a:t>
            </a:r>
            <a:r>
              <a:rPr lang="zh-CN" altLang="en-US" sz="3600" dirty="0"/>
              <a:t>生成文本</a:t>
            </a:r>
            <a:endParaRPr lang="zh-CN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" y="860481"/>
            <a:ext cx="12174649" cy="588727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64562" y="1064453"/>
            <a:ext cx="613756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使用分词器将输入文本编码为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ID </a:t>
            </a:r>
            <a:r>
              <a:rPr lang="zh-CN" altLang="en-US" dirty="0"/>
              <a:t>表示。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64562" y="5627849"/>
            <a:ext cx="613491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给定四个输入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ID</a:t>
            </a:r>
            <a:r>
              <a:rPr lang="zh-CN" altLang="en-US" dirty="0"/>
              <a:t>，该模型将生成 </a:t>
            </a:r>
            <a:r>
              <a:rPr lang="en-US" altLang="zh-CN" dirty="0"/>
              <a:t>4 </a:t>
            </a:r>
            <a:r>
              <a:rPr lang="zh-CN" altLang="en-US" dirty="0"/>
              <a:t>个 </a:t>
            </a:r>
            <a:r>
              <a:rPr lang="en-US" altLang="zh-CN" dirty="0"/>
              <a:t>logit </a:t>
            </a:r>
            <a:r>
              <a:rPr lang="zh-CN" altLang="en-US" dirty="0"/>
              <a:t>向量（行），其中每个向量有 </a:t>
            </a:r>
            <a:r>
              <a:rPr lang="en-US" altLang="zh-CN" dirty="0"/>
              <a:t>50,257 </a:t>
            </a:r>
            <a:r>
              <a:rPr lang="zh-CN" altLang="en-US" dirty="0"/>
              <a:t>个元素（列），等于词汇表大小。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060988" y="2634043"/>
            <a:ext cx="3599234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将 </a:t>
            </a:r>
            <a:r>
              <a:rPr lang="en-US" altLang="zh-CN" dirty="0"/>
              <a:t>logits </a:t>
            </a:r>
            <a:r>
              <a:rPr lang="zh-CN" altLang="en-US" dirty="0"/>
              <a:t>转换为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ID </a:t>
            </a:r>
            <a:r>
              <a:rPr lang="zh-CN" altLang="en-US" dirty="0"/>
              <a:t>后，我们使用标记器将这些 </a:t>
            </a:r>
            <a:r>
              <a:rPr lang="en-US" altLang="zh-CN" dirty="0"/>
              <a:t>ID </a:t>
            </a:r>
            <a:r>
              <a:rPr lang="zh-CN" altLang="en-US" dirty="0"/>
              <a:t>解码回文本表示形式。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4349" y="110247"/>
            <a:ext cx="644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从输入文本到 </a:t>
            </a:r>
            <a:r>
              <a:rPr lang="en-US" altLang="zh-CN" sz="3600" dirty="0"/>
              <a:t>LLM </a:t>
            </a:r>
            <a:r>
              <a:rPr lang="zh-CN" altLang="en-US" sz="3600" dirty="0"/>
              <a:t>生成文本</a:t>
            </a:r>
            <a:endParaRPr lang="zh-CN" altLang="en-US" sz="3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509" y="834399"/>
            <a:ext cx="11526982" cy="60236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50845" y="1309992"/>
            <a:ext cx="178723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使用词汇表映射文本到</a:t>
            </a:r>
            <a:r>
              <a:rPr lang="en-US" altLang="zh-CN" dirty="0"/>
              <a:t>token ID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33090" y="1252715"/>
            <a:ext cx="3437106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3. 在每个行向量中找到概率值最高的索引位置，这可以通过</a:t>
            </a:r>
            <a:r>
              <a:rPr lang="en-US" altLang="zh-CN" dirty="0"/>
              <a:t>argmax</a:t>
            </a:r>
            <a:r>
              <a:rPr lang="zh-CN" altLang="en-US" dirty="0"/>
              <a:t>完成。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729902" y="5762177"/>
            <a:ext cx="310150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2. 通过函数获取每个输入</a:t>
            </a:r>
            <a:r>
              <a:rPr lang="en-US" altLang="zh-CN" dirty="0"/>
              <a:t>token</a:t>
            </a:r>
            <a:r>
              <a:rPr lang="zh-CN" altLang="en-US" dirty="0"/>
              <a:t>的七维概率行向量。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751481" y="5762177"/>
            <a:ext cx="3218234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获取所有预测的 </a:t>
            </a:r>
            <a:r>
              <a:rPr lang="en-US" altLang="zh-CN" dirty="0"/>
              <a:t>token ID </a:t>
            </a:r>
            <a:r>
              <a:rPr lang="zh-CN" altLang="en-US" dirty="0"/>
              <a:t>即概率最高的索引位置。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0106230" y="2295887"/>
            <a:ext cx="1891217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通过逆词汇表将索引转换回文本。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9375843" y="5679704"/>
            <a:ext cx="214954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输出文本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929" y="873788"/>
            <a:ext cx="10776653" cy="598421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54349" y="110247"/>
            <a:ext cx="644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使用 </a:t>
            </a:r>
            <a:r>
              <a:rPr lang="en-US" altLang="zh-CN" sz="3600"/>
              <a:t>GPT </a:t>
            </a:r>
            <a:r>
              <a:rPr lang="zh-CN" altLang="en-US" sz="3600"/>
              <a:t>生成文本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692286" y="4789410"/>
            <a:ext cx="238814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1. 模型接收三个输入</a:t>
            </a:r>
            <a:r>
              <a:rPr lang="en-US" altLang="zh-CN" dirty="0"/>
              <a:t>token</a:t>
            </a:r>
            <a:r>
              <a:rPr lang="zh-CN" altLang="en-US" dirty="0"/>
              <a:t>并生成三个向量。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910192" y="5740409"/>
            <a:ext cx="2511357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2. 模型生成的张量中的每个向量索引位置对应词汇表中的一个单词。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771417" y="963198"/>
            <a:ext cx="251135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/>
              <a:t>3. 未经训练的模型会为每个标记生成随机向量。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8202039" y="4650910"/>
            <a:ext cx="2991535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4. 在模型训练中，目标是最大化</a:t>
            </a:r>
            <a:r>
              <a:rPr lang="en-US" altLang="zh-CN" dirty="0"/>
              <a:t>targets</a:t>
            </a:r>
            <a:r>
              <a:rPr lang="zh-CN" altLang="en-US" dirty="0"/>
              <a:t>中的</a:t>
            </a:r>
            <a:r>
              <a:rPr lang="en-US" altLang="zh-CN" dirty="0"/>
              <a:t>token </a:t>
            </a:r>
            <a:r>
              <a:rPr lang="zh-CN" altLang="en-US" dirty="0"/>
              <a:t>索引相对应的值。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652409" y="2334638"/>
            <a:ext cx="525293" cy="14980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7337" y="1883924"/>
            <a:ext cx="144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Token ID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29439"/>
          <a:stretch>
            <a:fillRect/>
          </a:stretch>
        </p:blipFill>
        <p:spPr>
          <a:xfrm>
            <a:off x="597930" y="873788"/>
            <a:ext cx="7604110" cy="598421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2286" y="4789410"/>
            <a:ext cx="238814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1. 模型接收三个输入</a:t>
            </a:r>
            <a:r>
              <a:rPr lang="en-US" altLang="zh-CN" dirty="0"/>
              <a:t>token</a:t>
            </a:r>
            <a:r>
              <a:rPr lang="zh-CN" altLang="en-US" dirty="0"/>
              <a:t>并生成三个向量。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910192" y="5740409"/>
            <a:ext cx="2511357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2. 模型生成的张量中的每个向量索引位置对应词汇表中的一个单词。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71417" y="963198"/>
            <a:ext cx="2511357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/>
              <a:t>3. 未经训练的模型会为每个标记生成随机向量。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955605" y="5278744"/>
            <a:ext cx="2991535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4. 在模型训练中，目标是最大化</a:t>
            </a:r>
            <a:r>
              <a:rPr lang="en-US" altLang="zh-CN" dirty="0"/>
              <a:t>targets</a:t>
            </a:r>
            <a:r>
              <a:rPr lang="zh-CN" altLang="en-US" dirty="0"/>
              <a:t>中的</a:t>
            </a:r>
            <a:r>
              <a:rPr lang="en-US" altLang="zh-CN" dirty="0"/>
              <a:t>token </a:t>
            </a:r>
            <a:r>
              <a:rPr lang="zh-CN" altLang="en-US" dirty="0"/>
              <a:t>索引相对应的值。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652409" y="2334638"/>
            <a:ext cx="525293" cy="14980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74206" y="352122"/>
            <a:ext cx="6108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计算文本生成损失：交叉熵和困惑度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9" name="墨迹 38"/>
              <p14:cNvContentPartPr/>
              <p14:nvPr/>
            </p14:nvContentPartPr>
            <p14:xfrm>
              <a:off x="11429784" y="2148264"/>
              <a:ext cx="360" cy="36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3"/>
            </p:blipFill>
            <p:spPr>
              <a:xfrm>
                <a:off x="11429784" y="2148264"/>
                <a:ext cx="360" cy="360"/>
              </a:xfrm>
              <a:prstGeom prst="rect"/>
            </p:spPr>
          </p:pic>
        </mc:Fallback>
      </mc:AlternateContent>
      <p:pic>
        <p:nvPicPr>
          <p:cNvPr id="52" name="图片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938" y="1247528"/>
            <a:ext cx="2838846" cy="724001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9079992" y="655926"/>
            <a:ext cx="1867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计算交叉熵损失</a:t>
            </a:r>
            <a:endParaRPr lang="ko-KR" altLang="en-US" dirty="0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5">
            <a:clrChange>
              <a:clrFrom>
                <a:srgbClr val="F8F7F6"/>
              </a:clrFrom>
              <a:clrTo>
                <a:srgbClr val="F8F7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2205" y="2358870"/>
            <a:ext cx="2157093" cy="16462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96696" y="213098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609020205090404" pitchFamily="49" charset="0"/>
              </a:rPr>
              <a:t>the-verdict.txt</a:t>
            </a:r>
            <a:r>
              <a:rPr lang="zh-CN" altLang="en-US" dirty="0"/>
              <a:t>来训练 </a:t>
            </a:r>
            <a:r>
              <a:rPr lang="en-US" altLang="zh-CN" dirty="0"/>
              <a:t>LLM—</a:t>
            </a:r>
            <a:r>
              <a:rPr lang="zh-CN" altLang="en-US" dirty="0"/>
              <a:t>数据准备</a:t>
            </a:r>
            <a:endParaRPr lang="ko-KR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204" y="582430"/>
            <a:ext cx="8173591" cy="614448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50792" y="1600200"/>
            <a:ext cx="49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0.9</a:t>
            </a:r>
            <a:endParaRPr lang="ko-KR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215640" y="5906238"/>
            <a:ext cx="49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0.1</a:t>
            </a:r>
            <a:endParaRPr lang="ko-KR" altLang="en-US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96696" y="213098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urier New" panose="02070609020205090404" pitchFamily="49" charset="0"/>
              </a:rPr>
              <a:t>the-verdict.txt</a:t>
            </a:r>
            <a:r>
              <a:rPr lang="zh-CN" altLang="en-US" dirty="0"/>
              <a:t>来训练 </a:t>
            </a:r>
            <a:r>
              <a:rPr lang="en-US" altLang="zh-CN" dirty="0"/>
              <a:t>LLM—</a:t>
            </a:r>
            <a:r>
              <a:rPr lang="zh-CN" altLang="en-US" dirty="0"/>
              <a:t>训练过程</a:t>
            </a:r>
            <a:endParaRPr lang="ko-KR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3391" y="756275"/>
            <a:ext cx="5325218" cy="560148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95436" y="2367171"/>
            <a:ext cx="740112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110004020202020204"/>
                <a:ea typeface="等线" panose="02010600030101010101" pitchFamily="2" charset="-122"/>
                <a:cs typeface="+mn-cs"/>
              </a:rPr>
              <a:t>如何控制</a:t>
            </a:r>
            <a:endParaRPr kumimoji="0" lang="en-US" altLang="zh-CN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11000402020202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110004020202020204"/>
                <a:ea typeface="等线" panose="02010600030101010101" pitchFamily="2" charset="-122"/>
                <a:cs typeface="+mn-cs"/>
              </a:rPr>
              <a:t>GPT 模型的输出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11000402020202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 5"/>
          <p:cNvSpPr/>
          <p:nvPr/>
        </p:nvSpPr>
        <p:spPr>
          <a:xfrm>
            <a:off x="7179818" y="700857"/>
            <a:ext cx="285525" cy="19529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694399" y="1498514"/>
            <a:ext cx="492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178915" y="631733"/>
            <a:ext cx="24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score of token 0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178915" y="998190"/>
            <a:ext cx="24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score of token 1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7236090" y="793750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235348" y="1144456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6544092" y="871050"/>
            <a:ext cx="69125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6544092" y="1219621"/>
            <a:ext cx="69125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6064410" y="2251157"/>
            <a:ext cx="10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Logit</a:t>
            </a:r>
            <a:endParaRPr lang="zh-TW" altLang="en-US" sz="2800" b="1" dirty="0"/>
          </a:p>
        </p:txBody>
      </p:sp>
      <p:sp>
        <p:nvSpPr>
          <p:cNvPr id="22" name="矩形: 圓角 21"/>
          <p:cNvSpPr/>
          <p:nvPr/>
        </p:nvSpPr>
        <p:spPr>
          <a:xfrm>
            <a:off x="2882810" y="724184"/>
            <a:ext cx="285525" cy="19529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 rot="5400000" flipV="1">
            <a:off x="2489210" y="813289"/>
            <a:ext cx="180000" cy="1444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 rot="5400000" flipV="1">
            <a:off x="2365089" y="1107692"/>
            <a:ext cx="180000" cy="39269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 rot="5400000" flipV="1">
            <a:off x="2396010" y="1961086"/>
            <a:ext cx="180000" cy="36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 rot="5400000" flipV="1">
            <a:off x="1841434" y="1002561"/>
            <a:ext cx="180000" cy="144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2673058" y="656084"/>
            <a:ext cx="0" cy="2118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 rot="5400000" flipV="1">
            <a:off x="2222170" y="2388644"/>
            <a:ext cx="361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PMingLiU" panose="02020500000000000000" pitchFamily="18" charset="-120"/>
                <a:cs typeface="+mn-cs"/>
              </a:rPr>
              <a:t>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4" name="箭號: 向右 33"/>
          <p:cNvSpPr/>
          <p:nvPr/>
        </p:nvSpPr>
        <p:spPr>
          <a:xfrm flipH="1">
            <a:off x="3437308" y="1431663"/>
            <a:ext cx="2671839" cy="5537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3893344" y="1929422"/>
            <a:ext cx="1679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softmax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/>
              <p:cNvSpPr txBox="1"/>
              <p:nvPr/>
            </p:nvSpPr>
            <p:spPr>
              <a:xfrm>
                <a:off x="9758532" y="3591539"/>
                <a:ext cx="339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532" y="3591539"/>
                <a:ext cx="33958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43" t="-166" r="-10371" b="-158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/>
              <p:cNvSpPr txBox="1"/>
              <p:nvPr/>
            </p:nvSpPr>
            <p:spPr>
              <a:xfrm>
                <a:off x="9758532" y="4593935"/>
                <a:ext cx="3466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532" y="4593935"/>
                <a:ext cx="34669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40" t="-93" r="-9204" b="-15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/>
              <p:cNvSpPr txBox="1"/>
              <p:nvPr/>
            </p:nvSpPr>
            <p:spPr>
              <a:xfrm>
                <a:off x="9751415" y="5687666"/>
                <a:ext cx="3466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415" y="5687666"/>
                <a:ext cx="34669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02" t="-164" r="-9242" b="-15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/>
              <p:cNvSpPr txBox="1"/>
              <p:nvPr/>
            </p:nvSpPr>
            <p:spPr>
              <a:xfrm>
                <a:off x="6926403" y="3591539"/>
                <a:ext cx="4787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403" y="3591539"/>
                <a:ext cx="47878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96" t="-166" r="-2956" b="-158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/>
              <p:cNvSpPr txBox="1"/>
              <p:nvPr/>
            </p:nvSpPr>
            <p:spPr>
              <a:xfrm>
                <a:off x="6920465" y="4593935"/>
                <a:ext cx="4787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465" y="4593935"/>
                <a:ext cx="47878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49" t="-93" r="-3003" b="-15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/>
              <p:cNvSpPr txBox="1"/>
              <p:nvPr/>
            </p:nvSpPr>
            <p:spPr>
              <a:xfrm>
                <a:off x="6920465" y="5687666"/>
                <a:ext cx="4787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465" y="5687666"/>
                <a:ext cx="47878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49" t="-164" r="-3003" b="-15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43"/>
              <p:cNvSpPr txBox="1"/>
              <p:nvPr/>
            </p:nvSpPr>
            <p:spPr>
              <a:xfrm>
                <a:off x="3732305" y="6159809"/>
                <a:ext cx="26995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305" y="6159809"/>
                <a:ext cx="2699585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5" t="-84" r="23" b="-15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4"/>
              <p:cNvSpPr txBox="1"/>
              <p:nvPr/>
            </p:nvSpPr>
            <p:spPr>
              <a:xfrm>
                <a:off x="2676510" y="3429000"/>
                <a:ext cx="478784" cy="708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510" y="3429000"/>
                <a:ext cx="478784" cy="708656"/>
              </a:xfrm>
              <a:prstGeom prst="rect">
                <a:avLst/>
              </a:prstGeom>
              <a:blipFill rotWithShape="1">
                <a:blip r:embed="rId8"/>
                <a:stretch>
                  <a:fillRect l="-129" r="-2922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47"/>
              <p:cNvSpPr txBox="1"/>
              <p:nvPr/>
            </p:nvSpPr>
            <p:spPr>
              <a:xfrm>
                <a:off x="2676510" y="4381430"/>
                <a:ext cx="478784" cy="708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510" y="4381430"/>
                <a:ext cx="478784" cy="708656"/>
              </a:xfrm>
              <a:prstGeom prst="rect">
                <a:avLst/>
              </a:prstGeom>
              <a:blipFill rotWithShape="1">
                <a:blip r:embed="rId9"/>
                <a:stretch>
                  <a:fillRect l="-129" t="-80" r="-2922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48"/>
              <p:cNvSpPr txBox="1"/>
              <p:nvPr/>
            </p:nvSpPr>
            <p:spPr>
              <a:xfrm>
                <a:off x="2697486" y="5348342"/>
                <a:ext cx="478784" cy="708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486" y="5348342"/>
                <a:ext cx="478784" cy="708656"/>
              </a:xfrm>
              <a:prstGeom prst="rect">
                <a:avLst/>
              </a:prstGeom>
              <a:blipFill rotWithShape="1">
                <a:blip r:embed="rId10"/>
                <a:stretch>
                  <a:fillRect l="-1" t="-52" r="-3050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/>
          <p:cNvCxnSpPr/>
          <p:nvPr/>
        </p:nvCxnSpPr>
        <p:spPr>
          <a:xfrm flipH="1">
            <a:off x="7594570" y="3783328"/>
            <a:ext cx="185817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>
            <a:off x="7594570" y="4795472"/>
            <a:ext cx="185817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7594570" y="5872332"/>
            <a:ext cx="185817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H="1">
            <a:off x="3372913" y="3800199"/>
            <a:ext cx="319122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H="1">
            <a:off x="3372913" y="4795472"/>
            <a:ext cx="319122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H="1">
            <a:off x="3358835" y="5872332"/>
            <a:ext cx="319122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5627967" y="2677116"/>
            <a:ext cx="197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(any number)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221674" y="2660939"/>
            <a:ext cx="197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(0-1, sum to 1)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12911" y="2208000"/>
            <a:ext cx="181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Probability</a:t>
            </a:r>
            <a:endParaRPr lang="zh-TW" altLang="en-US" sz="28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0396778" y="5898199"/>
            <a:ext cx="10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Logit</a:t>
            </a:r>
            <a:endParaRPr lang="zh-TW" altLang="en-US" sz="2800" b="1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615869" y="5898199"/>
            <a:ext cx="181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Probability</a:t>
            </a:r>
            <a:endParaRPr lang="zh-TW" altLang="en-US" sz="28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329305" y="4628421"/>
            <a:ext cx="130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数值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84691" y="4564639"/>
            <a:ext cx="130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概率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矩形: 圆角 31"/>
          <p:cNvSpPr/>
          <p:nvPr/>
        </p:nvSpPr>
        <p:spPr>
          <a:xfrm rot="16200000">
            <a:off x="7991608" y="1361046"/>
            <a:ext cx="1567543" cy="612950"/>
          </a:xfrm>
          <a:prstGeom prst="roundRect">
            <a:avLst/>
          </a:prstGeom>
          <a:solidFill>
            <a:srgbClr val="BDD7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GPT Model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箭號: 向右 33"/>
          <p:cNvSpPr/>
          <p:nvPr/>
        </p:nvSpPr>
        <p:spPr>
          <a:xfrm flipH="1">
            <a:off x="7652711" y="1431663"/>
            <a:ext cx="612950" cy="5537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温度缩放</a:t>
            </a:r>
            <a:endParaRPr lang="ko-KR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7" grpId="0" animBg="1"/>
      <p:bldP spid="30" grpId="0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/>
      <p:bldP spid="44" grpId="0"/>
      <p:bldP spid="45" grpId="0"/>
      <p:bldP spid="48" grpId="0"/>
      <p:bldP spid="49" grpId="0"/>
      <p:bldP spid="3" grpId="0"/>
      <p:bldP spid="26" grpId="0"/>
      <p:bldP spid="29" grpId="0"/>
      <p:bldP spid="31" grpId="0"/>
      <p:bldP spid="36" grpId="0"/>
      <p:bldP spid="43" grpId="0"/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 5"/>
          <p:cNvSpPr/>
          <p:nvPr/>
        </p:nvSpPr>
        <p:spPr>
          <a:xfrm>
            <a:off x="7179818" y="700857"/>
            <a:ext cx="285525" cy="19529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694399" y="1498514"/>
            <a:ext cx="492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178915" y="631733"/>
            <a:ext cx="24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score of token 0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178915" y="998190"/>
            <a:ext cx="24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score of token 1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7236090" y="793750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235348" y="1144456"/>
            <a:ext cx="180000" cy="18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6544092" y="871050"/>
            <a:ext cx="69125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6544092" y="1219621"/>
            <a:ext cx="69125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6064410" y="2251157"/>
            <a:ext cx="10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Logit</a:t>
            </a:r>
            <a:endParaRPr lang="zh-TW" altLang="en-US" sz="2800" b="1" dirty="0"/>
          </a:p>
        </p:txBody>
      </p:sp>
      <p:sp>
        <p:nvSpPr>
          <p:cNvPr id="22" name="矩形: 圓角 21"/>
          <p:cNvSpPr/>
          <p:nvPr/>
        </p:nvSpPr>
        <p:spPr>
          <a:xfrm>
            <a:off x="2882810" y="724184"/>
            <a:ext cx="285525" cy="19529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 rot="5400000" flipV="1">
            <a:off x="2489210" y="813289"/>
            <a:ext cx="180000" cy="1444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 rot="5400000" flipV="1">
            <a:off x="2365089" y="1107692"/>
            <a:ext cx="180000" cy="39269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 rot="5400000" flipV="1">
            <a:off x="2396010" y="1961086"/>
            <a:ext cx="180000" cy="36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 rot="5400000" flipV="1">
            <a:off x="1841434" y="1002561"/>
            <a:ext cx="180000" cy="144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2673058" y="656084"/>
            <a:ext cx="0" cy="2118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 rot="5400000" flipV="1">
            <a:off x="2222170" y="2388644"/>
            <a:ext cx="361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PMingLiU" panose="02020500000000000000" pitchFamily="18" charset="-120"/>
                <a:cs typeface="+mn-cs"/>
              </a:rPr>
              <a:t>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4" name="箭號: 向右 33"/>
          <p:cNvSpPr/>
          <p:nvPr/>
        </p:nvSpPr>
        <p:spPr>
          <a:xfrm flipH="1">
            <a:off x="3437308" y="1431663"/>
            <a:ext cx="2671839" cy="5537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3893344" y="1929422"/>
            <a:ext cx="1679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softmax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/>
              <p:cNvSpPr txBox="1"/>
              <p:nvPr/>
            </p:nvSpPr>
            <p:spPr>
              <a:xfrm>
                <a:off x="9758532" y="3591539"/>
                <a:ext cx="339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532" y="3591539"/>
                <a:ext cx="33958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43" t="-166" r="-10371" b="-158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/>
              <p:cNvSpPr txBox="1"/>
              <p:nvPr/>
            </p:nvSpPr>
            <p:spPr>
              <a:xfrm>
                <a:off x="9758532" y="4593935"/>
                <a:ext cx="3466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532" y="4593935"/>
                <a:ext cx="34669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40" t="-93" r="-9204" b="-15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/>
              <p:cNvSpPr txBox="1"/>
              <p:nvPr/>
            </p:nvSpPr>
            <p:spPr>
              <a:xfrm>
                <a:off x="9751415" y="5687666"/>
                <a:ext cx="3466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415" y="5687666"/>
                <a:ext cx="34669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02" t="-164" r="-9242" b="-15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/>
              <p:cNvSpPr txBox="1"/>
              <p:nvPr/>
            </p:nvSpPr>
            <p:spPr>
              <a:xfrm>
                <a:off x="6747109" y="3591539"/>
                <a:ext cx="734047" cy="383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109" y="3591539"/>
                <a:ext cx="734047" cy="383118"/>
              </a:xfrm>
              <a:prstGeom prst="rect">
                <a:avLst/>
              </a:prstGeom>
              <a:blipFill rotWithShape="1">
                <a:blip r:embed="rId4"/>
                <a:stretch>
                  <a:fillRect l="-32" t="-160" r="-1008" b="-11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/>
              <p:cNvSpPr txBox="1"/>
              <p:nvPr/>
            </p:nvSpPr>
            <p:spPr>
              <a:xfrm>
                <a:off x="6741171" y="4593935"/>
                <a:ext cx="734047" cy="383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171" y="4593935"/>
                <a:ext cx="734047" cy="383118"/>
              </a:xfrm>
              <a:prstGeom prst="rect">
                <a:avLst/>
              </a:prstGeom>
              <a:blipFill rotWithShape="1">
                <a:blip r:embed="rId5"/>
                <a:stretch>
                  <a:fillRect l="-1" t="-90" r="-1038" b="-11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/>
              <p:cNvSpPr txBox="1"/>
              <p:nvPr/>
            </p:nvSpPr>
            <p:spPr>
              <a:xfrm>
                <a:off x="6741171" y="5687666"/>
                <a:ext cx="734047" cy="383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171" y="5687666"/>
                <a:ext cx="734047" cy="383118"/>
              </a:xfrm>
              <a:prstGeom prst="rect">
                <a:avLst/>
              </a:prstGeom>
              <a:blipFill rotWithShape="1">
                <a:blip r:embed="rId6"/>
                <a:stretch>
                  <a:fillRect l="-1" t="-158" r="-1038" b="-117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43"/>
              <p:cNvSpPr txBox="1"/>
              <p:nvPr/>
            </p:nvSpPr>
            <p:spPr>
              <a:xfrm>
                <a:off x="3315420" y="6141422"/>
                <a:ext cx="3465372" cy="383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420" y="6141422"/>
                <a:ext cx="3465372" cy="383118"/>
              </a:xfrm>
              <a:prstGeom prst="rect">
                <a:avLst/>
              </a:prstGeom>
              <a:blipFill rotWithShape="1">
                <a:blip r:embed="rId7"/>
                <a:stretch>
                  <a:fillRect l="-2" t="-88" r="8" b="-117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4"/>
              <p:cNvSpPr txBox="1"/>
              <p:nvPr/>
            </p:nvSpPr>
            <p:spPr>
              <a:xfrm>
                <a:off x="2560397" y="3429000"/>
                <a:ext cx="734047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97" y="3429000"/>
                <a:ext cx="734047" cy="753604"/>
              </a:xfrm>
              <a:prstGeom prst="rect">
                <a:avLst/>
              </a:prstGeom>
              <a:blipFill rotWithShape="1">
                <a:blip r:embed="rId8"/>
                <a:stretch>
                  <a:fillRect l="-10" r="-1029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47"/>
              <p:cNvSpPr txBox="1"/>
              <p:nvPr/>
            </p:nvSpPr>
            <p:spPr>
              <a:xfrm>
                <a:off x="2560397" y="4381430"/>
                <a:ext cx="734047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97" y="4381430"/>
                <a:ext cx="734047" cy="753604"/>
              </a:xfrm>
              <a:prstGeom prst="rect">
                <a:avLst/>
              </a:prstGeom>
              <a:blipFill rotWithShape="1">
                <a:blip r:embed="rId9"/>
                <a:stretch>
                  <a:fillRect l="-10" t="-75" r="-1029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48"/>
              <p:cNvSpPr txBox="1"/>
              <p:nvPr/>
            </p:nvSpPr>
            <p:spPr>
              <a:xfrm>
                <a:off x="2581373" y="5348342"/>
                <a:ext cx="734047" cy="753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373" y="5348342"/>
                <a:ext cx="734047" cy="753604"/>
              </a:xfrm>
              <a:prstGeom prst="rect">
                <a:avLst/>
              </a:prstGeom>
              <a:blipFill rotWithShape="1">
                <a:blip r:embed="rId10"/>
                <a:stretch>
                  <a:fillRect l="-13" t="-49" r="-102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/>
          <p:cNvCxnSpPr/>
          <p:nvPr/>
        </p:nvCxnSpPr>
        <p:spPr>
          <a:xfrm flipH="1">
            <a:off x="7594570" y="3783328"/>
            <a:ext cx="185817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>
            <a:off x="7594570" y="4795472"/>
            <a:ext cx="185817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7594570" y="5872332"/>
            <a:ext cx="185817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H="1">
            <a:off x="3372913" y="3800199"/>
            <a:ext cx="319122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H="1">
            <a:off x="3372913" y="4795472"/>
            <a:ext cx="319122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H="1">
            <a:off x="3358835" y="5872332"/>
            <a:ext cx="3191221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5627967" y="2677116"/>
            <a:ext cx="197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(any number)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221674" y="2660939"/>
            <a:ext cx="197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(0-1, sum to 1)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12911" y="2208000"/>
            <a:ext cx="181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Probability</a:t>
            </a:r>
            <a:endParaRPr lang="zh-TW" altLang="en-US" sz="28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0396778" y="5898199"/>
            <a:ext cx="10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Logit</a:t>
            </a:r>
            <a:endParaRPr lang="zh-TW" altLang="en-US" sz="2800" b="1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615869" y="5898199"/>
            <a:ext cx="181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800" b="1" dirty="0"/>
              <a:t>Probability</a:t>
            </a:r>
            <a:endParaRPr lang="zh-TW" altLang="en-US" sz="28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594570" y="6101946"/>
            <a:ext cx="1977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Temperature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H="1" flipV="1">
            <a:off x="7322580" y="5968301"/>
            <a:ext cx="282889" cy="1888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45"/>
              <p:cNvSpPr txBox="1"/>
              <p:nvPr/>
            </p:nvSpPr>
            <p:spPr>
              <a:xfrm>
                <a:off x="376287" y="3960871"/>
                <a:ext cx="18174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越大</a:t>
                </a:r>
                <a:endParaRPr lang="en-US" altLang="zh-TW" sz="2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分布越平均</a:t>
                </a:r>
                <a:endParaRPr lang="zh-TW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87" y="3960871"/>
                <a:ext cx="1817479" cy="830997"/>
              </a:xfrm>
              <a:prstGeom prst="rect">
                <a:avLst/>
              </a:prstGeom>
              <a:blipFill rotWithShape="1">
                <a:blip r:embed="rId11"/>
                <a:stretch>
                  <a:fillRect l="-20" t="-45" r="26" b="-1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/>
          <p:cNvSpPr txBox="1"/>
          <p:nvPr/>
        </p:nvSpPr>
        <p:spPr>
          <a:xfrm>
            <a:off x="376286" y="4791868"/>
            <a:ext cx="1817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CN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创意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: 圆角 32"/>
          <p:cNvSpPr/>
          <p:nvPr/>
        </p:nvSpPr>
        <p:spPr>
          <a:xfrm rot="16200000">
            <a:off x="7991608" y="1361046"/>
            <a:ext cx="1567543" cy="612950"/>
          </a:xfrm>
          <a:prstGeom prst="roundRect">
            <a:avLst/>
          </a:prstGeom>
          <a:solidFill>
            <a:srgbClr val="BDD7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GPT Model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箭號: 向右 33"/>
          <p:cNvSpPr/>
          <p:nvPr/>
        </p:nvSpPr>
        <p:spPr>
          <a:xfrm flipH="1">
            <a:off x="7652711" y="1431663"/>
            <a:ext cx="612950" cy="5537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温度缩放</a:t>
            </a:r>
            <a:endParaRPr lang="ko-KR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6" grpId="0"/>
      <p:bldP spid="47" grpId="0"/>
      <p:bldP spid="4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温度缩放</a:t>
            </a:r>
            <a:endParaRPr lang="ko-KR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312244" y="1319867"/>
            <a:ext cx="7932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语言模型的输出层，我们得到的是每个词的 </a:t>
            </a:r>
            <a:r>
              <a:rPr lang="en-US" altLang="zh-CN" dirty="0"/>
              <a:t>logits</a:t>
            </a:r>
            <a:r>
              <a:rPr lang="zh-CN" altLang="en-US" dirty="0"/>
              <a:t>（原始分数）：</a:t>
            </a:r>
            <a:endParaRPr lang="en-US" altLang="zh-CN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ko-KR" dirty="0"/>
              <a:t>logits → </a:t>
            </a:r>
            <a:r>
              <a:rPr lang="en-US" altLang="ko-KR" dirty="0" err="1"/>
              <a:t>softmax</a:t>
            </a:r>
            <a:r>
              <a:rPr lang="en-US" altLang="ko-KR" dirty="0"/>
              <a:t> → </a:t>
            </a:r>
            <a:r>
              <a:rPr lang="ko-KR" altLang="en-US" dirty="0"/>
              <a:t>概率分布 → 采样生成 </a:t>
            </a:r>
            <a:r>
              <a:rPr lang="en-US" altLang="ko-KR" dirty="0"/>
              <a:t>token</a:t>
            </a:r>
            <a:endParaRPr lang="en-US" altLang="ko-KR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温度缩放就是在 </a:t>
            </a:r>
            <a:r>
              <a:rPr lang="en-US" altLang="zh-CN" dirty="0" err="1"/>
              <a:t>softmax</a:t>
            </a:r>
            <a:r>
              <a:rPr lang="en-US" altLang="zh-CN" dirty="0"/>
              <a:t> </a:t>
            </a:r>
            <a:r>
              <a:rPr lang="zh-CN" altLang="en-US" dirty="0"/>
              <a:t>之前，对 </a:t>
            </a:r>
            <a:r>
              <a:rPr lang="en-US" altLang="zh-CN" dirty="0"/>
              <a:t>logits </a:t>
            </a:r>
            <a:r>
              <a:rPr lang="zh-CN" altLang="en-US" dirty="0"/>
              <a:t>除以一个“温度”参数 </a:t>
            </a:r>
            <a:r>
              <a:rPr lang="en-US" altLang="zh-CN" dirty="0"/>
              <a:t>T</a:t>
            </a:r>
            <a:r>
              <a:rPr lang="zh-CN" altLang="en-US" dirty="0"/>
              <a:t>：</a:t>
            </a:r>
            <a:endParaRPr lang="ko-KR" altLang="en-US" dirty="0"/>
          </a:p>
        </p:txBody>
      </p:sp>
      <p:pic>
        <p:nvPicPr>
          <p:cNvPr id="1026" name="Picture 2" descr="Softmax Temperature. Temperature is a hyperparameter of… | by Harshit  Sharma | Medium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03"/>
          <a:stretch>
            <a:fillRect/>
          </a:stretch>
        </p:blipFill>
        <p:spPr bwMode="auto">
          <a:xfrm>
            <a:off x="2267227" y="2419521"/>
            <a:ext cx="7998436" cy="396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7063034" y="29082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Temperature Visualizer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温度缩放</a:t>
            </a:r>
            <a:r>
              <a:rPr lang="en-US" altLang="zh-CN" sz="3600" dirty="0"/>
              <a:t>-</a:t>
            </a:r>
            <a:r>
              <a:rPr lang="zh-CN" altLang="en-US" sz="3600" dirty="0"/>
              <a:t>练习</a:t>
            </a:r>
            <a:endParaRPr lang="ko-KR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312244" y="1292090"/>
            <a:ext cx="7667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假设 </a:t>
            </a:r>
            <a:r>
              <a:rPr lang="en-US" altLang="ko-KR" dirty="0"/>
              <a:t>logits = [3.0, 1.0, 0.1]</a:t>
            </a:r>
            <a:r>
              <a:rPr lang="ko-KR" altLang="en-US" dirty="0"/>
              <a:t>：</a:t>
            </a:r>
            <a:endParaRPr lang="en-US" altLang="ko-KR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softmax</a:t>
            </a:r>
            <a:r>
              <a:rPr lang="zh-CN" altLang="en-US" dirty="0"/>
              <a:t>计算器计算当温度</a:t>
            </a:r>
            <a:r>
              <a:rPr lang="en-US" altLang="zh-CN" dirty="0"/>
              <a:t>T</a:t>
            </a:r>
            <a:r>
              <a:rPr lang="zh-CN" altLang="en-US" dirty="0"/>
              <a:t>为</a:t>
            </a:r>
            <a:r>
              <a:rPr lang="en-US" altLang="zh-CN" dirty="0"/>
              <a:t>0.5</a:t>
            </a:r>
            <a:r>
              <a:rPr lang="zh-CN" altLang="en-US" dirty="0"/>
              <a:t>，</a:t>
            </a:r>
            <a:r>
              <a:rPr lang="en-US" altLang="zh-CN" dirty="0"/>
              <a:t>1.0</a:t>
            </a:r>
            <a:r>
              <a:rPr lang="zh-CN" altLang="en-US" dirty="0"/>
              <a:t>，</a:t>
            </a:r>
            <a:r>
              <a:rPr lang="en-US" altLang="zh-CN" dirty="0"/>
              <a:t>2.0</a:t>
            </a:r>
            <a:r>
              <a:rPr lang="zh-CN" altLang="en-US" dirty="0"/>
              <a:t>时，</a:t>
            </a:r>
            <a:r>
              <a:rPr lang="en-US" altLang="zh-CN" dirty="0" err="1"/>
              <a:t>softamx</a:t>
            </a:r>
            <a:r>
              <a:rPr lang="zh-CN" altLang="en-US" dirty="0"/>
              <a:t>的结果</a:t>
            </a:r>
            <a:endParaRPr lang="ko-KR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12244" y="1868511"/>
            <a:ext cx="8700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1"/>
              </a:rPr>
              <a:t>Softmax</a:t>
            </a:r>
            <a:r>
              <a:rPr lang="en-US" altLang="ko-KR" dirty="0">
                <a:hlinkClick r:id="rId1"/>
              </a:rPr>
              <a:t> Function, Calculator and Formula</a:t>
            </a:r>
            <a:endParaRPr lang="ko-KR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322576" y="3068606"/>
          <a:ext cx="7546848" cy="1463040"/>
        </p:xfrm>
        <a:graphic>
          <a:graphicData uri="http://schemas.openxmlformats.org/drawingml/2006/table">
            <a:tbl>
              <a:tblPr/>
              <a:tblGrid>
                <a:gridCol w="1594104"/>
                <a:gridCol w="5952744"/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温度 </a:t>
                      </a:r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softmax</a:t>
                      </a:r>
                      <a:r>
                        <a:rPr lang="en-US" dirty="0"/>
                        <a:t> </a:t>
                      </a:r>
                      <a:r>
                        <a:rPr lang="ko-KR" altLang="en-US" dirty="0"/>
                        <a:t>结果（近似）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0.5</a:t>
                      </a:r>
                      <a:endParaRPr lang="en-US" altLang="ko-K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1.0</a:t>
                      </a:r>
                      <a:endParaRPr lang="en-US" altLang="ko-K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2.0</a:t>
                      </a:r>
                      <a:endParaRPr lang="en-US" altLang="ko-K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温度缩放</a:t>
            </a:r>
            <a:r>
              <a:rPr lang="en-US" altLang="zh-CN" sz="3600" dirty="0"/>
              <a:t>-</a:t>
            </a:r>
            <a:r>
              <a:rPr lang="zh-CN" altLang="en-US" sz="3600" dirty="0"/>
              <a:t>练习</a:t>
            </a:r>
            <a:endParaRPr lang="ko-KR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312244" y="1292090"/>
            <a:ext cx="7667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假设 </a:t>
            </a:r>
            <a:r>
              <a:rPr lang="en-US" altLang="ko-KR" dirty="0"/>
              <a:t>logits = [3.0, 1.0, 0.1]</a:t>
            </a:r>
            <a:r>
              <a:rPr lang="ko-KR" altLang="en-US" dirty="0"/>
              <a:t>：</a:t>
            </a:r>
            <a:endParaRPr lang="en-US" altLang="ko-KR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softmax</a:t>
            </a:r>
            <a:r>
              <a:rPr lang="zh-CN" altLang="en-US" dirty="0"/>
              <a:t>计算器计算当温度</a:t>
            </a:r>
            <a:r>
              <a:rPr lang="en-US" altLang="zh-CN" dirty="0"/>
              <a:t>T</a:t>
            </a:r>
            <a:r>
              <a:rPr lang="zh-CN" altLang="en-US" dirty="0"/>
              <a:t>为</a:t>
            </a:r>
            <a:r>
              <a:rPr lang="en-US" altLang="zh-CN" dirty="0"/>
              <a:t>0.5</a:t>
            </a:r>
            <a:r>
              <a:rPr lang="zh-CN" altLang="en-US" dirty="0"/>
              <a:t>，</a:t>
            </a:r>
            <a:r>
              <a:rPr lang="en-US" altLang="zh-CN" dirty="0"/>
              <a:t>1.0</a:t>
            </a:r>
            <a:r>
              <a:rPr lang="zh-CN" altLang="en-US" dirty="0"/>
              <a:t>，</a:t>
            </a:r>
            <a:r>
              <a:rPr lang="en-US" altLang="zh-CN" dirty="0"/>
              <a:t>2.0</a:t>
            </a:r>
            <a:r>
              <a:rPr lang="zh-CN" altLang="en-US" dirty="0"/>
              <a:t>时，</a:t>
            </a:r>
            <a:r>
              <a:rPr lang="en-US" altLang="zh-CN" dirty="0" err="1"/>
              <a:t>softamx</a:t>
            </a:r>
            <a:r>
              <a:rPr lang="zh-CN" altLang="en-US" dirty="0"/>
              <a:t>的结果</a:t>
            </a:r>
            <a:endParaRPr lang="ko-KR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12244" y="1868511"/>
            <a:ext cx="8700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1"/>
              </a:rPr>
              <a:t>Softmax</a:t>
            </a:r>
            <a:r>
              <a:rPr lang="en-US" altLang="ko-KR" dirty="0">
                <a:hlinkClick r:id="rId1"/>
              </a:rPr>
              <a:t> Function, Calculator and Formula</a:t>
            </a:r>
            <a:endParaRPr lang="ko-KR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322576" y="3068606"/>
          <a:ext cx="7546848" cy="1463040"/>
        </p:xfrm>
        <a:graphic>
          <a:graphicData uri="http://schemas.openxmlformats.org/drawingml/2006/table">
            <a:tbl>
              <a:tblPr/>
              <a:tblGrid>
                <a:gridCol w="1594104"/>
                <a:gridCol w="5952744"/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温度 </a:t>
                      </a:r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softmax </a:t>
                      </a:r>
                      <a:r>
                        <a:rPr lang="ko-KR" altLang="en-US"/>
                        <a:t>结果（近似）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0.5</a:t>
                      </a:r>
                      <a:endParaRPr lang="en-US" altLang="ko-K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[0.95, 0.045, 0.005]</a:t>
                      </a:r>
                      <a:r>
                        <a:rPr lang="zh-CN" altLang="en-US" dirty="0"/>
                        <a:t>（非常偏向第一个）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1.0</a:t>
                      </a:r>
                      <a:endParaRPr lang="en-US" altLang="ko-K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[0.84, 0.11, 0.05]</a:t>
                      </a:r>
                      <a:r>
                        <a:rPr lang="zh-CN" altLang="en-US" dirty="0"/>
                        <a:t>（标准分布）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2.0</a:t>
                      </a:r>
                      <a:endParaRPr lang="en-US" altLang="ko-K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[0.65, 0.22, 0.13]</a:t>
                      </a:r>
                      <a:r>
                        <a:rPr lang="ko-KR" altLang="en-US" dirty="0"/>
                        <a:t>（更均匀）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温度缩放</a:t>
            </a:r>
            <a:endParaRPr lang="ko-KR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312244" y="1319867"/>
            <a:ext cx="7932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语言模型的输出层，我们得到的是每个词的 </a:t>
            </a:r>
            <a:r>
              <a:rPr lang="en-US" altLang="zh-CN" dirty="0"/>
              <a:t>logits</a:t>
            </a:r>
            <a:r>
              <a:rPr lang="zh-CN" altLang="en-US" dirty="0"/>
              <a:t>（原始分数）：</a:t>
            </a:r>
            <a:endParaRPr lang="en-US" altLang="zh-CN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ko-KR" dirty="0"/>
              <a:t>logits → </a:t>
            </a:r>
            <a:r>
              <a:rPr lang="en-US" altLang="ko-KR" dirty="0" err="1"/>
              <a:t>softmax</a:t>
            </a:r>
            <a:r>
              <a:rPr lang="en-US" altLang="ko-KR" dirty="0"/>
              <a:t> → </a:t>
            </a:r>
            <a:r>
              <a:rPr lang="ko-KR" altLang="en-US" dirty="0"/>
              <a:t>概率分布 → 采样生成 </a:t>
            </a:r>
            <a:r>
              <a:rPr lang="en-US" altLang="ko-KR" dirty="0"/>
              <a:t>token</a:t>
            </a:r>
            <a:endParaRPr lang="en-US" altLang="ko-KR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温度控制了 </a:t>
            </a:r>
            <a:r>
              <a:rPr lang="en-US" altLang="zh-CN" dirty="0"/>
              <a:t>LLM </a:t>
            </a:r>
            <a:r>
              <a:rPr lang="zh-CN" altLang="en-US" dirty="0"/>
              <a:t>在生成文本时的“自由度”：</a:t>
            </a:r>
            <a:r>
              <a:rPr lang="zh-CN" altLang="en-US" b="1" dirty="0"/>
              <a:t>低温更确定，高温更创造。</a:t>
            </a:r>
            <a:endParaRPr lang="ko-KR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75360" y="2664046"/>
          <a:ext cx="10515600" cy="201168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温度 </a:t>
                      </a:r>
                      <a:r>
                        <a:rPr lang="en-US"/>
                        <a:t>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说明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结果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 = 1.0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默认设置，原始 </a:t>
                      </a:r>
                      <a:r>
                        <a:rPr lang="en-US"/>
                        <a:t>softmax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正常随机性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 &lt; 1.0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变“冷”，更确定性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更偏向最大概率的 </a:t>
                      </a:r>
                      <a:r>
                        <a:rPr lang="en-US"/>
                        <a:t>token（</a:t>
                      </a:r>
                      <a:r>
                        <a:rPr lang="ko-KR" altLang="en-US"/>
                        <a:t>更保守）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 &gt; 1.0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变“热”，更随机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更均匀概率、更多样的输出（更</a:t>
                      </a:r>
                      <a:r>
                        <a:rPr lang="en-US" dirty="0"/>
                        <a:t>creative）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温度缩放</a:t>
            </a:r>
            <a:endParaRPr lang="ko-KR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312244" y="1319867"/>
            <a:ext cx="79323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语言模型的输出层，我们得到的是每个词的 </a:t>
            </a:r>
            <a:r>
              <a:rPr lang="en-US" altLang="zh-CN" dirty="0"/>
              <a:t>logits</a:t>
            </a:r>
            <a:r>
              <a:rPr lang="zh-CN" altLang="en-US" dirty="0"/>
              <a:t>（原始分数）：</a:t>
            </a:r>
            <a:endParaRPr lang="en-US" altLang="zh-CN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ko-KR" dirty="0"/>
              <a:t>logits → </a:t>
            </a:r>
            <a:r>
              <a:rPr lang="en-US" altLang="ko-KR" dirty="0" err="1"/>
              <a:t>softmax</a:t>
            </a:r>
            <a:r>
              <a:rPr lang="en-US" altLang="ko-KR" dirty="0"/>
              <a:t> → </a:t>
            </a:r>
            <a:r>
              <a:rPr lang="ko-KR" altLang="en-US" dirty="0"/>
              <a:t>概率分布 → 采样生成 </a:t>
            </a:r>
            <a:r>
              <a:rPr lang="en-US" altLang="ko-KR" dirty="0"/>
              <a:t>token</a:t>
            </a:r>
            <a:endParaRPr lang="en-US" altLang="ko-KR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温度控制了 </a:t>
            </a:r>
            <a:r>
              <a:rPr lang="en-US" altLang="zh-CN" dirty="0"/>
              <a:t>LLM </a:t>
            </a:r>
            <a:r>
              <a:rPr lang="zh-CN" altLang="en-US" dirty="0"/>
              <a:t>在生成文本时的“自由度”：</a:t>
            </a:r>
            <a:r>
              <a:rPr lang="zh-CN" altLang="en-US" b="1" dirty="0"/>
              <a:t>低温更确定，高温更创造。</a:t>
            </a:r>
            <a:endParaRPr lang="ko-KR" altLang="en-US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20824" y="2941992"/>
          <a:ext cx="8537448" cy="1371600"/>
        </p:xfrm>
        <a:graphic>
          <a:graphicData uri="http://schemas.openxmlformats.org/drawingml/2006/table">
            <a:tbl>
              <a:tblPr/>
              <a:tblGrid>
                <a:gridCol w="1426464"/>
                <a:gridCol w="1883664"/>
                <a:gridCol w="5227320"/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阶段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是否使用温度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为什么使用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训练阶段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×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因为训练目标是让模型学会预测 </a:t>
                      </a:r>
                      <a:r>
                        <a:rPr lang="en-US" altLang="zh-CN"/>
                        <a:t>ground-truth</a:t>
                      </a:r>
                      <a:r>
                        <a:rPr lang="zh-CN" altLang="en-US"/>
                        <a:t>，目标稳定</a:t>
                      </a: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生成阶段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√</a:t>
                      </a:r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控制输出多样性，探索 </a:t>
                      </a:r>
                      <a:r>
                        <a:rPr lang="en-US" dirty="0"/>
                        <a:t>vs </a:t>
                      </a:r>
                      <a:r>
                        <a:rPr lang="ko-KR" altLang="en-US" dirty="0"/>
                        <a:t>保守，</a:t>
                      </a:r>
                      <a:r>
                        <a:rPr lang="en-US" dirty="0"/>
                        <a:t>creative vs safe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2245" y="115504"/>
            <a:ext cx="519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  <a:ea typeface="inherit"/>
              </a:rPr>
              <a:t>Top-k </a:t>
            </a:r>
            <a:r>
              <a:rPr lang="zh-CN" altLang="en-US" sz="36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  <a:ea typeface="inherit"/>
              </a:rPr>
              <a:t>采样</a:t>
            </a:r>
            <a:endParaRPr lang="zh-CN" altLang="en-US" sz="3600" b="0" i="0" dirty="0">
              <a:solidFill>
                <a:srgbClr val="1F1F1F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729" y="1779278"/>
            <a:ext cx="10688542" cy="496321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24712" y="761835"/>
            <a:ext cx="967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当语言模型输出每个词的概率分布（经过 </a:t>
            </a:r>
            <a:r>
              <a:rPr lang="en-US" altLang="zh-CN" dirty="0" err="1"/>
              <a:t>softmax</a:t>
            </a:r>
            <a:r>
              <a:rPr lang="zh-CN" altLang="en-US" dirty="0"/>
              <a:t>）后，我们不一定非要选最大概率的词，可以进行 “概率抽样”。</a:t>
            </a:r>
            <a:endParaRPr lang="en-US" altLang="zh-CN" dirty="0"/>
          </a:p>
          <a:p>
            <a:r>
              <a:rPr lang="en-US" altLang="zh-CN" dirty="0"/>
              <a:t>Top-k </a:t>
            </a:r>
            <a:r>
              <a:rPr lang="zh-CN" altLang="en-US" dirty="0"/>
              <a:t>采样的基本思路：只在概率最高的前 </a:t>
            </a:r>
            <a:r>
              <a:rPr lang="en-US" altLang="zh-CN" dirty="0"/>
              <a:t>K </a:t>
            </a:r>
            <a:r>
              <a:rPr lang="zh-CN" altLang="en-US" dirty="0"/>
              <a:t>个 </a:t>
            </a:r>
            <a:r>
              <a:rPr lang="en-US" altLang="zh-CN" dirty="0"/>
              <a:t>token </a:t>
            </a:r>
            <a:r>
              <a:rPr lang="zh-CN" altLang="en-US" dirty="0"/>
              <a:t>中随机采样。其他的全部置为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ko-KR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26F5-E3B9-48DC-B915-CD65C8127A8A}" type="datetime1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1312245" y="115504"/>
            <a:ext cx="10207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Top-K Sampling</a:t>
            </a:r>
            <a:r>
              <a:rPr lang="zh-CN" altLang="en-US" sz="3600" b="1" dirty="0"/>
              <a:t>（基于数量的采样）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106257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核心思想（左侧）</a:t>
            </a:r>
            <a:endParaRPr lang="en-US" altLang="zh-CN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从概率最高的 前 </a:t>
            </a:r>
            <a:r>
              <a:rPr lang="en-US" altLang="zh-CN" dirty="0"/>
              <a:t>K </a:t>
            </a:r>
            <a:r>
              <a:rPr lang="zh-CN" altLang="en-US" dirty="0"/>
              <a:t>个 </a:t>
            </a:r>
            <a:r>
              <a:rPr lang="en-US" altLang="zh-CN" dirty="0"/>
              <a:t>token </a:t>
            </a:r>
            <a:r>
              <a:rPr lang="zh-CN" altLang="en-US" dirty="0"/>
              <a:t>中采样</a:t>
            </a:r>
            <a:endParaRPr lang="en-US" altLang="zh-CN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其余 </a:t>
            </a:r>
            <a:r>
              <a:rPr lang="en-US" altLang="zh-CN" dirty="0"/>
              <a:t>token </a:t>
            </a:r>
            <a:r>
              <a:rPr lang="zh-CN" altLang="en-US" dirty="0"/>
              <a:t>概率置为 </a:t>
            </a:r>
            <a:r>
              <a:rPr lang="en-US" altLang="zh-CN" dirty="0"/>
              <a:t>0</a:t>
            </a:r>
            <a:endParaRPr lang="en-US" altLang="zh-CN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再重新归一化进行采样</a:t>
            </a:r>
            <a:endParaRPr lang="zh-CN" altLang="en-US" dirty="0"/>
          </a:p>
        </p:txBody>
      </p:sp>
      <p:pic>
        <p:nvPicPr>
          <p:cNvPr id="1026" name="Picture 2" descr="Building Blocks of LLMs: Decoding, Generation Parameters, and the LLM  Application Lifecyc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87575"/>
            <a:ext cx="975360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26F5-E3B9-48DC-B915-CD65C8127A8A}" type="datetime1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1312245" y="115504"/>
            <a:ext cx="10207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Top-P Sampling</a:t>
            </a:r>
            <a:endParaRPr lang="en-US" altLang="zh-CN" sz="3600" dirty="0"/>
          </a:p>
          <a:p>
            <a:r>
              <a:rPr lang="zh-CN" altLang="en-US" sz="3600" dirty="0"/>
              <a:t>（</a:t>
            </a:r>
            <a:r>
              <a:rPr lang="en-US" altLang="zh-CN" sz="3600" dirty="0"/>
              <a:t>Nucleus Sampling</a:t>
            </a:r>
            <a:r>
              <a:rPr lang="zh-CN" altLang="en-US" sz="3600" dirty="0"/>
              <a:t>，基于概率的采样）</a:t>
            </a:r>
            <a:endParaRPr lang="zh-CN" altLang="en-US" sz="3600" dirty="0"/>
          </a:p>
        </p:txBody>
      </p:sp>
      <p:sp>
        <p:nvSpPr>
          <p:cNvPr id="7" name="文本框 6"/>
          <p:cNvSpPr txBox="1"/>
          <p:nvPr/>
        </p:nvSpPr>
        <p:spPr>
          <a:xfrm>
            <a:off x="991386" y="1315833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b="1" dirty="0"/>
              <a:t>核心思想</a:t>
            </a:r>
            <a:endParaRPr lang="en-US" altLang="zh-CN" b="1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按概率从大到小排序 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累计概率直到 ≥ </a:t>
            </a:r>
            <a:r>
              <a:rPr lang="en-US" altLang="zh-CN" dirty="0"/>
              <a:t>p </a:t>
            </a:r>
            <a:endParaRPr lang="en-US" altLang="zh-CN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/>
              <a:t>选取最小集合进行采样</a:t>
            </a:r>
            <a:endParaRPr lang="zh-CN" altLang="en-US" dirty="0"/>
          </a:p>
        </p:txBody>
      </p:sp>
      <p:pic>
        <p:nvPicPr>
          <p:cNvPr id="2050" name="Picture 2" descr="The top_k and top_p Parameters Explained | by Mikhail Berkov | Thinking  Sand | Medium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6" b="31429"/>
          <a:stretch>
            <a:fillRect/>
          </a:stretch>
        </p:blipFill>
        <p:spPr bwMode="auto">
          <a:xfrm>
            <a:off x="1195885" y="2516162"/>
            <a:ext cx="10290175" cy="420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4400" b="1" dirty="0">
                <a:latin typeface="+mj-lt"/>
                <a:ea typeface="+mj-ea"/>
                <a:cs typeface="+mj-cs"/>
              </a:rPr>
              <a:t>练习</a:t>
            </a:r>
            <a:endParaRPr lang="en-US" altLang="zh-CN" sz="4400" b="1" dirty="0"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/>
              <a:p>
                <a:pPr marL="228600" indent="-228600">
                  <a:spcBef>
                    <a:spcPts val="1000"/>
                  </a:spcBef>
                  <a:buFont typeface="Arial" panose="020B0604020202090204" pitchFamily="34" charset="0"/>
                  <a:buChar char="•"/>
                </a:pPr>
                <a:r>
                  <a:rPr lang="zh-CN" altLang="en-US" sz="2800" dirty="0"/>
                  <a:t>假设模型要预测下一个词，给定某语言模型输出的 </a:t>
                </a:r>
                <a:r>
                  <a:rPr lang="en-US" altLang="zh-CN" sz="2800" dirty="0"/>
                  <a:t>logits</a:t>
                </a:r>
                <a:r>
                  <a:rPr lang="zh-CN" altLang="en-US" sz="2800" dirty="0"/>
                  <a:t>：</a:t>
                </a:r>
                <a:endParaRPr lang="en-US" altLang="zh-CN" sz="2800" dirty="0"/>
              </a:p>
              <a:p>
                <a:pPr marL="457200" indent="-457200">
                  <a:buFont typeface="Arial" panose="020B0604020202090204" pitchFamily="34" charset="0"/>
                  <a:buChar char="•"/>
                </a:pPr>
                <a:r>
                  <a:rPr lang="zh-CN" altLang="en-US" sz="2800" dirty="0"/>
                  <a:t>已知：</a:t>
                </a:r>
                <a:endParaRPr lang="en-US" altLang="zh-CN" sz="2800" dirty="0"/>
              </a:p>
              <a:p>
                <a:pPr marL="914400" lvl="1" indent="-457200">
                  <a:buFont typeface="Arial" panose="020B0604020202090204" pitchFamily="34" charset="0"/>
                  <a:buChar char="•"/>
                </a:pPr>
                <a:r>
                  <a:rPr lang="en-US" altLang="zh-CN" sz="2800" dirty="0"/>
                  <a:t>Temperature</a:t>
                </a:r>
                <a:r>
                  <a:rPr lang="zh-CN" altLang="en-US" sz="2800" dirty="0"/>
                  <a:t>：</a:t>
                </a:r>
                <a:endParaRPr lang="en-US" altLang="zh-CN" sz="2800" dirty="0"/>
              </a:p>
              <a:p>
                <a:pPr marL="1371600" lvl="2" indent="-457200">
                  <a:buFont typeface="Arial" panose="020B0604020202090204" pitchFamily="34" charset="0"/>
                  <a:buChar char="•"/>
                </a:pPr>
                <a:r>
                  <a:rPr lang="en-US" altLang="zh-CN" sz="2800" dirty="0"/>
                  <a:t>T=2</a:t>
                </a:r>
                <a:r>
                  <a:rPr lang="zh-CN" altLang="en-US" sz="2800" dirty="0"/>
                  <a:t>（高温）</a:t>
                </a:r>
                <a:endParaRPr lang="en-US" altLang="zh-CN" sz="2800" dirty="0"/>
              </a:p>
              <a:p>
                <a:pPr marL="1371600" lvl="2" indent="-457200">
                  <a:buFont typeface="Arial" panose="020B0604020202090204" pitchFamily="34" charset="0"/>
                  <a:buChar char="•"/>
                </a:pPr>
                <a:r>
                  <a:rPr lang="en-US" altLang="zh-CN" sz="2800" dirty="0"/>
                  <a:t>T=1</a:t>
                </a:r>
                <a:r>
                  <a:rPr lang="zh-CN" altLang="en-US" sz="2800" dirty="0"/>
                  <a:t>（标准）</a:t>
                </a:r>
                <a:endParaRPr lang="en-US" altLang="zh-CN" sz="2800" dirty="0"/>
              </a:p>
              <a:p>
                <a:pPr marL="1371600" lvl="2" indent="-457200">
                  <a:buFont typeface="Arial" panose="020B0604020202090204" pitchFamily="34" charset="0"/>
                  <a:buChar char="•"/>
                </a:pPr>
                <a:r>
                  <a:rPr lang="en-US" altLang="zh-CN" sz="2800" dirty="0"/>
                  <a:t>T=0.5</a:t>
                </a:r>
                <a:r>
                  <a:rPr lang="zh-CN" altLang="en-US" sz="2800" dirty="0"/>
                  <a:t>（低温）</a:t>
                </a:r>
                <a:endParaRPr lang="en-US" altLang="zh-CN" sz="2800" dirty="0"/>
              </a:p>
              <a:p>
                <a:pPr marL="914400" lvl="1" indent="-457200">
                  <a:buFont typeface="Arial" panose="020B0604020202090204" pitchFamily="34" charset="0"/>
                  <a:buChar char="•"/>
                </a:pPr>
                <a:r>
                  <a:rPr lang="en-US" altLang="zh-CN" sz="2800" dirty="0"/>
                  <a:t>Top-K</a:t>
                </a:r>
                <a:r>
                  <a:rPr lang="zh-CN" altLang="en-US" sz="2800" dirty="0"/>
                  <a:t>：</a:t>
                </a:r>
                <a:r>
                  <a:rPr lang="en-US" altLang="zh-CN" sz="2800" dirty="0"/>
                  <a:t>k = 2</a:t>
                </a:r>
                <a:endParaRPr lang="en-US" altLang="zh-CN" sz="2800" dirty="0"/>
              </a:p>
              <a:p>
                <a:pPr marL="914400" lvl="1" indent="-457200">
                  <a:buFont typeface="Arial" panose="020B0604020202090204" pitchFamily="34" charset="0"/>
                  <a:buChar char="•"/>
                </a:pPr>
                <a:r>
                  <a:rPr lang="en-US" altLang="zh-CN" sz="2800" dirty="0"/>
                  <a:t>Top-P</a:t>
                </a:r>
                <a:r>
                  <a:rPr lang="zh-CN" altLang="en-US" sz="2800" dirty="0"/>
                  <a:t>：</a:t>
                </a:r>
                <a:r>
                  <a:rPr lang="en-US" altLang="zh-CN" sz="2800" dirty="0"/>
                  <a:t>p = 0.8</a:t>
                </a:r>
                <a:endParaRPr lang="en-US" altLang="zh-CN" sz="2800" dirty="0"/>
              </a:p>
              <a:p>
                <a:pPr marL="914400" lvl="1" indent="-457200">
                  <a:buFont typeface="Arial" panose="020B0604020202090204" pitchFamily="34" charset="0"/>
                  <a:buChar char="•"/>
                </a:pPr>
                <a:r>
                  <a:rPr lang="en-US" altLang="zh-CN" sz="2800" dirty="0" err="1"/>
                  <a:t>Softmax</a:t>
                </a:r>
                <a:r>
                  <a:rPr lang="en-US" altLang="zh-CN" sz="2800" dirty="0"/>
                  <a:t> </a:t>
                </a:r>
                <a:r>
                  <a:rPr lang="zh-CN" altLang="en-US" sz="2800" dirty="0"/>
                  <a:t>定义： </a:t>
                </a:r>
                <a:endParaRPr lang="zh-CN" altLang="en-US" sz="2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/>
                          </m:ctrlPr>
                        </m:sSubPr>
                        <m:e>
                          <m:r>
                            <a:rPr lang="zh-CN" altLang="ar-AE" i="1">
                              <a:latin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ar-AE" i="1"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 lang="ar-AE" altLang="zh-CN">
                          <a:latin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ar-AE" altLang="zh-CN" i="1"/>
                          </m:ctrlPr>
                        </m:fPr>
                        <m:num>
                          <m:sSup>
                            <m:sSupPr>
                              <m:ctrlPr>
                                <a:rPr lang="ar-AE" altLang="zh-CN" i="1"/>
                              </m:ctrlPr>
                            </m:sSupPr>
                            <m:e>
                              <m:r>
                                <a:rPr lang="zh-CN" altLang="ar-AE" i="1">
                                  <a:latin typeface="DejaVu Math TeX Gyre" panose="02000503000000000000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ar-AE" altLang="zh-CN" i="1"/>
                                  </m:ctrlPr>
                                </m:sSubPr>
                                <m:e>
                                  <m:r>
                                    <a:rPr lang="zh-CN" altLang="ar-AE" i="1">
                                      <a:latin typeface="DejaVu Math TeX Gyre" panose="02000503000000000000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ar-AE" i="1">
                                      <a:latin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altLang="zh-CN" i="1"/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ar-AE" altLang="zh-CN" i="1"/>
                                  </m:ctrlPr>
                                </m:sSupPr>
                                <m:e>
                                  <m:r>
                                    <a:rPr lang="zh-CN" altLang="ar-AE" i="1">
                                      <a:latin typeface="DejaVu Math TeX Gyre" panose="02000503000000000000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ar-AE" altLang="zh-CN" i="1"/>
                                      </m:ctrlPr>
                                    </m:sSubPr>
                                    <m:e>
                                      <m:r>
                                        <a:rPr lang="zh-CN" altLang="ar-AE" i="1">
                                          <a:latin typeface="DejaVu Math TeX Gyre" panose="02000503000000000000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ar-AE" i="1">
                                          <a:latin typeface="DejaVu Math TeX Gyre" panose="02000503000000000000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r>
                  <a:rPr lang="en-US" altLang="zh-CN" sz="2800" dirty="0"/>
                  <a:t>	</a:t>
                </a:r>
                <a:endParaRPr lang="ar-AE" altLang="zh-CN" sz="2800" dirty="0"/>
              </a:p>
              <a:p>
                <a:pPr marL="228600" indent="-228600">
                  <a:spcBef>
                    <a:spcPts val="1000"/>
                  </a:spcBef>
                  <a:buFont typeface="Arial" panose="020B0604020202090204" pitchFamily="34" charset="0"/>
                  <a:buChar char="•"/>
                </a:pPr>
                <a:endParaRPr lang="en-US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  <a:blipFill rotWithShape="1">
                <a:blip r:embed="rId1"/>
                <a:stretch>
                  <a:fillRect t="-555" b="-1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06826F5-E3B9-48DC-B915-CD65C8127A8A}" type="datetime1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Spring 2025</a:t>
            </a:r>
            <a:endParaRPr lang="en-US" kern="1200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564D4F-2754-45B5-A84F-43D41F98A5C0}" type="slidenum">
              <a:rPr lang="en-US" smtClean="0"/>
            </a:fld>
            <a:endParaRPr 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172200" y="1961606"/>
          <a:ext cx="5181600" cy="407937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734589"/>
                <a:gridCol w="2447011"/>
              </a:tblGrid>
              <a:tr h="918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400" b="1" cap="none" spc="0">
                          <a:solidFill>
                            <a:schemeClr val="tx1"/>
                          </a:solidFill>
                        </a:rPr>
                        <a:t>Token</a:t>
                      </a:r>
                      <a:endParaRPr lang="en-US" sz="34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400" b="1" cap="none" spc="0">
                          <a:solidFill>
                            <a:schemeClr val="tx1"/>
                          </a:solidFill>
                        </a:rPr>
                        <a:t>Logit</a:t>
                      </a:r>
                      <a:endParaRPr lang="en-US" sz="34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0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500" cap="none" spc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0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90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500" cap="none" spc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0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500" cap="none" spc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altLang="zh-CN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4909" marR="192726" marT="38545" marB="289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133842" cy="4351338"/>
          </a:xfrm>
        </p:spPr>
        <p:txBody>
          <a:bodyPr>
            <a:normAutofit/>
          </a:bodyPr>
          <a:lstStyle/>
          <a:p>
            <a:r>
              <a:rPr lang="zh-CN" altLang="en-US" b="1" dirty="0"/>
              <a:t>问题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dirty="0"/>
              <a:t>分别写出三个温度下的 </a:t>
            </a:r>
            <a:r>
              <a:rPr lang="en-US" altLang="zh-CN" b="1" dirty="0" err="1"/>
              <a:t>softmax</a:t>
            </a:r>
            <a:r>
              <a:rPr lang="en-US" altLang="zh-CN" b="1" dirty="0"/>
              <a:t> </a:t>
            </a:r>
            <a:r>
              <a:rPr lang="zh-CN" altLang="en-US" b="1" dirty="0"/>
              <a:t>概率（先缩放 </a:t>
            </a:r>
            <a:r>
              <a:rPr lang="en-US" altLang="zh-CN" b="1" dirty="0"/>
              <a:t>logits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77ED-93D2-4135-90D2-96EC34F4A463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Token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T=0.5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0.46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0.64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0.86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0.28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0.24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0.12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0.17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0.09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0.02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0.10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0.03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0.002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394050" y="1443691"/>
            <a:ext cx="8700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1"/>
              </a:rPr>
              <a:t>Softmax</a:t>
            </a:r>
            <a:r>
              <a:rPr lang="en-US" altLang="ko-KR" dirty="0">
                <a:hlinkClick r:id="rId1"/>
              </a:rPr>
              <a:t> Function, Calculator and Formula</a:t>
            </a:r>
            <a:endParaRPr lang="ko-KR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133842" cy="4351338"/>
          </a:xfrm>
        </p:spPr>
        <p:txBody>
          <a:bodyPr>
            <a:normAutofit/>
          </a:bodyPr>
          <a:lstStyle/>
          <a:p>
            <a:r>
              <a:rPr lang="zh-CN" altLang="en-US" b="1" dirty="0"/>
              <a:t>问题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dirty="0"/>
              <a:t>分别写出三个温度下的 </a:t>
            </a:r>
            <a:r>
              <a:rPr lang="en-US" altLang="zh-CN" b="1" dirty="0" err="1"/>
              <a:t>softmax</a:t>
            </a:r>
            <a:r>
              <a:rPr lang="en-US" altLang="zh-CN" b="1" dirty="0"/>
              <a:t> </a:t>
            </a:r>
            <a:r>
              <a:rPr lang="zh-CN" altLang="en-US" b="1" dirty="0"/>
              <a:t>概率（先缩放 </a:t>
            </a:r>
            <a:r>
              <a:rPr lang="en-US" altLang="zh-CN" b="1" dirty="0"/>
              <a:t>logits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77ED-93D2-4135-90D2-96EC34F4A463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Token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T=0.5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0.5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-0.5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-2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394050" y="1443691"/>
            <a:ext cx="8700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1"/>
              </a:rPr>
              <a:t>Softmax</a:t>
            </a:r>
            <a:r>
              <a:rPr lang="en-US" altLang="ko-KR" dirty="0">
                <a:hlinkClick r:id="rId1"/>
              </a:rPr>
              <a:t> Function, Calculator and Formula</a:t>
            </a:r>
            <a:endParaRPr lang="ko-KR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133842" cy="4351338"/>
          </a:xfrm>
        </p:spPr>
        <p:txBody>
          <a:bodyPr>
            <a:normAutofit/>
          </a:bodyPr>
          <a:lstStyle/>
          <a:p>
            <a:r>
              <a:rPr lang="zh-CN" altLang="en-US" b="1" dirty="0"/>
              <a:t>问题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dirty="0"/>
              <a:t>分别写出三个温度下的 </a:t>
            </a:r>
            <a:r>
              <a:rPr lang="en-US" altLang="zh-CN" b="1" dirty="0" err="1"/>
              <a:t>softmax</a:t>
            </a:r>
            <a:r>
              <a:rPr lang="en-US" altLang="zh-CN" b="1" dirty="0"/>
              <a:t> </a:t>
            </a:r>
            <a:r>
              <a:rPr lang="zh-CN" altLang="en-US" b="1" dirty="0"/>
              <a:t>概率（先缩放 </a:t>
            </a:r>
            <a:r>
              <a:rPr lang="en-US" altLang="zh-CN" b="1" dirty="0"/>
              <a:t>logits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77ED-93D2-4135-90D2-96EC34F4A463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Token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T=0.5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0.46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0.64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0.86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0.28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0.24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0.12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0.17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0.09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0.02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0.10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0.03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0.002</a:t>
                      </a:r>
                      <a:endParaRPr lang="en-US" alt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394050" y="1443691"/>
            <a:ext cx="8700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1"/>
              </a:rPr>
              <a:t>Softmax</a:t>
            </a:r>
            <a:r>
              <a:rPr lang="en-US" altLang="ko-KR" dirty="0">
                <a:hlinkClick r:id="rId1"/>
              </a:rPr>
              <a:t> Function, Calculator and Formula</a:t>
            </a:r>
            <a:endParaRPr lang="ko-KR" altLang="en-US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133842" cy="4351338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问题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）在 </a:t>
            </a:r>
            <a:r>
              <a:rPr lang="en-US" altLang="zh-CN" b="1" dirty="0"/>
              <a:t>Temperature = 0.5</a:t>
            </a:r>
            <a:r>
              <a:rPr lang="zh-CN" altLang="en-US" b="1" dirty="0"/>
              <a:t>，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2 </a:t>
            </a:r>
            <a:r>
              <a:rPr lang="zh-CN" altLang="en-US" b="1" dirty="0"/>
              <a:t>的情况下，</a:t>
            </a:r>
            <a:r>
              <a:rPr lang="en-US" altLang="zh-CN" dirty="0"/>
              <a:t>Top-K</a:t>
            </a:r>
            <a:r>
              <a:rPr lang="zh-CN" altLang="en-US" dirty="0"/>
              <a:t>（</a:t>
            </a:r>
            <a:r>
              <a:rPr lang="en-US" altLang="zh-CN" dirty="0"/>
              <a:t>k=2</a:t>
            </a:r>
            <a:r>
              <a:rPr lang="zh-CN" altLang="en-US" dirty="0"/>
              <a:t>）的结果、</a:t>
            </a:r>
            <a:endParaRPr lang="zh-CN" altLang="en-US" dirty="0"/>
          </a:p>
          <a:p>
            <a:pPr marL="0" indent="457200">
              <a:buNone/>
            </a:pPr>
            <a:r>
              <a:rPr lang="en-US" altLang="zh-CN" b="1" dirty="0"/>
              <a:t>A ,B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）在 </a:t>
            </a:r>
            <a:r>
              <a:rPr lang="en-US" altLang="zh-CN" b="1" dirty="0"/>
              <a:t>Temperature = 0.5</a:t>
            </a:r>
            <a:r>
              <a:rPr lang="zh-CN" altLang="en-US" b="1" dirty="0"/>
              <a:t>，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2 </a:t>
            </a:r>
            <a:r>
              <a:rPr lang="zh-CN" altLang="en-US" b="1" dirty="0"/>
              <a:t>的情况下：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dirty="0"/>
              <a:t> 应用 </a:t>
            </a:r>
            <a:r>
              <a:rPr lang="en-US" altLang="zh-CN" dirty="0"/>
              <a:t>Top-P</a:t>
            </a:r>
            <a:r>
              <a:rPr lang="zh-CN" altLang="en-US" dirty="0"/>
              <a:t>（</a:t>
            </a:r>
            <a:r>
              <a:rPr lang="en-US" altLang="zh-CN" dirty="0"/>
              <a:t>p=0.8</a:t>
            </a:r>
            <a:r>
              <a:rPr lang="zh-CN" altLang="en-US" dirty="0"/>
              <a:t>），写出保留的 </a:t>
            </a:r>
            <a:r>
              <a:rPr lang="en-US" altLang="zh-CN" dirty="0"/>
              <a:t>token</a:t>
            </a:r>
            <a:endParaRPr lang="en-US" altLang="zh-CN" dirty="0"/>
          </a:p>
          <a:p>
            <a:r>
              <a:rPr lang="en-US" altLang="zh-CN" dirty="0"/>
              <a:t>T = 2 A,B,C</a:t>
            </a:r>
            <a:endParaRPr lang="en-US" altLang="zh-CN" dirty="0"/>
          </a:p>
          <a:p>
            <a:r>
              <a:rPr lang="en-US" altLang="zh-CN" dirty="0"/>
              <a:t>T = 1 A,B</a:t>
            </a:r>
            <a:endParaRPr lang="en-US" altLang="zh-CN" dirty="0"/>
          </a:p>
          <a:p>
            <a:r>
              <a:rPr lang="en-US" altLang="zh-CN" dirty="0"/>
              <a:t>T = 0.5 A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77ED-93D2-4135-90D2-96EC34F4A463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4636</Words>
  <Application>WPS 演示</Application>
  <PresentationFormat>宽屏</PresentationFormat>
  <Paragraphs>660</Paragraphs>
  <Slides>35</Slides>
  <Notes>0</Notes>
  <HiddenSlides>4</HiddenSlides>
  <MMClips>0</MMClips>
  <ScaleCrop>false</ScaleCrop>
  <HeadingPairs>
    <vt:vector size="6" baseType="variant">
      <vt:variant>
        <vt:lpstr>已用的字体</vt:lpstr>
      </vt:variant>
      <vt:variant>
        <vt:i4>45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82" baseType="lpstr">
      <vt:lpstr>Arial</vt:lpstr>
      <vt:lpstr>宋体</vt:lpstr>
      <vt:lpstr>Wingdings</vt:lpstr>
      <vt:lpstr>Calibri</vt:lpstr>
      <vt:lpstr>Helvetica Neue</vt:lpstr>
      <vt:lpstr>Aptos</vt:lpstr>
      <vt:lpstr>Arial</vt:lpstr>
      <vt:lpstr>Arial MT</vt:lpstr>
      <vt:lpstr>Courier New</vt:lpstr>
      <vt:lpstr>Tahoma</vt:lpstr>
      <vt:lpstr>Trebuchet MS</vt:lpstr>
      <vt:lpstr>Times New Roman</vt:lpstr>
      <vt:lpstr>Courier New</vt:lpstr>
      <vt:lpstr>等线 Light</vt:lpstr>
      <vt:lpstr>汉仪中等线KW</vt:lpstr>
      <vt:lpstr>Aptos Display</vt:lpstr>
      <vt:lpstr>等线</vt:lpstr>
      <vt:lpstr>微软雅黑</vt:lpstr>
      <vt:lpstr>汉仪旗黑</vt:lpstr>
      <vt:lpstr>宋体</vt:lpstr>
      <vt:lpstr>Arial Unicode MS</vt:lpstr>
      <vt:lpstr>Malgun Gothic</vt:lpstr>
      <vt:lpstr>Apple SD Gothic Neo</vt:lpstr>
      <vt:lpstr>汉仪书宋二KW</vt:lpstr>
      <vt:lpstr>Malgun Gothic</vt:lpstr>
      <vt:lpstr>等线</vt:lpstr>
      <vt:lpstr>PMingLiU</vt:lpstr>
      <vt:lpstr>Cambria Math</vt:lpstr>
      <vt:lpstr>微軟正黑體</vt:lpstr>
      <vt:lpstr>Roboto</vt:lpstr>
      <vt:lpstr>苹方-简</vt:lpstr>
      <vt:lpstr>inherit</vt:lpstr>
      <vt:lpstr>DejaVu Math TeX Gyre</vt:lpstr>
      <vt:lpstr>宋体-繁</vt:lpstr>
      <vt:lpstr>Kingsoft Math</vt:lpstr>
      <vt:lpstr>汉仪中黑KW</vt:lpstr>
      <vt:lpstr>Thonburi</vt:lpstr>
      <vt:lpstr>Aptos</vt:lpstr>
      <vt:lpstr>Arial MT</vt:lpstr>
      <vt:lpstr>PMingLiU</vt:lpstr>
      <vt:lpstr>Tahoma</vt:lpstr>
      <vt:lpstr>Times New Roman</vt:lpstr>
      <vt:lpstr>Trebuchet MS</vt:lpstr>
      <vt:lpstr>inherit</vt:lpstr>
      <vt:lpstr>微軟正黑體</vt:lpstr>
      <vt:lpstr>Office 主题​​</vt:lpstr>
      <vt:lpstr>Office Theme</vt:lpstr>
      <vt:lpstr>大语言模型及应用</vt:lpstr>
      <vt:lpstr>PowerPoint 演示文稿</vt:lpstr>
      <vt:lpstr>PowerPoint 演示文稿</vt:lpstr>
      <vt:lpstr>GPT model</vt:lpstr>
      <vt:lpstr>实现 Transformer 模块</vt:lpstr>
      <vt:lpstr>实现GPT-2模型</vt:lpstr>
      <vt:lpstr>生成文本：一次一个token地生成文本</vt:lpstr>
      <vt:lpstr>PowerPoint 演示文稿</vt:lpstr>
      <vt:lpstr>PowerPoint 演示文稿</vt:lpstr>
      <vt:lpstr>使用随机权重初始化的GPT生成文本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</vt:lpstr>
      <vt:lpstr>练习</vt:lpstr>
      <vt:lpstr>练习</vt:lpstr>
      <vt:lpstr>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Xiaohan Ma</dc:creator>
  <cp:lastModifiedBy>幽灵</cp:lastModifiedBy>
  <cp:revision>4</cp:revision>
  <dcterms:created xsi:type="dcterms:W3CDTF">2026-04-10T06:39:26Z</dcterms:created>
  <dcterms:modified xsi:type="dcterms:W3CDTF">2026-04-10T06:39:26Z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19C0F808CEBE53D21E9BD86988A756BE_42</vt:lpwstr>
  </property>
</Properties>
</file>