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377" r:id="rId4"/>
    <p:sldId id="378" r:id="rId5"/>
    <p:sldId id="379" r:id="rId6"/>
    <p:sldId id="380" r:id="rId7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2" r:id="rId20"/>
    <p:sldId id="393" r:id="rId21"/>
    <p:sldId id="394" r:id="rId22"/>
    <p:sldId id="458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59" r:id="rId33"/>
    <p:sldId id="404" r:id="rId34"/>
    <p:sldId id="405" r:id="rId35"/>
    <p:sldId id="406" r:id="rId36"/>
    <p:sldId id="407" r:id="rId37"/>
    <p:sldId id="408" r:id="rId38"/>
    <p:sldId id="409" r:id="rId39"/>
    <p:sldId id="410" r:id="rId40"/>
    <p:sldId id="411" r:id="rId41"/>
    <p:sldId id="412" r:id="rId42"/>
    <p:sldId id="413" r:id="rId43"/>
    <p:sldId id="414" r:id="rId44"/>
    <p:sldId id="415" r:id="rId45"/>
    <p:sldId id="416" r:id="rId46"/>
    <p:sldId id="417" r:id="rId47"/>
    <p:sldId id="418" r:id="rId48"/>
    <p:sldId id="457" r:id="rId49"/>
    <p:sldId id="419" r:id="rId50"/>
    <p:sldId id="420" r:id="rId51"/>
    <p:sldId id="421" r:id="rId52"/>
    <p:sldId id="422" r:id="rId53"/>
    <p:sldId id="423" r:id="rId54"/>
    <p:sldId id="424" r:id="rId55"/>
    <p:sldId id="425" r:id="rId56"/>
    <p:sldId id="426" r:id="rId57"/>
    <p:sldId id="427" r:id="rId58"/>
    <p:sldId id="428" r:id="rId59"/>
    <p:sldId id="429" r:id="rId60"/>
    <p:sldId id="430" r:id="rId61"/>
    <p:sldId id="431" r:id="rId62"/>
    <p:sldId id="432" r:id="rId63"/>
    <p:sldId id="433" r:id="rId64"/>
    <p:sldId id="434" r:id="rId65"/>
    <p:sldId id="435" r:id="rId66"/>
    <p:sldId id="436" r:id="rId67"/>
    <p:sldId id="438" r:id="rId68"/>
    <p:sldId id="439" r:id="rId6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54219-0BF8-4FF9-AAC5-D7CA2938545E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7FEDF-4B02-4D19-8406-5399470043AF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7FEDF-4B02-4D19-8406-5399470043A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7FEDF-4B02-4D19-8406-5399470043A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23CC-6255-45CE-A1A5-BB548B1BFF4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Spring</a:t>
            </a:r>
            <a:r>
              <a:rPr lang="en-US" dirty="0"/>
              <a:t>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A0A9-AEE8-4961-892A-9A031FCB25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9839-AD17-48C6-A9E5-7529F43DB7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877ED-93D2-4135-90D2-96EC34F4A46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7D785-6FE3-4B2F-A11C-2C7625784037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842AA-8B4C-4491-AA39-C4836CBD996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26F5-E3B9-48DC-B915-CD65C8127A8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dirty="0"/>
              <a:t>Click to edit Master text styles</a:t>
            </a:r>
            <a:endParaRPr lang="en-US" altLang="ko-KR" dirty="0"/>
          </a:p>
          <a:p>
            <a:pPr lvl="1"/>
            <a:r>
              <a:rPr lang="en-US" altLang="ko-KR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  <a:endParaRPr lang="en-US" altLang="ko-KR" dirty="0"/>
          </a:p>
          <a:p>
            <a:pPr lvl="3"/>
            <a:r>
              <a:rPr lang="en-US" altLang="ko-KR" dirty="0"/>
              <a:t>Fourth level</a:t>
            </a:r>
            <a:endParaRPr lang="en-US" altLang="ko-KR" dirty="0"/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6CCC1-0812-4EF1-8655-87F1C118CD2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  <a:endParaRPr lang="en-US" altLang="ko-K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85A77-462C-42E3-9579-5C7E5B311DA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5B80C-B3ED-4CA8-96F6-957172211A5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  <a:endParaRPr lang="en-US" altLang="ko-KR"/>
          </a:p>
          <a:p>
            <a:pPr lvl="1"/>
            <a:r>
              <a:rPr lang="en-US" altLang="ko-KR"/>
              <a:t>Second level</a:t>
            </a:r>
            <a:endParaRPr lang="en-US" altLang="ko-KR"/>
          </a:p>
          <a:p>
            <a:pPr lvl="2"/>
            <a:r>
              <a:rPr lang="en-US" altLang="ko-KR"/>
              <a:t>Third level</a:t>
            </a:r>
            <a:endParaRPr lang="en-US" altLang="ko-KR"/>
          </a:p>
          <a:p>
            <a:pPr lvl="3"/>
            <a:r>
              <a:rPr lang="en-US" altLang="ko-KR"/>
              <a:t>Fourth level</a:t>
            </a:r>
            <a:endParaRPr lang="en-US" altLang="ko-KR"/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C9F8-F191-4537-AA1F-0DD4E7B5C96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1C677-D615-4C7C-AA52-81F40B6A7C3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5D405-5EAB-44DE-AB4D-07DBCDD93FC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90042" y="249909"/>
            <a:ext cx="8211914" cy="746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ko-KR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ko-KR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33C54-1542-49B1-9C81-2909A0774B9B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E8FDE-CB08-49A2-9CCD-80014CEAA9EF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点击编辑主标题样式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dirty="0"/>
              <a:t>点击编辑主文本样式</a:t>
            </a:r>
            <a:endParaRPr lang="en-US" altLang="ko-KR" dirty="0"/>
          </a:p>
          <a:p>
            <a:pPr lvl="1"/>
            <a:r>
              <a:rPr lang="en-US" altLang="ko-KR" dirty="0"/>
              <a:t>二级标题</a:t>
            </a:r>
            <a:endParaRPr lang="en-US" altLang="ko-KR" dirty="0"/>
          </a:p>
          <a:p>
            <a:pPr lvl="2"/>
            <a:r>
              <a:rPr lang="en-US" altLang="ko-KR" dirty="0"/>
              <a:t>第三级</a:t>
            </a:r>
            <a:endParaRPr lang="en-US" altLang="ko-KR" dirty="0"/>
          </a:p>
          <a:p>
            <a:pPr lvl="3"/>
            <a:r>
              <a:rPr lang="en-US" altLang="ko-KR" dirty="0"/>
              <a:t>第四级</a:t>
            </a:r>
            <a:endParaRPr lang="en-US" altLang="ko-KR" dirty="0"/>
          </a:p>
          <a:p>
            <a:pPr lvl="4"/>
            <a:r>
              <a:rPr lang="en-US" altLang="ko-KR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25125-29B6-4294-A02A-6672D0F4881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2025年</a:t>
            </a:r>
            <a:r>
              <a:rPr lang="en-US" altLang="zh-CN" dirty="0"/>
              <a:t>春季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64D4F-2754-45B5-A84F-43D41F98A5C0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7415683" cy="185738"/>
          </a:xfrm>
          <a:prstGeom prst="rect">
            <a:avLst/>
          </a:prstGeom>
          <a:solidFill>
            <a:srgbClr val="0F66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7415687" y="0"/>
            <a:ext cx="4776316" cy="185738"/>
          </a:xfrm>
          <a:prstGeom prst="rect">
            <a:avLst/>
          </a:prstGeom>
          <a:solidFill>
            <a:srgbClr val="BB8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8" name="Picture 17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558" y="237986"/>
            <a:ext cx="1767839" cy="4664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hyperlink" Target="https://arxiv.org/abs/2010.11929v2" TargetMode="Externa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hyperlink" Target="https://arxiv.org/abs/2010.11929v2" TargetMode="Externa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arxiv.org/abs/2010.11929v2" TargetMode="Externa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blog.research.google/2020/12/transformers-for-image-recognition-at.html" TargetMode="Externa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blog.research.google/2020/12/transformers-for-image-recognition-at.html" TargetMode="Externa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arxiv.org/abs/2104.01778" TargetMode="External"/><Relationship Id="rId1" Type="http://schemas.openxmlformats.org/officeDocument/2006/relationships/hyperlink" Target="https://arxiv.org/abs/2005.08100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arxiv.org/abs/2102.10772" TargetMode="External"/><Relationship Id="rId1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hyperlink" Target="https://arxiv.org/abs/2304.08485" TargetMode="External"/><Relationship Id="rId1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hyperlink" Target="https://arxiv.org/abs/2304.08485" TargetMode="External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514850" y="2093136"/>
            <a:ext cx="2151427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C00000"/>
                </a:solidFill>
                <a:latin typeface="Calibri"/>
                <a:cs typeface="Calibri"/>
              </a:rPr>
              <a:t>第2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部分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21360" y="3436111"/>
            <a:ext cx="5346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00FF"/>
                </a:solidFill>
                <a:latin typeface="Calibri"/>
                <a:cs typeface="Calibri"/>
              </a:rPr>
              <a:t>预训练</a:t>
            </a: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与</a:t>
            </a:r>
            <a:r>
              <a:rPr sz="3600" b="1" spc="-10" dirty="0">
                <a:solidFill>
                  <a:srgbClr val="0000FF"/>
                </a:solidFill>
                <a:latin typeface="Calibri"/>
                <a:cs typeface="Calibri"/>
              </a:rPr>
              <a:t>微调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600" y="1530424"/>
            <a:ext cx="9509125" cy="3669029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4277995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1.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训练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0715" y="719631"/>
            <a:ext cx="774573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dirty="0">
                <a:latin typeface="Arial" panose="020B0604020202090204"/>
                <a:cs typeface="Arial" panose="020B0604020202090204"/>
              </a:rPr>
              <a:t>如何训练和微调</a:t>
            </a:r>
            <a:r>
              <a:rPr sz="3200" spc="-10" dirty="0">
                <a:latin typeface="Arial" panose="020B0604020202090204"/>
                <a:cs typeface="Arial" panose="020B0604020202090204"/>
              </a:rPr>
              <a:t>Transformer模型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84000" y="1530433"/>
            <a:ext cx="1392555" cy="3669029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6637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2.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推理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919937" y="3344860"/>
            <a:ext cx="455295" cy="41275"/>
            <a:chOff x="9919937" y="3344860"/>
            <a:chExt cx="455295" cy="41275"/>
          </a:xfrm>
        </p:grpSpPr>
        <p:sp>
          <p:nvSpPr>
            <p:cNvPr id="6" name="object 6"/>
            <p:cNvSpPr/>
            <p:nvPr/>
          </p:nvSpPr>
          <p:spPr>
            <a:xfrm>
              <a:off x="9924699" y="3364775"/>
              <a:ext cx="402590" cy="635"/>
            </a:xfrm>
            <a:custGeom>
              <a:avLst/>
              <a:gdLst/>
              <a:ahLst/>
              <a:cxnLst/>
              <a:rect l="l" t="t" r="r" b="b"/>
              <a:pathLst>
                <a:path w="402590" h="635">
                  <a:moveTo>
                    <a:pt x="0" y="0"/>
                  </a:moveTo>
                  <a:lnTo>
                    <a:pt x="62464" y="16"/>
                  </a:lnTo>
                  <a:lnTo>
                    <a:pt x="113906" y="62"/>
                  </a:lnTo>
                  <a:lnTo>
                    <a:pt x="157080" y="129"/>
                  </a:lnTo>
                  <a:lnTo>
                    <a:pt x="229649" y="299"/>
                  </a:lnTo>
                  <a:lnTo>
                    <a:pt x="251291" y="355"/>
                  </a:lnTo>
                  <a:lnTo>
                    <a:pt x="273606" y="410"/>
                  </a:lnTo>
                  <a:lnTo>
                    <a:pt x="322944" y="506"/>
                  </a:lnTo>
                  <a:lnTo>
                    <a:pt x="366719" y="560"/>
                  </a:lnTo>
                  <a:lnTo>
                    <a:pt x="383049" y="574"/>
                  </a:lnTo>
                  <a:lnTo>
                    <a:pt x="402149" y="58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326844" y="334962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10" y="0"/>
                  </a:lnTo>
                  <a:lnTo>
                    <a:pt x="43230" y="15747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26844" y="334962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30" y="15747"/>
                  </a:lnTo>
                  <a:lnTo>
                    <a:pt x="1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600" y="1530433"/>
            <a:ext cx="4443095" cy="3669029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580515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1.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预训练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0715" y="719631"/>
            <a:ext cx="774573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dirty="0">
                <a:latin typeface="Arial" panose="020B0604020202090204"/>
                <a:cs typeface="Arial" panose="020B0604020202090204"/>
              </a:rPr>
              <a:t>如何训练和微调 </a:t>
            </a:r>
            <a:r>
              <a:rPr sz="3200" spc="-10" dirty="0">
                <a:latin typeface="Arial" panose="020B0604020202090204"/>
                <a:cs typeface="Arial" panose="020B0604020202090204"/>
              </a:rPr>
              <a:t>Transformer 模型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7799" y="1530433"/>
            <a:ext cx="4606925" cy="3669029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67894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2.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微调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84000" y="1530433"/>
            <a:ext cx="1392555" cy="3669029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6637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3.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推理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53537" y="3344868"/>
            <a:ext cx="455295" cy="41275"/>
            <a:chOff x="4853537" y="3344868"/>
            <a:chExt cx="455295" cy="41275"/>
          </a:xfrm>
        </p:grpSpPr>
        <p:sp>
          <p:nvSpPr>
            <p:cNvPr id="7" name="object 7"/>
            <p:cNvSpPr/>
            <p:nvPr/>
          </p:nvSpPr>
          <p:spPr>
            <a:xfrm>
              <a:off x="4858299" y="3364783"/>
              <a:ext cx="402590" cy="635"/>
            </a:xfrm>
            <a:custGeom>
              <a:avLst/>
              <a:gdLst/>
              <a:ahLst/>
              <a:cxnLst/>
              <a:rect l="l" t="t" r="r" b="b"/>
              <a:pathLst>
                <a:path w="402589" h="635">
                  <a:moveTo>
                    <a:pt x="0" y="0"/>
                  </a:moveTo>
                  <a:lnTo>
                    <a:pt x="62490" y="16"/>
                  </a:lnTo>
                  <a:lnTo>
                    <a:pt x="113952" y="62"/>
                  </a:lnTo>
                  <a:lnTo>
                    <a:pt x="157143" y="129"/>
                  </a:lnTo>
                  <a:lnTo>
                    <a:pt x="229749" y="299"/>
                  </a:lnTo>
                  <a:lnTo>
                    <a:pt x="251406" y="355"/>
                  </a:lnTo>
                  <a:lnTo>
                    <a:pt x="273738" y="410"/>
                  </a:lnTo>
                  <a:lnTo>
                    <a:pt x="323121" y="506"/>
                  </a:lnTo>
                  <a:lnTo>
                    <a:pt x="366936" y="560"/>
                  </a:lnTo>
                  <a:lnTo>
                    <a:pt x="383280" y="574"/>
                  </a:lnTo>
                  <a:lnTo>
                    <a:pt x="402449" y="58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260744" y="334963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10" y="0"/>
                  </a:lnTo>
                  <a:lnTo>
                    <a:pt x="43230" y="15747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60744" y="334963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30" y="15747"/>
                  </a:lnTo>
                  <a:lnTo>
                    <a:pt x="1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9919837" y="3344868"/>
            <a:ext cx="455295" cy="41275"/>
            <a:chOff x="9919837" y="3344868"/>
            <a:chExt cx="455295" cy="41275"/>
          </a:xfrm>
        </p:grpSpPr>
        <p:sp>
          <p:nvSpPr>
            <p:cNvPr id="11" name="object 11"/>
            <p:cNvSpPr/>
            <p:nvPr/>
          </p:nvSpPr>
          <p:spPr>
            <a:xfrm>
              <a:off x="9924599" y="3364783"/>
              <a:ext cx="402590" cy="635"/>
            </a:xfrm>
            <a:custGeom>
              <a:avLst/>
              <a:gdLst/>
              <a:ahLst/>
              <a:cxnLst/>
              <a:rect l="l" t="t" r="r" b="b"/>
              <a:pathLst>
                <a:path w="402590" h="635">
                  <a:moveTo>
                    <a:pt x="0" y="0"/>
                  </a:moveTo>
                  <a:lnTo>
                    <a:pt x="62479" y="16"/>
                  </a:lnTo>
                  <a:lnTo>
                    <a:pt x="113935" y="62"/>
                  </a:lnTo>
                  <a:lnTo>
                    <a:pt x="157120" y="129"/>
                  </a:lnTo>
                  <a:lnTo>
                    <a:pt x="229700" y="299"/>
                  </a:lnTo>
                  <a:lnTo>
                    <a:pt x="251341" y="355"/>
                  </a:lnTo>
                  <a:lnTo>
                    <a:pt x="273652" y="410"/>
                  </a:lnTo>
                  <a:lnTo>
                    <a:pt x="322979" y="506"/>
                  </a:lnTo>
                  <a:lnTo>
                    <a:pt x="366742" y="560"/>
                  </a:lnTo>
                  <a:lnTo>
                    <a:pt x="383067" y="574"/>
                  </a:lnTo>
                  <a:lnTo>
                    <a:pt x="402149" y="58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326744" y="334963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10" y="0"/>
                  </a:lnTo>
                  <a:lnTo>
                    <a:pt x="43230" y="15747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326744" y="334963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30" y="15747"/>
                  </a:lnTo>
                  <a:lnTo>
                    <a:pt x="1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5600" y="1530433"/>
            <a:ext cx="4443095" cy="3669029"/>
          </a:xfrm>
          <a:custGeom>
            <a:avLst/>
            <a:gdLst/>
            <a:ahLst/>
            <a:cxnLst/>
            <a:rect l="l" t="t" r="r" b="b"/>
            <a:pathLst>
              <a:path w="4443095" h="3669029">
                <a:moveTo>
                  <a:pt x="4442699" y="3668699"/>
                </a:moveTo>
                <a:lnTo>
                  <a:pt x="0" y="3668699"/>
                </a:lnTo>
                <a:lnTo>
                  <a:pt x="0" y="0"/>
                </a:lnTo>
                <a:lnTo>
                  <a:pt x="4442699" y="0"/>
                </a:lnTo>
                <a:lnTo>
                  <a:pt x="4442699" y="3668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83824" y="1624413"/>
            <a:ext cx="13042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1.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预训练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20715" y="719631"/>
            <a:ext cx="774573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dirty="0">
                <a:latin typeface="Arial" panose="020B0604020202090204"/>
                <a:cs typeface="Arial" panose="020B0604020202090204"/>
              </a:rPr>
              <a:t>如何训练和微调 </a:t>
            </a:r>
            <a:r>
              <a:rPr sz="3200" spc="-10" dirty="0">
                <a:latin typeface="Arial" panose="020B0604020202090204"/>
                <a:cs typeface="Arial" panose="020B0604020202090204"/>
              </a:rPr>
              <a:t>Transformer 模型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17799" y="1530433"/>
            <a:ext cx="4606925" cy="3672800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106680" rIns="0" bIns="0" rtlCol="0">
            <a:spAutoFit/>
          </a:bodyPr>
          <a:lstStyle/>
          <a:p>
            <a:pPr marL="1678940">
              <a:lnSpc>
                <a:spcPct val="100000"/>
              </a:lnSpc>
              <a:spcBef>
                <a:spcPts val="840"/>
              </a:spcBef>
            </a:pPr>
            <a:endParaRPr lang="en-US" sz="1500" b="1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endParaRPr lang="en-US" sz="1500" b="1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endParaRPr lang="en-US" sz="1500" b="1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endParaRPr lang="en-US" sz="1500" b="1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endParaRPr lang="en-US" sz="1500" b="1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2.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0" dirty="0" err="1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微调</a:t>
            </a:r>
            <a:endParaRPr lang="en-US" sz="1500" b="1" spc="-10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endParaRPr lang="en-US" sz="1500" b="1" spc="-10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endParaRPr lang="en-US" sz="1500" b="1" spc="-10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endParaRPr lang="en-US" sz="1500" b="1" spc="-10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endParaRPr lang="en-US" sz="1500" b="1" spc="-10" dirty="0">
              <a:solidFill>
                <a:srgbClr val="0000FF"/>
              </a:solidFill>
              <a:latin typeface="Arial" panose="020B0604020202090204"/>
              <a:cs typeface="Arial" panose="020B0604020202090204"/>
            </a:endParaRPr>
          </a:p>
          <a:p>
            <a:pPr marL="1678940">
              <a:lnSpc>
                <a:spcPct val="100000"/>
              </a:lnSpc>
              <a:spcBef>
                <a:spcPts val="840"/>
              </a:spcBef>
            </a:pPr>
            <a:endParaRPr sz="15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84000" y="1530433"/>
            <a:ext cx="1392555" cy="3669029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6637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3.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推理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5206" y="4150419"/>
            <a:ext cx="1644650" cy="793115"/>
          </a:xfrm>
          <a:prstGeom prst="rect">
            <a:avLst/>
          </a:prstGeom>
          <a:solidFill>
            <a:srgbClr val="F6B26B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14300" marR="200025">
              <a:lnSpc>
                <a:spcPct val="100000"/>
              </a:lnSpc>
              <a:spcBef>
                <a:spcPts val="1260"/>
              </a:spcBef>
            </a:pPr>
            <a:r>
              <a:rPr sz="15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更大的</a:t>
            </a:r>
            <a:r>
              <a:rPr sz="15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通用数据集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5206" y="2969849"/>
            <a:ext cx="1644650" cy="793115"/>
          </a:xfrm>
          <a:prstGeom prst="rect">
            <a:avLst/>
          </a:prstGeom>
          <a:solidFill>
            <a:srgbClr val="595959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14300" marR="496570">
              <a:lnSpc>
                <a:spcPct val="100000"/>
              </a:lnSpc>
              <a:spcBef>
                <a:spcPts val="1260"/>
              </a:spcBef>
            </a:pPr>
            <a:r>
              <a:rPr sz="15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监督学习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65454" y="2969849"/>
            <a:ext cx="1692147" cy="793115"/>
          </a:xfrm>
          <a:prstGeom prst="rect">
            <a:avLst/>
          </a:prstGeom>
          <a:solidFill>
            <a:srgbClr val="4A86E7"/>
          </a:solidFill>
        </p:spPr>
        <p:txBody>
          <a:bodyPr vert="horz" wrap="square" lIns="0" tIns="45720" rIns="0" bIns="0" rtlCol="0">
            <a:spAutoFit/>
          </a:bodyPr>
          <a:lstStyle/>
          <a:p>
            <a:pPr marL="114300" marR="453390">
              <a:lnSpc>
                <a:spcPct val="100000"/>
              </a:lnSpc>
              <a:spcBef>
                <a:spcPts val="360"/>
              </a:spcBef>
            </a:pPr>
            <a:r>
              <a:rPr sz="1500" b="1" spc="-10" dirty="0" err="1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预训练的</a:t>
            </a:r>
            <a:endParaRPr lang="en-US" sz="1500" b="1" spc="-10" dirty="0">
              <a:solidFill>
                <a:srgbClr val="FFFFFF"/>
              </a:solidFill>
              <a:latin typeface="Arial" panose="020B0604020202090204"/>
              <a:cs typeface="Arial" panose="020B0604020202090204"/>
            </a:endParaRPr>
          </a:p>
          <a:p>
            <a:pPr marL="114300" marR="453390">
              <a:lnSpc>
                <a:spcPct val="100000"/>
              </a:lnSpc>
              <a:spcBef>
                <a:spcPts val="360"/>
              </a:spcBef>
            </a:pPr>
            <a:r>
              <a:rPr sz="1500" b="1" spc="-10" dirty="0" err="1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Transforme</a:t>
            </a:r>
            <a:r>
              <a:rPr lang="en-US" sz="1500" b="1" spc="-10" dirty="0" err="1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500" b="1" spc="-10" dirty="0" err="1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模型</a:t>
            </a:r>
            <a:endParaRPr sz="1500" dirty="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37438" y="3344350"/>
            <a:ext cx="3571875" cy="810895"/>
            <a:chOff x="1737438" y="3344350"/>
            <a:chExt cx="3571875" cy="810895"/>
          </a:xfrm>
        </p:grpSpPr>
        <p:sp>
          <p:nvSpPr>
            <p:cNvPr id="11" name="object 11"/>
            <p:cNvSpPr/>
            <p:nvPr/>
          </p:nvSpPr>
          <p:spPr>
            <a:xfrm>
              <a:off x="1757357" y="3819970"/>
              <a:ext cx="635" cy="330835"/>
            </a:xfrm>
            <a:custGeom>
              <a:avLst/>
              <a:gdLst/>
              <a:ahLst/>
              <a:cxnLst/>
              <a:rect l="l" t="t" r="r" b="b"/>
              <a:pathLst>
                <a:path w="635" h="330835">
                  <a:moveTo>
                    <a:pt x="0" y="330449"/>
                  </a:moveTo>
                  <a:lnTo>
                    <a:pt x="25" y="266071"/>
                  </a:lnTo>
                  <a:lnTo>
                    <a:pt x="93" y="215322"/>
                  </a:lnTo>
                  <a:lnTo>
                    <a:pt x="189" y="173666"/>
                  </a:lnTo>
                  <a:lnTo>
                    <a:pt x="355" y="118303"/>
                  </a:lnTo>
                  <a:lnTo>
                    <a:pt x="410" y="99477"/>
                  </a:lnTo>
                  <a:lnTo>
                    <a:pt x="506" y="57859"/>
                  </a:lnTo>
                  <a:lnTo>
                    <a:pt x="574" y="7166"/>
                  </a:lnTo>
                  <a:lnTo>
                    <a:pt x="57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42201" y="37767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31"/>
                  </a:moveTo>
                  <a:lnTo>
                    <a:pt x="0" y="43219"/>
                  </a:lnTo>
                  <a:lnTo>
                    <a:pt x="15749" y="0"/>
                  </a:lnTo>
                  <a:lnTo>
                    <a:pt x="31465" y="4323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42201" y="37767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31"/>
                  </a:moveTo>
                  <a:lnTo>
                    <a:pt x="15749" y="0"/>
                  </a:lnTo>
                  <a:lnTo>
                    <a:pt x="0" y="43219"/>
                  </a:lnTo>
                  <a:lnTo>
                    <a:pt x="31465" y="4323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579506" y="3366300"/>
              <a:ext cx="429259" cy="635"/>
            </a:xfrm>
            <a:custGeom>
              <a:avLst/>
              <a:gdLst/>
              <a:ahLst/>
              <a:cxnLst/>
              <a:rect l="l" t="t" r="r" b="b"/>
              <a:pathLst>
                <a:path w="429260" h="635">
                  <a:moveTo>
                    <a:pt x="0" y="0"/>
                  </a:moveTo>
                  <a:lnTo>
                    <a:pt x="66073" y="16"/>
                  </a:lnTo>
                  <a:lnTo>
                    <a:pt x="120483" y="62"/>
                  </a:lnTo>
                  <a:lnTo>
                    <a:pt x="166150" y="129"/>
                  </a:lnTo>
                  <a:lnTo>
                    <a:pt x="205990" y="211"/>
                  </a:lnTo>
                  <a:lnTo>
                    <a:pt x="265823" y="355"/>
                  </a:lnTo>
                  <a:lnTo>
                    <a:pt x="289440" y="410"/>
                  </a:lnTo>
                  <a:lnTo>
                    <a:pt x="341665" y="506"/>
                  </a:lnTo>
                  <a:lnTo>
                    <a:pt x="388002" y="560"/>
                  </a:lnTo>
                  <a:lnTo>
                    <a:pt x="405287" y="574"/>
                  </a:lnTo>
                  <a:lnTo>
                    <a:pt x="428849" y="58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08352" y="3351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10" y="0"/>
                  </a:lnTo>
                  <a:lnTo>
                    <a:pt x="43230" y="15746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08352" y="3351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30" y="15746"/>
                  </a:lnTo>
                  <a:lnTo>
                    <a:pt x="1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09755" y="3364845"/>
              <a:ext cx="551180" cy="1905"/>
            </a:xfrm>
            <a:custGeom>
              <a:avLst/>
              <a:gdLst/>
              <a:ahLst/>
              <a:cxnLst/>
              <a:rect l="l" t="t" r="r" b="b"/>
              <a:pathLst>
                <a:path w="551179" h="1904">
                  <a:moveTo>
                    <a:pt x="0" y="1454"/>
                  </a:moveTo>
                  <a:lnTo>
                    <a:pt x="71957" y="1432"/>
                  </a:lnTo>
                  <a:lnTo>
                    <a:pt x="135475" y="1371"/>
                  </a:lnTo>
                  <a:lnTo>
                    <a:pt x="191421" y="1277"/>
                  </a:lnTo>
                  <a:lnTo>
                    <a:pt x="240663" y="1157"/>
                  </a:lnTo>
                  <a:lnTo>
                    <a:pt x="284069" y="1017"/>
                  </a:lnTo>
                  <a:lnTo>
                    <a:pt x="322507" y="864"/>
                  </a:lnTo>
                  <a:lnTo>
                    <a:pt x="384312" y="564"/>
                  </a:lnTo>
                  <a:lnTo>
                    <a:pt x="410505" y="429"/>
                  </a:lnTo>
                  <a:lnTo>
                    <a:pt x="436623" y="302"/>
                  </a:lnTo>
                  <a:lnTo>
                    <a:pt x="478286" y="138"/>
                  </a:lnTo>
                  <a:lnTo>
                    <a:pt x="526531" y="19"/>
                  </a:lnTo>
                  <a:lnTo>
                    <a:pt x="5509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260693" y="33491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24" y="31465"/>
                  </a:moveTo>
                  <a:lnTo>
                    <a:pt x="0" y="0"/>
                  </a:lnTo>
                  <a:lnTo>
                    <a:pt x="43237" y="15698"/>
                  </a:lnTo>
                  <a:lnTo>
                    <a:pt x="24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260693" y="33491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24" y="31465"/>
                  </a:moveTo>
                  <a:lnTo>
                    <a:pt x="43237" y="15698"/>
                  </a:lnTo>
                  <a:lnTo>
                    <a:pt x="0" y="0"/>
                  </a:lnTo>
                  <a:lnTo>
                    <a:pt x="24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9919837" y="3344868"/>
            <a:ext cx="455295" cy="41275"/>
            <a:chOff x="9919837" y="3344868"/>
            <a:chExt cx="455295" cy="41275"/>
          </a:xfrm>
        </p:grpSpPr>
        <p:sp>
          <p:nvSpPr>
            <p:cNvPr id="21" name="object 21"/>
            <p:cNvSpPr/>
            <p:nvPr/>
          </p:nvSpPr>
          <p:spPr>
            <a:xfrm>
              <a:off x="9924599" y="3364783"/>
              <a:ext cx="402590" cy="635"/>
            </a:xfrm>
            <a:custGeom>
              <a:avLst/>
              <a:gdLst/>
              <a:ahLst/>
              <a:cxnLst/>
              <a:rect l="l" t="t" r="r" b="b"/>
              <a:pathLst>
                <a:path w="402590" h="635">
                  <a:moveTo>
                    <a:pt x="0" y="0"/>
                  </a:moveTo>
                  <a:lnTo>
                    <a:pt x="62479" y="16"/>
                  </a:lnTo>
                  <a:lnTo>
                    <a:pt x="113935" y="62"/>
                  </a:lnTo>
                  <a:lnTo>
                    <a:pt x="157120" y="129"/>
                  </a:lnTo>
                  <a:lnTo>
                    <a:pt x="229700" y="299"/>
                  </a:lnTo>
                  <a:lnTo>
                    <a:pt x="251341" y="355"/>
                  </a:lnTo>
                  <a:lnTo>
                    <a:pt x="273652" y="410"/>
                  </a:lnTo>
                  <a:lnTo>
                    <a:pt x="322979" y="506"/>
                  </a:lnTo>
                  <a:lnTo>
                    <a:pt x="366742" y="560"/>
                  </a:lnTo>
                  <a:lnTo>
                    <a:pt x="383067" y="574"/>
                  </a:lnTo>
                  <a:lnTo>
                    <a:pt x="402149" y="58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326744" y="334963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10" y="0"/>
                  </a:lnTo>
                  <a:lnTo>
                    <a:pt x="43230" y="15747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326744" y="334963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30" y="15747"/>
                  </a:lnTo>
                  <a:lnTo>
                    <a:pt x="1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35498" y="1965132"/>
            <a:ext cx="1644650" cy="793115"/>
          </a:xfrm>
          <a:prstGeom prst="rect">
            <a:avLst/>
          </a:prstGeom>
          <a:solidFill>
            <a:srgbClr val="A4C1F4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14300" marR="410845">
              <a:lnSpc>
                <a:spcPct val="100000"/>
              </a:lnSpc>
              <a:spcBef>
                <a:spcPts val="1260"/>
              </a:spcBef>
            </a:pPr>
            <a:r>
              <a:rPr sz="1500" b="1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Transformer</a:t>
            </a:r>
            <a:r>
              <a:rPr sz="15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架构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37673" y="2753270"/>
            <a:ext cx="41275" cy="207645"/>
            <a:chOff x="1737673" y="2753270"/>
            <a:chExt cx="41275" cy="207645"/>
          </a:xfrm>
        </p:grpSpPr>
        <p:sp>
          <p:nvSpPr>
            <p:cNvPr id="26" name="object 26"/>
            <p:cNvSpPr/>
            <p:nvPr/>
          </p:nvSpPr>
          <p:spPr>
            <a:xfrm>
              <a:off x="1757648" y="2758032"/>
              <a:ext cx="635" cy="154940"/>
            </a:xfrm>
            <a:custGeom>
              <a:avLst/>
              <a:gdLst/>
              <a:ahLst/>
              <a:cxnLst/>
              <a:rect l="l" t="t" r="r" b="b"/>
              <a:pathLst>
                <a:path w="635" h="154939">
                  <a:moveTo>
                    <a:pt x="0" y="0"/>
                  </a:moveTo>
                  <a:lnTo>
                    <a:pt x="93" y="62883"/>
                  </a:lnTo>
                  <a:lnTo>
                    <a:pt x="299" y="105908"/>
                  </a:lnTo>
                  <a:lnTo>
                    <a:pt x="355" y="115888"/>
                  </a:lnTo>
                  <a:lnTo>
                    <a:pt x="410" y="126177"/>
                  </a:lnTo>
                  <a:lnTo>
                    <a:pt x="460" y="137087"/>
                  </a:lnTo>
                  <a:lnTo>
                    <a:pt x="506" y="148927"/>
                  </a:lnTo>
                  <a:lnTo>
                    <a:pt x="520" y="15464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742436" y="291266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93" y="43247"/>
                  </a:moveTo>
                  <a:lnTo>
                    <a:pt x="0" y="43"/>
                  </a:lnTo>
                  <a:lnTo>
                    <a:pt x="31465" y="0"/>
                  </a:lnTo>
                  <a:lnTo>
                    <a:pt x="15793" y="4324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742436" y="291266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"/>
                  </a:moveTo>
                  <a:lnTo>
                    <a:pt x="15793" y="43247"/>
                  </a:lnTo>
                  <a:lnTo>
                    <a:pt x="31465" y="0"/>
                  </a:lnTo>
                  <a:lnTo>
                    <a:pt x="0" y="4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17199" y="5362471"/>
            <a:ext cx="474349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 panose="020B0604020202090204"/>
                <a:cs typeface="Arial" panose="020B0604020202090204"/>
              </a:rPr>
              <a:t>海量数据，学习通用知识。</a:t>
            </a:r>
            <a:r>
              <a:rPr sz="1600" b="1" spc="-25" dirty="0">
                <a:latin typeface="Arial" panose="020B0604020202090204"/>
                <a:cs typeface="Arial" panose="020B0604020202090204"/>
              </a:rPr>
              <a:t>可</a:t>
            </a:r>
            <a:r>
              <a:rPr sz="1600" b="1" dirty="0">
                <a:latin typeface="Arial" panose="020B0604020202090204"/>
                <a:cs typeface="Arial" panose="020B0604020202090204"/>
              </a:rPr>
              <a:t>作为参数</a:t>
            </a:r>
            <a:r>
              <a:rPr sz="1600" b="1" spc="-10" dirty="0">
                <a:latin typeface="Arial" panose="020B0604020202090204"/>
                <a:cs typeface="Arial" panose="020B0604020202090204"/>
              </a:rPr>
              <a:t>初始化。</a:t>
            </a:r>
            <a:endParaRPr sz="16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7200" y="6034500"/>
            <a:ext cx="4121150" cy="4965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10"/>
              </a:spcBef>
            </a:pPr>
            <a:r>
              <a:rPr sz="1600" b="1" dirty="0">
                <a:latin typeface="Arial" panose="020B0604020202090204"/>
                <a:cs typeface="Arial" panose="020B0604020202090204"/>
              </a:rPr>
              <a:t>通常需要大量的</a:t>
            </a:r>
            <a:r>
              <a:rPr sz="1600" b="1" spc="-10" dirty="0">
                <a:latin typeface="Arial" panose="020B0604020202090204"/>
                <a:cs typeface="Arial" panose="020B0604020202090204"/>
              </a:rPr>
              <a:t>计算</a:t>
            </a:r>
            <a:r>
              <a:rPr sz="1600" b="1" dirty="0">
                <a:latin typeface="Arial" panose="020B0604020202090204"/>
                <a:cs typeface="Arial" panose="020B0604020202090204"/>
              </a:rPr>
              <a:t>资源和</a:t>
            </a:r>
            <a:r>
              <a:rPr sz="1600" b="1" spc="-10" dirty="0">
                <a:latin typeface="Arial" panose="020B0604020202090204"/>
                <a:cs typeface="Arial" panose="020B0604020202090204"/>
              </a:rPr>
              <a:t>时间。</a:t>
            </a:r>
            <a:endParaRPr sz="1600" dirty="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5600" y="1530433"/>
            <a:ext cx="4443095" cy="3669029"/>
          </a:xfrm>
          <a:custGeom>
            <a:avLst/>
            <a:gdLst/>
            <a:ahLst/>
            <a:cxnLst/>
            <a:rect l="l" t="t" r="r" b="b"/>
            <a:pathLst>
              <a:path w="4443095" h="3669029">
                <a:moveTo>
                  <a:pt x="4442699" y="3668699"/>
                </a:moveTo>
                <a:lnTo>
                  <a:pt x="0" y="3668699"/>
                </a:lnTo>
                <a:lnTo>
                  <a:pt x="0" y="0"/>
                </a:lnTo>
                <a:lnTo>
                  <a:pt x="4442699" y="0"/>
                </a:lnTo>
                <a:lnTo>
                  <a:pt x="4442699" y="3668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83824" y="1624413"/>
            <a:ext cx="13042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1.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预训练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20715" y="719631"/>
            <a:ext cx="774573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dirty="0">
                <a:latin typeface="Arial" panose="020B0604020202090204"/>
                <a:cs typeface="Arial" panose="020B0604020202090204"/>
              </a:rPr>
              <a:t>如何训练和微调 </a:t>
            </a:r>
            <a:r>
              <a:rPr sz="3200" spc="-10" dirty="0">
                <a:latin typeface="Arial" panose="020B0604020202090204"/>
                <a:cs typeface="Arial" panose="020B0604020202090204"/>
              </a:rPr>
              <a:t>Transformer 模型</a:t>
            </a:r>
            <a:endParaRPr sz="3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17799" y="1530433"/>
            <a:ext cx="4606925" cy="3669029"/>
          </a:xfrm>
          <a:custGeom>
            <a:avLst/>
            <a:gdLst/>
            <a:ahLst/>
            <a:cxnLst/>
            <a:rect l="l" t="t" r="r" b="b"/>
            <a:pathLst>
              <a:path w="4606925" h="3669029">
                <a:moveTo>
                  <a:pt x="4606799" y="3668699"/>
                </a:moveTo>
                <a:lnTo>
                  <a:pt x="0" y="3668699"/>
                </a:lnTo>
                <a:lnTo>
                  <a:pt x="0" y="0"/>
                </a:lnTo>
                <a:lnTo>
                  <a:pt x="4606799" y="0"/>
                </a:lnTo>
                <a:lnTo>
                  <a:pt x="4606799" y="36686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984165" y="1624413"/>
            <a:ext cx="12719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2.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微调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4000" y="1530433"/>
            <a:ext cx="1392555" cy="3669029"/>
          </a:xfrm>
          <a:prstGeom prst="rect">
            <a:avLst/>
          </a:prstGeom>
          <a:solidFill>
            <a:srgbClr val="EEEEE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66370">
              <a:lnSpc>
                <a:spcPct val="100000"/>
              </a:lnSpc>
              <a:spcBef>
                <a:spcPts val="5"/>
              </a:spcBef>
            </a:pPr>
            <a:r>
              <a:rPr sz="1500" b="1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3.</a:t>
            </a:r>
            <a:r>
              <a:rPr sz="1500" b="1" spc="-10" dirty="0">
                <a:solidFill>
                  <a:srgbClr val="0000FF"/>
                </a:solidFill>
                <a:latin typeface="Arial" panose="020B0604020202090204"/>
                <a:cs typeface="Arial" panose="020B0604020202090204"/>
              </a:rPr>
              <a:t> 推理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5206" y="4150419"/>
            <a:ext cx="1644650" cy="793115"/>
          </a:xfrm>
          <a:prstGeom prst="rect">
            <a:avLst/>
          </a:prstGeom>
          <a:solidFill>
            <a:srgbClr val="F6B26B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14300" marR="200025">
              <a:lnSpc>
                <a:spcPct val="100000"/>
              </a:lnSpc>
              <a:spcBef>
                <a:spcPts val="1260"/>
              </a:spcBef>
            </a:pPr>
            <a:r>
              <a:rPr sz="15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更大的</a:t>
            </a:r>
            <a:r>
              <a:rPr sz="15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通用数据集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5206" y="2969849"/>
            <a:ext cx="1644650" cy="793115"/>
          </a:xfrm>
          <a:prstGeom prst="rect">
            <a:avLst/>
          </a:prstGeom>
          <a:solidFill>
            <a:srgbClr val="595959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14300" marR="496570">
              <a:lnSpc>
                <a:spcPct val="100000"/>
              </a:lnSpc>
              <a:spcBef>
                <a:spcPts val="1260"/>
              </a:spcBef>
            </a:pPr>
            <a:r>
              <a:rPr sz="15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监督学习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5454" y="2969849"/>
            <a:ext cx="1741495" cy="789960"/>
          </a:xfrm>
          <a:prstGeom prst="rect">
            <a:avLst/>
          </a:prstGeom>
          <a:solidFill>
            <a:srgbClr val="4A86E7"/>
          </a:solidFill>
        </p:spPr>
        <p:txBody>
          <a:bodyPr vert="horz" wrap="square" lIns="0" tIns="45720" rIns="0" bIns="0" rtlCol="0">
            <a:spAutoFit/>
          </a:bodyPr>
          <a:lstStyle/>
          <a:p>
            <a:pPr marL="114300" marR="453390">
              <a:lnSpc>
                <a:spcPct val="100000"/>
              </a:lnSpc>
              <a:spcBef>
                <a:spcPts val="360"/>
              </a:spcBef>
            </a:pPr>
            <a:r>
              <a:rPr sz="1500" b="1" spc="-10" dirty="0" err="1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预训练的</a:t>
            </a:r>
            <a:endParaRPr lang="en-US" sz="1500" b="1" spc="-10" dirty="0">
              <a:solidFill>
                <a:srgbClr val="FFFFFF"/>
              </a:solidFill>
              <a:latin typeface="Arial" panose="020B0604020202090204"/>
              <a:cs typeface="Arial" panose="020B0604020202090204"/>
            </a:endParaRPr>
          </a:p>
          <a:p>
            <a:pPr marL="114300" marR="453390">
              <a:lnSpc>
                <a:spcPct val="100000"/>
              </a:lnSpc>
              <a:spcBef>
                <a:spcPts val="360"/>
              </a:spcBef>
            </a:pPr>
            <a:r>
              <a:rPr sz="1500" b="1" spc="-10" dirty="0" err="1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Transformer模型</a:t>
            </a:r>
            <a:endParaRPr sz="15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59766" y="4150419"/>
            <a:ext cx="2160905" cy="793115"/>
          </a:xfrm>
          <a:prstGeom prst="rect">
            <a:avLst/>
          </a:prstGeom>
          <a:solidFill>
            <a:srgbClr val="F6B26B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14300" marR="144145">
              <a:lnSpc>
                <a:spcPct val="100000"/>
              </a:lnSpc>
              <a:spcBef>
                <a:spcPts val="1260"/>
              </a:spcBef>
            </a:pPr>
            <a:r>
              <a:rPr sz="15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较小的</a:t>
            </a:r>
            <a:r>
              <a:rPr sz="15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任务专用数据集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59599" y="2969849"/>
            <a:ext cx="2160905" cy="793115"/>
          </a:xfrm>
          <a:prstGeom prst="rect">
            <a:avLst/>
          </a:prstGeom>
          <a:solidFill>
            <a:srgbClr val="595959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13665" marR="846455">
              <a:lnSpc>
                <a:spcPct val="100000"/>
              </a:lnSpc>
              <a:spcBef>
                <a:spcPts val="1260"/>
              </a:spcBef>
            </a:pPr>
            <a:r>
              <a:rPr sz="15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特定任务训练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69919" y="2969849"/>
            <a:ext cx="1710990" cy="789960"/>
          </a:xfrm>
          <a:prstGeom prst="rect">
            <a:avLst/>
          </a:prstGeom>
          <a:solidFill>
            <a:srgbClr val="4A86E7"/>
          </a:solidFill>
        </p:spPr>
        <p:txBody>
          <a:bodyPr vert="horz" wrap="square" lIns="0" tIns="45720" rIns="0" bIns="0" rtlCol="0">
            <a:spAutoFit/>
          </a:bodyPr>
          <a:lstStyle/>
          <a:p>
            <a:pPr marL="114300" marR="453390">
              <a:lnSpc>
                <a:spcPct val="100000"/>
              </a:lnSpc>
              <a:spcBef>
                <a:spcPts val="360"/>
              </a:spcBef>
            </a:pPr>
            <a:r>
              <a:rPr sz="1500" b="1" spc="-10" dirty="0" err="1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微调后的</a:t>
            </a:r>
            <a:endParaRPr lang="en-US" sz="1500" b="1" spc="-10" dirty="0">
              <a:solidFill>
                <a:srgbClr val="FFFFFF"/>
              </a:solidFill>
              <a:latin typeface="Arial" panose="020B0604020202090204"/>
              <a:cs typeface="Arial" panose="020B0604020202090204"/>
            </a:endParaRPr>
          </a:p>
          <a:p>
            <a:pPr marL="114300" marR="453390">
              <a:lnSpc>
                <a:spcPct val="100000"/>
              </a:lnSpc>
              <a:spcBef>
                <a:spcPts val="360"/>
              </a:spcBef>
            </a:pPr>
            <a:r>
              <a:rPr sz="1500" b="1" spc="-10" dirty="0" err="1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Transformer模型</a:t>
            </a:r>
            <a:endParaRPr sz="1500" dirty="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36724" y="2796787"/>
            <a:ext cx="8638540" cy="1358900"/>
            <a:chOff x="1736724" y="2796787"/>
            <a:chExt cx="8638540" cy="1358900"/>
          </a:xfrm>
        </p:grpSpPr>
        <p:sp>
          <p:nvSpPr>
            <p:cNvPr id="15" name="object 15"/>
            <p:cNvSpPr/>
            <p:nvPr/>
          </p:nvSpPr>
          <p:spPr>
            <a:xfrm>
              <a:off x="1757357" y="3819969"/>
              <a:ext cx="635" cy="330835"/>
            </a:xfrm>
            <a:custGeom>
              <a:avLst/>
              <a:gdLst/>
              <a:ahLst/>
              <a:cxnLst/>
              <a:rect l="l" t="t" r="r" b="b"/>
              <a:pathLst>
                <a:path w="635" h="330835">
                  <a:moveTo>
                    <a:pt x="0" y="330449"/>
                  </a:moveTo>
                  <a:lnTo>
                    <a:pt x="25" y="266089"/>
                  </a:lnTo>
                  <a:lnTo>
                    <a:pt x="93" y="215357"/>
                  </a:lnTo>
                  <a:lnTo>
                    <a:pt x="189" y="173712"/>
                  </a:lnTo>
                  <a:lnTo>
                    <a:pt x="355" y="118352"/>
                  </a:lnTo>
                  <a:lnTo>
                    <a:pt x="410" y="99523"/>
                  </a:lnTo>
                  <a:lnTo>
                    <a:pt x="506" y="57894"/>
                  </a:lnTo>
                  <a:lnTo>
                    <a:pt x="574" y="7184"/>
                  </a:lnTo>
                  <a:lnTo>
                    <a:pt x="57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42201" y="37767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31"/>
                  </a:moveTo>
                  <a:lnTo>
                    <a:pt x="0" y="43219"/>
                  </a:lnTo>
                  <a:lnTo>
                    <a:pt x="15749" y="0"/>
                  </a:lnTo>
                  <a:lnTo>
                    <a:pt x="31465" y="4323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42201" y="37767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31"/>
                  </a:moveTo>
                  <a:lnTo>
                    <a:pt x="15749" y="0"/>
                  </a:lnTo>
                  <a:lnTo>
                    <a:pt x="0" y="43219"/>
                  </a:lnTo>
                  <a:lnTo>
                    <a:pt x="31465" y="4323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579507" y="3366299"/>
              <a:ext cx="429259" cy="635"/>
            </a:xfrm>
            <a:custGeom>
              <a:avLst/>
              <a:gdLst/>
              <a:ahLst/>
              <a:cxnLst/>
              <a:rect l="l" t="t" r="r" b="b"/>
              <a:pathLst>
                <a:path w="429260" h="635">
                  <a:moveTo>
                    <a:pt x="0" y="0"/>
                  </a:moveTo>
                  <a:lnTo>
                    <a:pt x="66073" y="16"/>
                  </a:lnTo>
                  <a:lnTo>
                    <a:pt x="120483" y="62"/>
                  </a:lnTo>
                  <a:lnTo>
                    <a:pt x="166150" y="129"/>
                  </a:lnTo>
                  <a:lnTo>
                    <a:pt x="205990" y="211"/>
                  </a:lnTo>
                  <a:lnTo>
                    <a:pt x="265823" y="355"/>
                  </a:lnTo>
                  <a:lnTo>
                    <a:pt x="289440" y="410"/>
                  </a:lnTo>
                  <a:lnTo>
                    <a:pt x="341665" y="506"/>
                  </a:lnTo>
                  <a:lnTo>
                    <a:pt x="388002" y="560"/>
                  </a:lnTo>
                  <a:lnTo>
                    <a:pt x="405287" y="574"/>
                  </a:lnTo>
                  <a:lnTo>
                    <a:pt x="428849" y="58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08352" y="3351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10" y="0"/>
                  </a:lnTo>
                  <a:lnTo>
                    <a:pt x="43230" y="15746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08352" y="3351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30" y="15746"/>
                  </a:lnTo>
                  <a:lnTo>
                    <a:pt x="1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709755" y="3366299"/>
              <a:ext cx="892810" cy="635"/>
            </a:xfrm>
            <a:custGeom>
              <a:avLst/>
              <a:gdLst/>
              <a:ahLst/>
              <a:cxnLst/>
              <a:rect l="l" t="t" r="r" b="b"/>
              <a:pathLst>
                <a:path w="892810" h="635">
                  <a:moveTo>
                    <a:pt x="0" y="0"/>
                  </a:moveTo>
                  <a:lnTo>
                    <a:pt x="74928" y="5"/>
                  </a:lnTo>
                  <a:lnTo>
                    <a:pt x="142039" y="20"/>
                  </a:lnTo>
                  <a:lnTo>
                    <a:pt x="202309" y="44"/>
                  </a:lnTo>
                  <a:lnTo>
                    <a:pt x="256715" y="75"/>
                  </a:lnTo>
                  <a:lnTo>
                    <a:pt x="306234" y="113"/>
                  </a:lnTo>
                  <a:lnTo>
                    <a:pt x="351842" y="155"/>
                  </a:lnTo>
                  <a:lnTo>
                    <a:pt x="394518" y="201"/>
                  </a:lnTo>
                  <a:lnTo>
                    <a:pt x="435237" y="250"/>
                  </a:lnTo>
                  <a:lnTo>
                    <a:pt x="474976" y="299"/>
                  </a:lnTo>
                  <a:lnTo>
                    <a:pt x="519728" y="355"/>
                  </a:lnTo>
                  <a:lnTo>
                    <a:pt x="565868" y="410"/>
                  </a:lnTo>
                  <a:lnTo>
                    <a:pt x="614788" y="460"/>
                  </a:lnTo>
                  <a:lnTo>
                    <a:pt x="667880" y="506"/>
                  </a:lnTo>
                  <a:lnTo>
                    <a:pt x="726536" y="544"/>
                  </a:lnTo>
                  <a:lnTo>
                    <a:pt x="792146" y="574"/>
                  </a:lnTo>
                  <a:lnTo>
                    <a:pt x="892649" y="59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602403" y="335115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5" y="0"/>
                  </a:lnTo>
                  <a:lnTo>
                    <a:pt x="43228" y="15739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602403" y="335115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8" y="15739"/>
                  </a:lnTo>
                  <a:lnTo>
                    <a:pt x="5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740216" y="3819969"/>
              <a:ext cx="635" cy="330835"/>
            </a:xfrm>
            <a:custGeom>
              <a:avLst/>
              <a:gdLst/>
              <a:ahLst/>
              <a:cxnLst/>
              <a:rect l="l" t="t" r="r" b="b"/>
              <a:pathLst>
                <a:path w="634" h="330835">
                  <a:moveTo>
                    <a:pt x="0" y="330449"/>
                  </a:moveTo>
                  <a:lnTo>
                    <a:pt x="25" y="266089"/>
                  </a:lnTo>
                  <a:lnTo>
                    <a:pt x="93" y="215357"/>
                  </a:lnTo>
                  <a:lnTo>
                    <a:pt x="189" y="173712"/>
                  </a:lnTo>
                  <a:lnTo>
                    <a:pt x="355" y="118352"/>
                  </a:lnTo>
                  <a:lnTo>
                    <a:pt x="410" y="99523"/>
                  </a:lnTo>
                  <a:lnTo>
                    <a:pt x="505" y="57894"/>
                  </a:lnTo>
                  <a:lnTo>
                    <a:pt x="573" y="7184"/>
                  </a:lnTo>
                  <a:lnTo>
                    <a:pt x="57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725061" y="37767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31"/>
                  </a:moveTo>
                  <a:lnTo>
                    <a:pt x="0" y="43219"/>
                  </a:lnTo>
                  <a:lnTo>
                    <a:pt x="15749" y="0"/>
                  </a:lnTo>
                  <a:lnTo>
                    <a:pt x="31465" y="4323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725061" y="377674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31"/>
                  </a:moveTo>
                  <a:lnTo>
                    <a:pt x="15749" y="0"/>
                  </a:lnTo>
                  <a:lnTo>
                    <a:pt x="0" y="43219"/>
                  </a:lnTo>
                  <a:lnTo>
                    <a:pt x="31465" y="4323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820499" y="3366299"/>
              <a:ext cx="292735" cy="635"/>
            </a:xfrm>
            <a:custGeom>
              <a:avLst/>
              <a:gdLst/>
              <a:ahLst/>
              <a:cxnLst/>
              <a:rect l="l" t="t" r="r" b="b"/>
              <a:pathLst>
                <a:path w="292734" h="635">
                  <a:moveTo>
                    <a:pt x="0" y="0"/>
                  </a:moveTo>
                  <a:lnTo>
                    <a:pt x="58008" y="25"/>
                  </a:lnTo>
                  <a:lnTo>
                    <a:pt x="103731" y="93"/>
                  </a:lnTo>
                  <a:lnTo>
                    <a:pt x="174711" y="299"/>
                  </a:lnTo>
                  <a:lnTo>
                    <a:pt x="191180" y="355"/>
                  </a:lnTo>
                  <a:lnTo>
                    <a:pt x="208163" y="410"/>
                  </a:lnTo>
                  <a:lnTo>
                    <a:pt x="256224" y="526"/>
                  </a:lnTo>
                  <a:lnTo>
                    <a:pt x="291463" y="574"/>
                  </a:lnTo>
                  <a:lnTo>
                    <a:pt x="292349" y="57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112842" y="33511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13" y="0"/>
                  </a:lnTo>
                  <a:lnTo>
                    <a:pt x="43231" y="15751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112842" y="335114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31" y="15751"/>
                  </a:lnTo>
                  <a:lnTo>
                    <a:pt x="13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814220" y="3364838"/>
              <a:ext cx="513080" cy="1905"/>
            </a:xfrm>
            <a:custGeom>
              <a:avLst/>
              <a:gdLst/>
              <a:ahLst/>
              <a:cxnLst/>
              <a:rect l="l" t="t" r="r" b="b"/>
              <a:pathLst>
                <a:path w="513079" h="1904">
                  <a:moveTo>
                    <a:pt x="0" y="1460"/>
                  </a:moveTo>
                  <a:lnTo>
                    <a:pt x="65617" y="1431"/>
                  </a:lnTo>
                  <a:lnTo>
                    <a:pt x="121344" y="1349"/>
                  </a:lnTo>
                  <a:lnTo>
                    <a:pt x="169157" y="1226"/>
                  </a:lnTo>
                  <a:lnTo>
                    <a:pt x="211034" y="1072"/>
                  </a:lnTo>
                  <a:lnTo>
                    <a:pt x="284889" y="710"/>
                  </a:lnTo>
                  <a:lnTo>
                    <a:pt x="311732" y="571"/>
                  </a:lnTo>
                  <a:lnTo>
                    <a:pt x="339408" y="435"/>
                  </a:lnTo>
                  <a:lnTo>
                    <a:pt x="400597" y="195"/>
                  </a:lnTo>
                  <a:lnTo>
                    <a:pt x="454884" y="59"/>
                  </a:lnTo>
                  <a:lnTo>
                    <a:pt x="475135" y="25"/>
                  </a:lnTo>
                  <a:lnTo>
                    <a:pt x="512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326759" y="33491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21" y="31465"/>
                  </a:moveTo>
                  <a:lnTo>
                    <a:pt x="0" y="0"/>
                  </a:lnTo>
                  <a:lnTo>
                    <a:pt x="43235" y="15703"/>
                  </a:lnTo>
                  <a:lnTo>
                    <a:pt x="21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326759" y="33491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21" y="31465"/>
                  </a:moveTo>
                  <a:lnTo>
                    <a:pt x="43235" y="15703"/>
                  </a:lnTo>
                  <a:lnTo>
                    <a:pt x="0" y="0"/>
                  </a:lnTo>
                  <a:lnTo>
                    <a:pt x="21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756757" y="2801549"/>
              <a:ext cx="635" cy="111760"/>
            </a:xfrm>
            <a:custGeom>
              <a:avLst/>
              <a:gdLst/>
              <a:ahLst/>
              <a:cxnLst/>
              <a:rect l="l" t="t" r="r" b="b"/>
              <a:pathLst>
                <a:path w="635" h="111760">
                  <a:moveTo>
                    <a:pt x="0" y="0"/>
                  </a:moveTo>
                  <a:lnTo>
                    <a:pt x="25" y="27940"/>
                  </a:lnTo>
                  <a:lnTo>
                    <a:pt x="93" y="49964"/>
                  </a:lnTo>
                  <a:lnTo>
                    <a:pt x="189" y="68043"/>
                  </a:lnTo>
                  <a:lnTo>
                    <a:pt x="299" y="84149"/>
                  </a:lnTo>
                  <a:lnTo>
                    <a:pt x="462" y="1111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741487" y="291266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836" y="43262"/>
                  </a:moveTo>
                  <a:lnTo>
                    <a:pt x="0" y="75"/>
                  </a:lnTo>
                  <a:lnTo>
                    <a:pt x="31465" y="0"/>
                  </a:lnTo>
                  <a:lnTo>
                    <a:pt x="15836" y="432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741487" y="291266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75"/>
                  </a:moveTo>
                  <a:lnTo>
                    <a:pt x="15836" y="43262"/>
                  </a:lnTo>
                  <a:lnTo>
                    <a:pt x="31465" y="0"/>
                  </a:lnTo>
                  <a:lnTo>
                    <a:pt x="0" y="7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17200" y="5362471"/>
            <a:ext cx="37719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 panose="020B0604020202090204"/>
                <a:cs typeface="Arial" panose="020B0604020202090204"/>
              </a:rPr>
              <a:t>大量数据，学习通用知识。</a:t>
            </a:r>
            <a:r>
              <a:rPr sz="1600" b="1" spc="-25" dirty="0">
                <a:latin typeface="Arial" panose="020B0604020202090204"/>
                <a:cs typeface="Arial" panose="020B0604020202090204"/>
              </a:rPr>
              <a:t>可</a:t>
            </a:r>
            <a:r>
              <a:rPr sz="1600" b="1" dirty="0">
                <a:latin typeface="Arial" panose="020B0604020202090204"/>
                <a:cs typeface="Arial" panose="020B0604020202090204"/>
              </a:rPr>
              <a:t>作为参数</a:t>
            </a:r>
            <a:r>
              <a:rPr sz="1600" b="1" spc="-10" dirty="0">
                <a:latin typeface="Arial" panose="020B0604020202090204"/>
                <a:cs typeface="Arial" panose="020B0604020202090204"/>
              </a:rPr>
              <a:t>初始化。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7200" y="6034500"/>
            <a:ext cx="4121150" cy="49657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ts val="1920"/>
              </a:lnSpc>
              <a:spcBef>
                <a:spcPts val="10"/>
              </a:spcBef>
            </a:pPr>
            <a:r>
              <a:rPr sz="1600" b="1" dirty="0">
                <a:latin typeface="Arial" panose="020B0604020202090204"/>
                <a:cs typeface="Arial" panose="020B0604020202090204"/>
              </a:rPr>
              <a:t>通常需要大量的</a:t>
            </a:r>
            <a:r>
              <a:rPr sz="1600" b="1" spc="-10" dirty="0">
                <a:latin typeface="Arial" panose="020B0604020202090204"/>
                <a:cs typeface="Arial" panose="020B0604020202090204"/>
              </a:rPr>
              <a:t>计算</a:t>
            </a:r>
            <a:r>
              <a:rPr sz="1600" b="1" dirty="0">
                <a:latin typeface="Arial" panose="020B0604020202090204"/>
                <a:cs typeface="Arial" panose="020B0604020202090204"/>
              </a:rPr>
              <a:t>资源和</a:t>
            </a:r>
            <a:r>
              <a:rPr sz="1600" b="1" spc="-10" dirty="0">
                <a:latin typeface="Arial" panose="020B0604020202090204"/>
                <a:cs typeface="Arial" panose="020B0604020202090204"/>
              </a:rPr>
              <a:t>时间。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19400" y="5362471"/>
            <a:ext cx="4110354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 panose="020B0604020202090204"/>
                <a:cs typeface="Arial" panose="020B0604020202090204"/>
              </a:rPr>
              <a:t>针对特定</a:t>
            </a:r>
            <a:r>
              <a:rPr sz="1600" b="1" spc="-10" dirty="0">
                <a:latin typeface="Arial" panose="020B0604020202090204"/>
                <a:cs typeface="Arial" panose="020B0604020202090204"/>
              </a:rPr>
              <a:t>任务</a:t>
            </a:r>
            <a:r>
              <a:rPr sz="1600" b="1" dirty="0">
                <a:latin typeface="Arial" panose="020B0604020202090204"/>
                <a:cs typeface="Arial" panose="020B0604020202090204"/>
              </a:rPr>
              <a:t>进行适配</a:t>
            </a:r>
            <a:r>
              <a:rPr sz="1600" b="1" spc="-10" dirty="0">
                <a:latin typeface="Arial" panose="020B0604020202090204"/>
                <a:cs typeface="Arial" panose="020B0604020202090204"/>
              </a:rPr>
              <a:t>。</a:t>
            </a:r>
            <a:endParaRPr sz="16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1600" b="1" spc="-10" dirty="0">
                <a:latin typeface="Arial" panose="020B0604020202090204"/>
                <a:cs typeface="Arial" panose="020B0604020202090204"/>
              </a:rPr>
              <a:t>计算成本可能</a:t>
            </a:r>
            <a:r>
              <a:rPr sz="1600" b="1" dirty="0">
                <a:latin typeface="Arial" panose="020B0604020202090204"/>
                <a:cs typeface="Arial" panose="020B0604020202090204"/>
              </a:rPr>
              <a:t>较低</a:t>
            </a:r>
            <a:r>
              <a:rPr sz="1600" b="1" spc="-10" dirty="0">
                <a:latin typeface="Arial" panose="020B0604020202090204"/>
                <a:cs typeface="Arial" panose="020B0604020202090204"/>
              </a:rPr>
              <a:t>。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35498" y="1965132"/>
            <a:ext cx="1644650" cy="793115"/>
          </a:xfrm>
          <a:prstGeom prst="rect">
            <a:avLst/>
          </a:prstGeom>
          <a:solidFill>
            <a:srgbClr val="A4C1F4"/>
          </a:solidFill>
        </p:spPr>
        <p:txBody>
          <a:bodyPr vert="horz" wrap="square" lIns="0" tIns="160020" rIns="0" bIns="0" rtlCol="0">
            <a:spAutoFit/>
          </a:bodyPr>
          <a:lstStyle/>
          <a:p>
            <a:pPr marL="114300" marR="410845">
              <a:lnSpc>
                <a:spcPct val="100000"/>
              </a:lnSpc>
              <a:spcBef>
                <a:spcPts val="1260"/>
              </a:spcBef>
            </a:pPr>
            <a:r>
              <a:rPr sz="1500" b="1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Transformer</a:t>
            </a:r>
            <a:r>
              <a:rPr sz="15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架构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534" rIns="0" bIns="0" rtlCol="0">
            <a:spAutoFit/>
          </a:bodyPr>
          <a:lstStyle/>
          <a:p>
            <a:pPr marL="12852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参数高效</a:t>
            </a:r>
            <a:r>
              <a:rPr spc="-25" dirty="0"/>
              <a:t>微调</a:t>
            </a:r>
            <a:r>
              <a:rPr spc="-10" dirty="0"/>
              <a:t>技术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8186518" y="884739"/>
            <a:ext cx="3828415" cy="5859780"/>
            <a:chOff x="8186518" y="884739"/>
            <a:chExt cx="3828415" cy="585978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86518" y="1116273"/>
              <a:ext cx="3828024" cy="56276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227850" y="2612574"/>
              <a:ext cx="186690" cy="373380"/>
            </a:xfrm>
            <a:custGeom>
              <a:avLst/>
              <a:gdLst/>
              <a:ahLst/>
              <a:cxnLst/>
              <a:rect l="l" t="t" r="r" b="b"/>
              <a:pathLst>
                <a:path w="186690" h="373380">
                  <a:moveTo>
                    <a:pt x="155499" y="373199"/>
                  </a:moveTo>
                  <a:lnTo>
                    <a:pt x="31100" y="373199"/>
                  </a:lnTo>
                  <a:lnTo>
                    <a:pt x="18994" y="370755"/>
                  </a:lnTo>
                  <a:lnTo>
                    <a:pt x="9109" y="364090"/>
                  </a:lnTo>
                  <a:lnTo>
                    <a:pt x="2444" y="354205"/>
                  </a:lnTo>
                  <a:lnTo>
                    <a:pt x="0" y="342099"/>
                  </a:lnTo>
                  <a:lnTo>
                    <a:pt x="0" y="31100"/>
                  </a:lnTo>
                  <a:lnTo>
                    <a:pt x="2444" y="18994"/>
                  </a:lnTo>
                  <a:lnTo>
                    <a:pt x="9109" y="9109"/>
                  </a:lnTo>
                  <a:lnTo>
                    <a:pt x="18994" y="2444"/>
                  </a:lnTo>
                  <a:lnTo>
                    <a:pt x="31100" y="0"/>
                  </a:lnTo>
                  <a:lnTo>
                    <a:pt x="163747" y="0"/>
                  </a:lnTo>
                  <a:lnTo>
                    <a:pt x="171658" y="3276"/>
                  </a:lnTo>
                  <a:lnTo>
                    <a:pt x="177490" y="9109"/>
                  </a:lnTo>
                  <a:lnTo>
                    <a:pt x="183323" y="14941"/>
                  </a:lnTo>
                  <a:lnTo>
                    <a:pt x="186599" y="22852"/>
                  </a:lnTo>
                  <a:lnTo>
                    <a:pt x="186599" y="342099"/>
                  </a:lnTo>
                  <a:lnTo>
                    <a:pt x="184155" y="354205"/>
                  </a:lnTo>
                  <a:lnTo>
                    <a:pt x="177490" y="364090"/>
                  </a:lnTo>
                  <a:lnTo>
                    <a:pt x="167605" y="370755"/>
                  </a:lnTo>
                  <a:lnTo>
                    <a:pt x="155499" y="373199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227850" y="2612574"/>
              <a:ext cx="186690" cy="373380"/>
            </a:xfrm>
            <a:custGeom>
              <a:avLst/>
              <a:gdLst/>
              <a:ahLst/>
              <a:cxnLst/>
              <a:rect l="l" t="t" r="r" b="b"/>
              <a:pathLst>
                <a:path w="186690" h="373380">
                  <a:moveTo>
                    <a:pt x="0" y="31100"/>
                  </a:moveTo>
                  <a:lnTo>
                    <a:pt x="2444" y="18994"/>
                  </a:lnTo>
                  <a:lnTo>
                    <a:pt x="9109" y="9109"/>
                  </a:lnTo>
                  <a:lnTo>
                    <a:pt x="18994" y="2444"/>
                  </a:lnTo>
                  <a:lnTo>
                    <a:pt x="31100" y="0"/>
                  </a:lnTo>
                  <a:lnTo>
                    <a:pt x="155499" y="0"/>
                  </a:lnTo>
                  <a:lnTo>
                    <a:pt x="163747" y="0"/>
                  </a:lnTo>
                  <a:lnTo>
                    <a:pt x="171658" y="3276"/>
                  </a:lnTo>
                  <a:lnTo>
                    <a:pt x="177490" y="9109"/>
                  </a:lnTo>
                  <a:lnTo>
                    <a:pt x="183323" y="14941"/>
                  </a:lnTo>
                  <a:lnTo>
                    <a:pt x="186599" y="22852"/>
                  </a:lnTo>
                  <a:lnTo>
                    <a:pt x="186599" y="31100"/>
                  </a:lnTo>
                  <a:lnTo>
                    <a:pt x="186599" y="342099"/>
                  </a:lnTo>
                  <a:lnTo>
                    <a:pt x="184155" y="354205"/>
                  </a:lnTo>
                  <a:lnTo>
                    <a:pt x="177490" y="364090"/>
                  </a:lnTo>
                  <a:lnTo>
                    <a:pt x="167605" y="370755"/>
                  </a:lnTo>
                  <a:lnTo>
                    <a:pt x="155499" y="373199"/>
                  </a:lnTo>
                  <a:lnTo>
                    <a:pt x="31100" y="373199"/>
                  </a:lnTo>
                  <a:lnTo>
                    <a:pt x="18994" y="370755"/>
                  </a:lnTo>
                  <a:lnTo>
                    <a:pt x="9109" y="364090"/>
                  </a:lnTo>
                  <a:lnTo>
                    <a:pt x="2444" y="354205"/>
                  </a:lnTo>
                  <a:lnTo>
                    <a:pt x="0" y="342099"/>
                  </a:lnTo>
                  <a:lnTo>
                    <a:pt x="0" y="3110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960572" y="889501"/>
              <a:ext cx="1221740" cy="1624330"/>
            </a:xfrm>
            <a:custGeom>
              <a:avLst/>
              <a:gdLst/>
              <a:ahLst/>
              <a:cxnLst/>
              <a:rect l="l" t="t" r="r" b="b"/>
              <a:pathLst>
                <a:path w="1221740" h="1624330">
                  <a:moveTo>
                    <a:pt x="1095224" y="1624199"/>
                  </a:moveTo>
                  <a:lnTo>
                    <a:pt x="570405" y="1497731"/>
                  </a:lnTo>
                  <a:lnTo>
                    <a:pt x="733230" y="1398131"/>
                  </a:lnTo>
                  <a:lnTo>
                    <a:pt x="0" y="199199"/>
                  </a:lnTo>
                  <a:lnTo>
                    <a:pt x="325649" y="0"/>
                  </a:lnTo>
                  <a:lnTo>
                    <a:pt x="1058880" y="1198931"/>
                  </a:lnTo>
                  <a:lnTo>
                    <a:pt x="1221705" y="1099331"/>
                  </a:lnTo>
                  <a:lnTo>
                    <a:pt x="1095224" y="1624199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960572" y="889501"/>
              <a:ext cx="1221740" cy="1624330"/>
            </a:xfrm>
            <a:custGeom>
              <a:avLst/>
              <a:gdLst/>
              <a:ahLst/>
              <a:cxnLst/>
              <a:rect l="l" t="t" r="r" b="b"/>
              <a:pathLst>
                <a:path w="1221740" h="1624330">
                  <a:moveTo>
                    <a:pt x="325649" y="0"/>
                  </a:moveTo>
                  <a:lnTo>
                    <a:pt x="1058880" y="1198931"/>
                  </a:lnTo>
                  <a:lnTo>
                    <a:pt x="1221705" y="1099331"/>
                  </a:lnTo>
                  <a:lnTo>
                    <a:pt x="1095224" y="1624199"/>
                  </a:lnTo>
                  <a:lnTo>
                    <a:pt x="570405" y="1497731"/>
                  </a:lnTo>
                  <a:lnTo>
                    <a:pt x="733230" y="1398131"/>
                  </a:lnTo>
                  <a:lnTo>
                    <a:pt x="0" y="199199"/>
                  </a:lnTo>
                  <a:lnTo>
                    <a:pt x="325649" y="0"/>
                  </a:lnTo>
                  <a:close/>
                </a:path>
              </a:pathLst>
            </a:custGeom>
            <a:ln w="9524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3033" y="6204629"/>
            <a:ext cx="4098917" cy="555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60"/>
              </a:lnSpc>
            </a:pP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LoRA：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https://arxiv.org/abs/2106.09685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BitFit：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https://arxiv.org/abs/2106.10199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参数高效</a:t>
            </a:r>
            <a:r>
              <a:rPr spc="-25" dirty="0"/>
              <a:t>微调</a:t>
            </a:r>
            <a:r>
              <a:rPr spc="-10" dirty="0"/>
              <a:t>技术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8186518" y="884739"/>
            <a:ext cx="3828415" cy="5859780"/>
            <a:chOff x="8186518" y="884739"/>
            <a:chExt cx="3828415" cy="585978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86518" y="1116273"/>
              <a:ext cx="3828024" cy="56276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227850" y="2612574"/>
              <a:ext cx="186690" cy="373380"/>
            </a:xfrm>
            <a:custGeom>
              <a:avLst/>
              <a:gdLst/>
              <a:ahLst/>
              <a:cxnLst/>
              <a:rect l="l" t="t" r="r" b="b"/>
              <a:pathLst>
                <a:path w="186690" h="373380">
                  <a:moveTo>
                    <a:pt x="155499" y="373199"/>
                  </a:moveTo>
                  <a:lnTo>
                    <a:pt x="31100" y="373199"/>
                  </a:lnTo>
                  <a:lnTo>
                    <a:pt x="18994" y="370755"/>
                  </a:lnTo>
                  <a:lnTo>
                    <a:pt x="9109" y="364090"/>
                  </a:lnTo>
                  <a:lnTo>
                    <a:pt x="2444" y="354205"/>
                  </a:lnTo>
                  <a:lnTo>
                    <a:pt x="0" y="342099"/>
                  </a:lnTo>
                  <a:lnTo>
                    <a:pt x="0" y="31100"/>
                  </a:lnTo>
                  <a:lnTo>
                    <a:pt x="2444" y="18994"/>
                  </a:lnTo>
                  <a:lnTo>
                    <a:pt x="9109" y="9109"/>
                  </a:lnTo>
                  <a:lnTo>
                    <a:pt x="18994" y="2444"/>
                  </a:lnTo>
                  <a:lnTo>
                    <a:pt x="31100" y="0"/>
                  </a:lnTo>
                  <a:lnTo>
                    <a:pt x="163747" y="0"/>
                  </a:lnTo>
                  <a:lnTo>
                    <a:pt x="171658" y="3276"/>
                  </a:lnTo>
                  <a:lnTo>
                    <a:pt x="177490" y="9109"/>
                  </a:lnTo>
                  <a:lnTo>
                    <a:pt x="183323" y="14941"/>
                  </a:lnTo>
                  <a:lnTo>
                    <a:pt x="186599" y="22852"/>
                  </a:lnTo>
                  <a:lnTo>
                    <a:pt x="186599" y="342099"/>
                  </a:lnTo>
                  <a:lnTo>
                    <a:pt x="184155" y="354205"/>
                  </a:lnTo>
                  <a:lnTo>
                    <a:pt x="177490" y="364090"/>
                  </a:lnTo>
                  <a:lnTo>
                    <a:pt x="167605" y="370755"/>
                  </a:lnTo>
                  <a:lnTo>
                    <a:pt x="155499" y="373199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227850" y="2612574"/>
              <a:ext cx="186690" cy="373380"/>
            </a:xfrm>
            <a:custGeom>
              <a:avLst/>
              <a:gdLst/>
              <a:ahLst/>
              <a:cxnLst/>
              <a:rect l="l" t="t" r="r" b="b"/>
              <a:pathLst>
                <a:path w="186690" h="373380">
                  <a:moveTo>
                    <a:pt x="0" y="31100"/>
                  </a:moveTo>
                  <a:lnTo>
                    <a:pt x="2444" y="18994"/>
                  </a:lnTo>
                  <a:lnTo>
                    <a:pt x="9109" y="9109"/>
                  </a:lnTo>
                  <a:lnTo>
                    <a:pt x="18994" y="2444"/>
                  </a:lnTo>
                  <a:lnTo>
                    <a:pt x="31100" y="0"/>
                  </a:lnTo>
                  <a:lnTo>
                    <a:pt x="155499" y="0"/>
                  </a:lnTo>
                  <a:lnTo>
                    <a:pt x="163747" y="0"/>
                  </a:lnTo>
                  <a:lnTo>
                    <a:pt x="171658" y="3276"/>
                  </a:lnTo>
                  <a:lnTo>
                    <a:pt x="177490" y="9109"/>
                  </a:lnTo>
                  <a:lnTo>
                    <a:pt x="183323" y="14941"/>
                  </a:lnTo>
                  <a:lnTo>
                    <a:pt x="186599" y="22852"/>
                  </a:lnTo>
                  <a:lnTo>
                    <a:pt x="186599" y="31100"/>
                  </a:lnTo>
                  <a:lnTo>
                    <a:pt x="186599" y="342099"/>
                  </a:lnTo>
                  <a:lnTo>
                    <a:pt x="184155" y="354205"/>
                  </a:lnTo>
                  <a:lnTo>
                    <a:pt x="177490" y="364090"/>
                  </a:lnTo>
                  <a:lnTo>
                    <a:pt x="167605" y="370755"/>
                  </a:lnTo>
                  <a:lnTo>
                    <a:pt x="155499" y="373199"/>
                  </a:lnTo>
                  <a:lnTo>
                    <a:pt x="31100" y="373199"/>
                  </a:lnTo>
                  <a:lnTo>
                    <a:pt x="18994" y="370755"/>
                  </a:lnTo>
                  <a:lnTo>
                    <a:pt x="9109" y="364090"/>
                  </a:lnTo>
                  <a:lnTo>
                    <a:pt x="2444" y="354205"/>
                  </a:lnTo>
                  <a:lnTo>
                    <a:pt x="0" y="342099"/>
                  </a:lnTo>
                  <a:lnTo>
                    <a:pt x="0" y="3110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960572" y="889501"/>
              <a:ext cx="1221740" cy="1624330"/>
            </a:xfrm>
            <a:custGeom>
              <a:avLst/>
              <a:gdLst/>
              <a:ahLst/>
              <a:cxnLst/>
              <a:rect l="l" t="t" r="r" b="b"/>
              <a:pathLst>
                <a:path w="1221740" h="1624330">
                  <a:moveTo>
                    <a:pt x="1095224" y="1624199"/>
                  </a:moveTo>
                  <a:lnTo>
                    <a:pt x="570405" y="1497731"/>
                  </a:lnTo>
                  <a:lnTo>
                    <a:pt x="733230" y="1398131"/>
                  </a:lnTo>
                  <a:lnTo>
                    <a:pt x="0" y="199199"/>
                  </a:lnTo>
                  <a:lnTo>
                    <a:pt x="325649" y="0"/>
                  </a:lnTo>
                  <a:lnTo>
                    <a:pt x="1058880" y="1198931"/>
                  </a:lnTo>
                  <a:lnTo>
                    <a:pt x="1221705" y="1099331"/>
                  </a:lnTo>
                  <a:lnTo>
                    <a:pt x="1095224" y="1624199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960572" y="889501"/>
              <a:ext cx="1221740" cy="1624330"/>
            </a:xfrm>
            <a:custGeom>
              <a:avLst/>
              <a:gdLst/>
              <a:ahLst/>
              <a:cxnLst/>
              <a:rect l="l" t="t" r="r" b="b"/>
              <a:pathLst>
                <a:path w="1221740" h="1624330">
                  <a:moveTo>
                    <a:pt x="325649" y="0"/>
                  </a:moveTo>
                  <a:lnTo>
                    <a:pt x="1058880" y="1198931"/>
                  </a:lnTo>
                  <a:lnTo>
                    <a:pt x="1221705" y="1099331"/>
                  </a:lnTo>
                  <a:lnTo>
                    <a:pt x="1095224" y="1624199"/>
                  </a:lnTo>
                  <a:lnTo>
                    <a:pt x="570405" y="1497731"/>
                  </a:lnTo>
                  <a:lnTo>
                    <a:pt x="733230" y="1398131"/>
                  </a:lnTo>
                  <a:lnTo>
                    <a:pt x="0" y="199199"/>
                  </a:lnTo>
                  <a:lnTo>
                    <a:pt x="325649" y="0"/>
                  </a:lnTo>
                  <a:close/>
                </a:path>
              </a:pathLst>
            </a:custGeom>
            <a:ln w="9524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625" y="2099624"/>
            <a:ext cx="3046324" cy="3088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28375" y="1470948"/>
            <a:ext cx="35915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Calibri"/>
                <a:cs typeface="Calibri"/>
              </a:rPr>
              <a:t>LoRA</a:t>
            </a:r>
            <a:r>
              <a:rPr sz="2200" b="1" spc="-25" dirty="0">
                <a:latin typeface="Calibri"/>
                <a:cs typeface="Calibri"/>
              </a:rPr>
              <a:t>（</a:t>
            </a:r>
            <a:r>
              <a:rPr sz="2200" b="1" dirty="0">
                <a:latin typeface="Calibri"/>
                <a:cs typeface="Calibri"/>
              </a:rPr>
              <a:t>低</a:t>
            </a:r>
            <a:r>
              <a:rPr sz="2200" b="1" spc="-10" dirty="0">
                <a:latin typeface="Calibri"/>
                <a:cs typeface="Calibri"/>
              </a:rPr>
              <a:t>秩适应）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033" y="6204629"/>
            <a:ext cx="4146902" cy="545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60"/>
              </a:lnSpc>
            </a:pP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LoRA：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https://arxiv.org/abs/2106.09685</a:t>
            </a: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BitFit：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https://arxiv.org/abs/2106.10199</a:t>
            </a:r>
            <a:endParaRPr sz="18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611158" y="2320474"/>
                <a:ext cx="6123516" cy="1764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dirty="0"/>
                  <a:t>W′=W+BA </a:t>
                </a:r>
                <a:endParaRPr lang="en-US" altLang="zh-CN" dirty="0"/>
              </a:p>
              <a:p>
                <a:pPr>
                  <a:buNone/>
                </a:pPr>
                <a:r>
                  <a:rPr lang="zh-CN" altLang="en-US" dirty="0"/>
                  <a:t>其中：</a:t>
                </a:r>
                <a:endParaRPr lang="zh-CN" altLang="en-US" dirty="0"/>
              </a:p>
              <a:p>
                <a:pPr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ar-AE" altLang="zh-CN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ar-AE" altLang="zh-CN" dirty="0"/>
              </a:p>
              <a:p>
                <a:pPr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ar-AE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ar-AE" altLang="zh-CN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 altLang="zh-CN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ar-AE" altLang="zh-CN" dirty="0"/>
              </a:p>
              <a:p>
                <a:pPr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ar-AE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 altLang="zh-CN" i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ar-AE" dirty="0"/>
                  <a:t>（</a:t>
                </a:r>
                <a:r>
                  <a:rPr lang="zh-CN" altLang="en-US" dirty="0"/>
                  <a:t>低秩）</a:t>
                </a:r>
                <a:endParaRPr lang="en-US" altLang="zh-CN" dirty="0"/>
              </a:p>
              <a:p>
                <a:r>
                  <a:rPr lang="zh-CN" altLang="en-US" dirty="0"/>
                  <a:t>我们只训练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，不动原始 </a:t>
                </a:r>
                <a:r>
                  <a:rPr lang="en-US" altLang="zh-CN" dirty="0"/>
                  <a:t>W</a:t>
                </a:r>
                <a:endParaRPr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158" y="2320474"/>
                <a:ext cx="6123516" cy="1764201"/>
              </a:xfrm>
              <a:prstGeom prst="rect">
                <a:avLst/>
              </a:prstGeom>
              <a:blipFill rotWithShape="1">
                <a:blip r:embed="rId3"/>
                <a:stretch>
                  <a:fillRect l="-7" t="-10" r="10" b="-3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0042" y="249909"/>
            <a:ext cx="82048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参数高效</a:t>
            </a:r>
            <a:r>
              <a:rPr spc="-25" dirty="0"/>
              <a:t>微调</a:t>
            </a:r>
            <a:r>
              <a:rPr spc="-10" dirty="0"/>
              <a:t>技术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8186518" y="884739"/>
            <a:ext cx="3828415" cy="5859780"/>
            <a:chOff x="8186518" y="884739"/>
            <a:chExt cx="3828415" cy="585978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86518" y="1116273"/>
              <a:ext cx="3828024" cy="562765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227850" y="2612574"/>
              <a:ext cx="186690" cy="373380"/>
            </a:xfrm>
            <a:custGeom>
              <a:avLst/>
              <a:gdLst/>
              <a:ahLst/>
              <a:cxnLst/>
              <a:rect l="l" t="t" r="r" b="b"/>
              <a:pathLst>
                <a:path w="186690" h="373380">
                  <a:moveTo>
                    <a:pt x="155499" y="373199"/>
                  </a:moveTo>
                  <a:lnTo>
                    <a:pt x="31100" y="373199"/>
                  </a:lnTo>
                  <a:lnTo>
                    <a:pt x="18994" y="370755"/>
                  </a:lnTo>
                  <a:lnTo>
                    <a:pt x="9109" y="364090"/>
                  </a:lnTo>
                  <a:lnTo>
                    <a:pt x="2444" y="354205"/>
                  </a:lnTo>
                  <a:lnTo>
                    <a:pt x="0" y="342099"/>
                  </a:lnTo>
                  <a:lnTo>
                    <a:pt x="0" y="31100"/>
                  </a:lnTo>
                  <a:lnTo>
                    <a:pt x="2444" y="18994"/>
                  </a:lnTo>
                  <a:lnTo>
                    <a:pt x="9109" y="9109"/>
                  </a:lnTo>
                  <a:lnTo>
                    <a:pt x="18994" y="2444"/>
                  </a:lnTo>
                  <a:lnTo>
                    <a:pt x="31100" y="0"/>
                  </a:lnTo>
                  <a:lnTo>
                    <a:pt x="163747" y="0"/>
                  </a:lnTo>
                  <a:lnTo>
                    <a:pt x="171658" y="3276"/>
                  </a:lnTo>
                  <a:lnTo>
                    <a:pt x="177490" y="9109"/>
                  </a:lnTo>
                  <a:lnTo>
                    <a:pt x="183323" y="14941"/>
                  </a:lnTo>
                  <a:lnTo>
                    <a:pt x="186599" y="22852"/>
                  </a:lnTo>
                  <a:lnTo>
                    <a:pt x="186599" y="342099"/>
                  </a:lnTo>
                  <a:lnTo>
                    <a:pt x="184155" y="354205"/>
                  </a:lnTo>
                  <a:lnTo>
                    <a:pt x="177490" y="364090"/>
                  </a:lnTo>
                  <a:lnTo>
                    <a:pt x="167605" y="370755"/>
                  </a:lnTo>
                  <a:lnTo>
                    <a:pt x="155499" y="373199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227850" y="2612574"/>
              <a:ext cx="186690" cy="373380"/>
            </a:xfrm>
            <a:custGeom>
              <a:avLst/>
              <a:gdLst/>
              <a:ahLst/>
              <a:cxnLst/>
              <a:rect l="l" t="t" r="r" b="b"/>
              <a:pathLst>
                <a:path w="186690" h="373380">
                  <a:moveTo>
                    <a:pt x="0" y="31100"/>
                  </a:moveTo>
                  <a:lnTo>
                    <a:pt x="2444" y="18994"/>
                  </a:lnTo>
                  <a:lnTo>
                    <a:pt x="9109" y="9109"/>
                  </a:lnTo>
                  <a:lnTo>
                    <a:pt x="18994" y="2444"/>
                  </a:lnTo>
                  <a:lnTo>
                    <a:pt x="31100" y="0"/>
                  </a:lnTo>
                  <a:lnTo>
                    <a:pt x="155499" y="0"/>
                  </a:lnTo>
                  <a:lnTo>
                    <a:pt x="163747" y="0"/>
                  </a:lnTo>
                  <a:lnTo>
                    <a:pt x="171658" y="3276"/>
                  </a:lnTo>
                  <a:lnTo>
                    <a:pt x="177490" y="9109"/>
                  </a:lnTo>
                  <a:lnTo>
                    <a:pt x="183323" y="14941"/>
                  </a:lnTo>
                  <a:lnTo>
                    <a:pt x="186599" y="22852"/>
                  </a:lnTo>
                  <a:lnTo>
                    <a:pt x="186599" y="31100"/>
                  </a:lnTo>
                  <a:lnTo>
                    <a:pt x="186599" y="342099"/>
                  </a:lnTo>
                  <a:lnTo>
                    <a:pt x="184155" y="354205"/>
                  </a:lnTo>
                  <a:lnTo>
                    <a:pt x="177490" y="364090"/>
                  </a:lnTo>
                  <a:lnTo>
                    <a:pt x="167605" y="370755"/>
                  </a:lnTo>
                  <a:lnTo>
                    <a:pt x="155499" y="373199"/>
                  </a:lnTo>
                  <a:lnTo>
                    <a:pt x="31100" y="373199"/>
                  </a:lnTo>
                  <a:lnTo>
                    <a:pt x="18994" y="370755"/>
                  </a:lnTo>
                  <a:lnTo>
                    <a:pt x="9109" y="364090"/>
                  </a:lnTo>
                  <a:lnTo>
                    <a:pt x="2444" y="354205"/>
                  </a:lnTo>
                  <a:lnTo>
                    <a:pt x="0" y="342099"/>
                  </a:lnTo>
                  <a:lnTo>
                    <a:pt x="0" y="3110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960572" y="889501"/>
              <a:ext cx="1221740" cy="1624330"/>
            </a:xfrm>
            <a:custGeom>
              <a:avLst/>
              <a:gdLst/>
              <a:ahLst/>
              <a:cxnLst/>
              <a:rect l="l" t="t" r="r" b="b"/>
              <a:pathLst>
                <a:path w="1221740" h="1624330">
                  <a:moveTo>
                    <a:pt x="1095224" y="1624199"/>
                  </a:moveTo>
                  <a:lnTo>
                    <a:pt x="570405" y="1497731"/>
                  </a:lnTo>
                  <a:lnTo>
                    <a:pt x="733230" y="1398131"/>
                  </a:lnTo>
                  <a:lnTo>
                    <a:pt x="0" y="199199"/>
                  </a:lnTo>
                  <a:lnTo>
                    <a:pt x="325649" y="0"/>
                  </a:lnTo>
                  <a:lnTo>
                    <a:pt x="1058880" y="1198931"/>
                  </a:lnTo>
                  <a:lnTo>
                    <a:pt x="1221705" y="1099331"/>
                  </a:lnTo>
                  <a:lnTo>
                    <a:pt x="1095224" y="1624199"/>
                  </a:lnTo>
                  <a:close/>
                </a:path>
              </a:pathLst>
            </a:custGeom>
            <a:solidFill>
              <a:srgbClr val="70A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960572" y="889501"/>
              <a:ext cx="1221740" cy="1624330"/>
            </a:xfrm>
            <a:custGeom>
              <a:avLst/>
              <a:gdLst/>
              <a:ahLst/>
              <a:cxnLst/>
              <a:rect l="l" t="t" r="r" b="b"/>
              <a:pathLst>
                <a:path w="1221740" h="1624330">
                  <a:moveTo>
                    <a:pt x="325649" y="0"/>
                  </a:moveTo>
                  <a:lnTo>
                    <a:pt x="1058880" y="1198931"/>
                  </a:lnTo>
                  <a:lnTo>
                    <a:pt x="1221705" y="1099331"/>
                  </a:lnTo>
                  <a:lnTo>
                    <a:pt x="1095224" y="1624199"/>
                  </a:lnTo>
                  <a:lnTo>
                    <a:pt x="570405" y="1497731"/>
                  </a:lnTo>
                  <a:lnTo>
                    <a:pt x="733230" y="1398131"/>
                  </a:lnTo>
                  <a:lnTo>
                    <a:pt x="0" y="199199"/>
                  </a:lnTo>
                  <a:lnTo>
                    <a:pt x="325649" y="0"/>
                  </a:lnTo>
                  <a:close/>
                </a:path>
              </a:pathLst>
            </a:custGeom>
            <a:ln w="9524">
              <a:solidFill>
                <a:srgbClr val="70AD4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625" y="2099624"/>
            <a:ext cx="3046324" cy="3088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28375" y="1470948"/>
            <a:ext cx="35915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Calibri"/>
                <a:cs typeface="Calibri"/>
              </a:rPr>
              <a:t>LoRA</a:t>
            </a:r>
            <a:r>
              <a:rPr sz="2200" b="1" spc="-25" dirty="0">
                <a:latin typeface="Calibri"/>
                <a:cs typeface="Calibri"/>
              </a:rPr>
              <a:t>（</a:t>
            </a:r>
            <a:r>
              <a:rPr sz="2200" b="1" dirty="0">
                <a:latin typeface="Calibri"/>
                <a:cs typeface="Calibri"/>
              </a:rPr>
              <a:t>低</a:t>
            </a:r>
            <a:r>
              <a:rPr sz="2200" b="1" spc="-10" dirty="0">
                <a:latin typeface="Calibri"/>
                <a:cs typeface="Calibri"/>
              </a:rPr>
              <a:t>秩适应）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05592" y="2451195"/>
            <a:ext cx="2969852" cy="132908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754370" y="1470660"/>
            <a:ext cx="920115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Calibri"/>
                <a:cs typeface="Calibri"/>
              </a:rPr>
              <a:t>BitFit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25" y="6204585"/>
            <a:ext cx="4535805" cy="55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60"/>
              </a:lnSpc>
            </a:pP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LoRA：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https://arxiv.org/abs/2106.09685</a:t>
            </a:r>
            <a:endParaRPr sz="1800" spc="-10" dirty="0">
              <a:solidFill>
                <a:srgbClr val="242424"/>
              </a:solidFill>
              <a:latin typeface="Arial MT"/>
              <a:cs typeface="Arial MT"/>
            </a:endParaRPr>
          </a:p>
          <a:p>
            <a:pPr marL="12700" marR="5080">
              <a:lnSpc>
                <a:spcPts val="2160"/>
              </a:lnSpc>
            </a:pPr>
            <a:r>
              <a:rPr sz="1800" dirty="0">
                <a:solidFill>
                  <a:srgbClr val="242424"/>
                </a:solidFill>
                <a:latin typeface="Arial MT"/>
                <a:cs typeface="Arial MT"/>
              </a:rPr>
              <a:t>BitFit：</a:t>
            </a:r>
            <a:r>
              <a:rPr sz="1800" spc="-10" dirty="0">
                <a:solidFill>
                  <a:srgbClr val="242424"/>
                </a:solidFill>
                <a:latin typeface="Arial MT"/>
                <a:cs typeface="Arial MT"/>
              </a:rPr>
              <a:t>https://arxiv.org/abs/2106.10199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19935" y="4140885"/>
            <a:ext cx="3643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蓝色 </a:t>
            </a:r>
            <a:r>
              <a:rPr lang="en-US" altLang="zh-CN" dirty="0"/>
              <a:t>W</a:t>
            </a:r>
            <a:r>
              <a:rPr lang="zh-CN" altLang="en-US" dirty="0"/>
              <a:t>（权重）  不训练（冻结）红色 </a:t>
            </a:r>
            <a:r>
              <a:rPr lang="en-US" altLang="zh-CN" dirty="0"/>
              <a:t>b</a:t>
            </a:r>
            <a:r>
              <a:rPr lang="zh-CN" altLang="en-US" dirty="0"/>
              <a:t>（</a:t>
            </a:r>
            <a:r>
              <a:rPr lang="en-US" altLang="zh-CN" dirty="0"/>
              <a:t>bias</a:t>
            </a:r>
            <a:r>
              <a:rPr lang="zh-CN" altLang="en-US" dirty="0"/>
              <a:t>） 只训练这个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4319059" y="1877121"/>
            <a:ext cx="6123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BitFit</a:t>
            </a:r>
            <a:r>
              <a:rPr lang="en-US" altLang="zh-CN" dirty="0"/>
              <a:t> </a:t>
            </a:r>
            <a:r>
              <a:rPr lang="zh-CN" altLang="en-US" dirty="0"/>
              <a:t>的核心就是：只微调每一层的 </a:t>
            </a:r>
            <a:r>
              <a:rPr lang="en-US" altLang="zh-CN" dirty="0"/>
              <a:t>bias </a:t>
            </a:r>
            <a:r>
              <a:rPr lang="zh-CN" altLang="en-US" dirty="0"/>
              <a:t>项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692650" y="2093136"/>
            <a:ext cx="1973627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C00000"/>
                </a:solidFill>
                <a:latin typeface="Calibri"/>
                <a:cs typeface="Calibri"/>
              </a:rPr>
              <a:t>第3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部分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0412" y="3436111"/>
            <a:ext cx="47859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-30" dirty="0">
                <a:solidFill>
                  <a:srgbClr val="0000FF"/>
                </a:solidFill>
                <a:latin typeface="Calibri"/>
                <a:cs typeface="Calibri"/>
              </a:rPr>
              <a:t>Transformer </a:t>
            </a:r>
            <a:r>
              <a:rPr sz="3600" b="1" spc="-10" dirty="0" err="1">
                <a:solidFill>
                  <a:srgbClr val="0000FF"/>
                </a:solidFill>
                <a:latin typeface="Calibri"/>
                <a:cs typeface="Calibri"/>
              </a:rPr>
              <a:t>应用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3893" y="924377"/>
            <a:ext cx="3964304" cy="5704205"/>
            <a:chOff x="4113893" y="924377"/>
            <a:chExt cx="3964304" cy="570420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75488" y="981254"/>
              <a:ext cx="3841023" cy="56467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20243" y="2743199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93" y="3184199"/>
                  </a:moveTo>
                  <a:lnTo>
                    <a:pt x="329306" y="3184199"/>
                  </a:lnTo>
                  <a:lnTo>
                    <a:pt x="280643" y="3180629"/>
                  </a:lnTo>
                  <a:lnTo>
                    <a:pt x="234198" y="3170257"/>
                  </a:lnTo>
                  <a:lnTo>
                    <a:pt x="190479" y="3153593"/>
                  </a:lnTo>
                  <a:lnTo>
                    <a:pt x="149995" y="3131146"/>
                  </a:lnTo>
                  <a:lnTo>
                    <a:pt x="113257" y="3103426"/>
                  </a:lnTo>
                  <a:lnTo>
                    <a:pt x="80773" y="3070942"/>
                  </a:lnTo>
                  <a:lnTo>
                    <a:pt x="53053" y="3034204"/>
                  </a:lnTo>
                  <a:lnTo>
                    <a:pt x="30606" y="2993720"/>
                  </a:lnTo>
                  <a:lnTo>
                    <a:pt x="13942" y="2950001"/>
                  </a:lnTo>
                  <a:lnTo>
                    <a:pt x="3570" y="2903555"/>
                  </a:lnTo>
                  <a:lnTo>
                    <a:pt x="0" y="2854893"/>
                  </a:lnTo>
                  <a:lnTo>
                    <a:pt x="0" y="329306"/>
                  </a:lnTo>
                  <a:lnTo>
                    <a:pt x="3570" y="280644"/>
                  </a:lnTo>
                  <a:lnTo>
                    <a:pt x="13942" y="234198"/>
                  </a:lnTo>
                  <a:lnTo>
                    <a:pt x="30606" y="190479"/>
                  </a:lnTo>
                  <a:lnTo>
                    <a:pt x="53053" y="149995"/>
                  </a:lnTo>
                  <a:lnTo>
                    <a:pt x="80773" y="113257"/>
                  </a:lnTo>
                  <a:lnTo>
                    <a:pt x="113257" y="80773"/>
                  </a:lnTo>
                  <a:lnTo>
                    <a:pt x="149995" y="53053"/>
                  </a:lnTo>
                  <a:lnTo>
                    <a:pt x="190479" y="30606"/>
                  </a:lnTo>
                  <a:lnTo>
                    <a:pt x="234198" y="13942"/>
                  </a:lnTo>
                  <a:lnTo>
                    <a:pt x="280643" y="3570"/>
                  </a:lnTo>
                  <a:lnTo>
                    <a:pt x="329306" y="0"/>
                  </a:lnTo>
                  <a:lnTo>
                    <a:pt x="1646493" y="0"/>
                  </a:lnTo>
                  <a:lnTo>
                    <a:pt x="1698319" y="4102"/>
                  </a:lnTo>
                  <a:lnTo>
                    <a:pt x="1748402" y="16164"/>
                  </a:lnTo>
                  <a:lnTo>
                    <a:pt x="1795857" y="35821"/>
                  </a:lnTo>
                  <a:lnTo>
                    <a:pt x="1839801" y="62706"/>
                  </a:lnTo>
                  <a:lnTo>
                    <a:pt x="1879348" y="96451"/>
                  </a:lnTo>
                  <a:lnTo>
                    <a:pt x="1913094" y="135998"/>
                  </a:lnTo>
                  <a:lnTo>
                    <a:pt x="1939978" y="179942"/>
                  </a:lnTo>
                  <a:lnTo>
                    <a:pt x="1959635" y="227397"/>
                  </a:lnTo>
                  <a:lnTo>
                    <a:pt x="1971697" y="277480"/>
                  </a:lnTo>
                  <a:lnTo>
                    <a:pt x="1975799" y="329306"/>
                  </a:lnTo>
                  <a:lnTo>
                    <a:pt x="1975799" y="2854893"/>
                  </a:lnTo>
                  <a:lnTo>
                    <a:pt x="1972229" y="2903555"/>
                  </a:lnTo>
                  <a:lnTo>
                    <a:pt x="1961857" y="2950001"/>
                  </a:lnTo>
                  <a:lnTo>
                    <a:pt x="1945193" y="2993720"/>
                  </a:lnTo>
                  <a:lnTo>
                    <a:pt x="1922746" y="3034204"/>
                  </a:lnTo>
                  <a:lnTo>
                    <a:pt x="1895026" y="3070942"/>
                  </a:lnTo>
                  <a:lnTo>
                    <a:pt x="1862542" y="3103426"/>
                  </a:lnTo>
                  <a:lnTo>
                    <a:pt x="1825804" y="3131146"/>
                  </a:lnTo>
                  <a:lnTo>
                    <a:pt x="1785320" y="3153593"/>
                  </a:lnTo>
                  <a:lnTo>
                    <a:pt x="1741601" y="3170257"/>
                  </a:lnTo>
                  <a:lnTo>
                    <a:pt x="1695155" y="3180629"/>
                  </a:lnTo>
                  <a:lnTo>
                    <a:pt x="1646493" y="3184199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120243" y="2743200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306"/>
                  </a:moveTo>
                  <a:lnTo>
                    <a:pt x="3570" y="280644"/>
                  </a:lnTo>
                  <a:lnTo>
                    <a:pt x="13942" y="234198"/>
                  </a:lnTo>
                  <a:lnTo>
                    <a:pt x="30606" y="190479"/>
                  </a:lnTo>
                  <a:lnTo>
                    <a:pt x="53053" y="149995"/>
                  </a:lnTo>
                  <a:lnTo>
                    <a:pt x="80773" y="113257"/>
                  </a:lnTo>
                  <a:lnTo>
                    <a:pt x="113257" y="80773"/>
                  </a:lnTo>
                  <a:lnTo>
                    <a:pt x="149995" y="53053"/>
                  </a:lnTo>
                  <a:lnTo>
                    <a:pt x="190479" y="30606"/>
                  </a:lnTo>
                  <a:lnTo>
                    <a:pt x="234198" y="13942"/>
                  </a:lnTo>
                  <a:lnTo>
                    <a:pt x="280643" y="3570"/>
                  </a:lnTo>
                  <a:lnTo>
                    <a:pt x="329306" y="0"/>
                  </a:lnTo>
                  <a:lnTo>
                    <a:pt x="1646493" y="0"/>
                  </a:lnTo>
                  <a:lnTo>
                    <a:pt x="1698319" y="4102"/>
                  </a:lnTo>
                  <a:lnTo>
                    <a:pt x="1748402" y="16164"/>
                  </a:lnTo>
                  <a:lnTo>
                    <a:pt x="1795857" y="35821"/>
                  </a:lnTo>
                  <a:lnTo>
                    <a:pt x="1839801" y="62706"/>
                  </a:lnTo>
                  <a:lnTo>
                    <a:pt x="1879348" y="96451"/>
                  </a:lnTo>
                  <a:lnTo>
                    <a:pt x="1913094" y="135998"/>
                  </a:lnTo>
                  <a:lnTo>
                    <a:pt x="1939978" y="179942"/>
                  </a:lnTo>
                  <a:lnTo>
                    <a:pt x="1959635" y="227397"/>
                  </a:lnTo>
                  <a:lnTo>
                    <a:pt x="1971697" y="277480"/>
                  </a:lnTo>
                  <a:lnTo>
                    <a:pt x="1975799" y="329306"/>
                  </a:lnTo>
                  <a:lnTo>
                    <a:pt x="1975799" y="2854893"/>
                  </a:lnTo>
                  <a:lnTo>
                    <a:pt x="1972229" y="2903555"/>
                  </a:lnTo>
                  <a:lnTo>
                    <a:pt x="1961857" y="2950001"/>
                  </a:lnTo>
                  <a:lnTo>
                    <a:pt x="1945193" y="2993720"/>
                  </a:lnTo>
                  <a:lnTo>
                    <a:pt x="1922746" y="3034204"/>
                  </a:lnTo>
                  <a:lnTo>
                    <a:pt x="1895026" y="3070942"/>
                  </a:lnTo>
                  <a:lnTo>
                    <a:pt x="1862542" y="3103426"/>
                  </a:lnTo>
                  <a:lnTo>
                    <a:pt x="1825804" y="3131146"/>
                  </a:lnTo>
                  <a:lnTo>
                    <a:pt x="1785320" y="3153593"/>
                  </a:lnTo>
                  <a:lnTo>
                    <a:pt x="1741601" y="3170257"/>
                  </a:lnTo>
                  <a:lnTo>
                    <a:pt x="1695155" y="3180629"/>
                  </a:lnTo>
                  <a:lnTo>
                    <a:pt x="1646493" y="3184199"/>
                  </a:lnTo>
                  <a:lnTo>
                    <a:pt x="329306" y="3184199"/>
                  </a:lnTo>
                  <a:lnTo>
                    <a:pt x="280643" y="3180629"/>
                  </a:lnTo>
                  <a:lnTo>
                    <a:pt x="234198" y="3170257"/>
                  </a:lnTo>
                  <a:lnTo>
                    <a:pt x="190479" y="3153593"/>
                  </a:lnTo>
                  <a:lnTo>
                    <a:pt x="149995" y="3131146"/>
                  </a:lnTo>
                  <a:lnTo>
                    <a:pt x="113257" y="3103426"/>
                  </a:lnTo>
                  <a:lnTo>
                    <a:pt x="80773" y="3070942"/>
                  </a:lnTo>
                  <a:lnTo>
                    <a:pt x="53053" y="3034204"/>
                  </a:lnTo>
                  <a:lnTo>
                    <a:pt x="30606" y="2993720"/>
                  </a:lnTo>
                  <a:lnTo>
                    <a:pt x="13942" y="2950001"/>
                  </a:lnTo>
                  <a:lnTo>
                    <a:pt x="3570" y="2903555"/>
                  </a:lnTo>
                  <a:lnTo>
                    <a:pt x="0" y="2854893"/>
                  </a:lnTo>
                  <a:lnTo>
                    <a:pt x="0" y="329306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93" y="4996499"/>
                  </a:moveTo>
                  <a:lnTo>
                    <a:pt x="329306" y="4996499"/>
                  </a:lnTo>
                  <a:lnTo>
                    <a:pt x="280644" y="4992929"/>
                  </a:lnTo>
                  <a:lnTo>
                    <a:pt x="234198" y="4982557"/>
                  </a:lnTo>
                  <a:lnTo>
                    <a:pt x="190479" y="4965893"/>
                  </a:lnTo>
                  <a:lnTo>
                    <a:pt x="149995" y="4943446"/>
                  </a:lnTo>
                  <a:lnTo>
                    <a:pt x="113257" y="4915726"/>
                  </a:lnTo>
                  <a:lnTo>
                    <a:pt x="80773" y="4883242"/>
                  </a:lnTo>
                  <a:lnTo>
                    <a:pt x="53053" y="4846504"/>
                  </a:lnTo>
                  <a:lnTo>
                    <a:pt x="30606" y="4806020"/>
                  </a:lnTo>
                  <a:lnTo>
                    <a:pt x="13942" y="4762301"/>
                  </a:lnTo>
                  <a:lnTo>
                    <a:pt x="3570" y="4715855"/>
                  </a:lnTo>
                  <a:lnTo>
                    <a:pt x="0" y="4667193"/>
                  </a:lnTo>
                  <a:lnTo>
                    <a:pt x="0" y="329306"/>
                  </a:lnTo>
                  <a:lnTo>
                    <a:pt x="3570" y="280644"/>
                  </a:lnTo>
                  <a:lnTo>
                    <a:pt x="13942" y="234198"/>
                  </a:lnTo>
                  <a:lnTo>
                    <a:pt x="30606" y="190479"/>
                  </a:lnTo>
                  <a:lnTo>
                    <a:pt x="53053" y="149995"/>
                  </a:lnTo>
                  <a:lnTo>
                    <a:pt x="80773" y="113257"/>
                  </a:lnTo>
                  <a:lnTo>
                    <a:pt x="113257" y="80773"/>
                  </a:lnTo>
                  <a:lnTo>
                    <a:pt x="149995" y="53053"/>
                  </a:lnTo>
                  <a:lnTo>
                    <a:pt x="190479" y="30606"/>
                  </a:lnTo>
                  <a:lnTo>
                    <a:pt x="234198" y="13942"/>
                  </a:lnTo>
                  <a:lnTo>
                    <a:pt x="280644" y="3570"/>
                  </a:lnTo>
                  <a:lnTo>
                    <a:pt x="329306" y="0"/>
                  </a:lnTo>
                  <a:lnTo>
                    <a:pt x="1646493" y="0"/>
                  </a:lnTo>
                  <a:lnTo>
                    <a:pt x="1698319" y="4102"/>
                  </a:lnTo>
                  <a:lnTo>
                    <a:pt x="1748402" y="16164"/>
                  </a:lnTo>
                  <a:lnTo>
                    <a:pt x="1795857" y="35821"/>
                  </a:lnTo>
                  <a:lnTo>
                    <a:pt x="1839801" y="62706"/>
                  </a:lnTo>
                  <a:lnTo>
                    <a:pt x="1879348" y="96451"/>
                  </a:lnTo>
                  <a:lnTo>
                    <a:pt x="1913094" y="135998"/>
                  </a:lnTo>
                  <a:lnTo>
                    <a:pt x="1939978" y="179942"/>
                  </a:lnTo>
                  <a:lnTo>
                    <a:pt x="1959635" y="227397"/>
                  </a:lnTo>
                  <a:lnTo>
                    <a:pt x="1971698" y="277480"/>
                  </a:lnTo>
                  <a:lnTo>
                    <a:pt x="1975800" y="329306"/>
                  </a:lnTo>
                  <a:lnTo>
                    <a:pt x="1975800" y="4667193"/>
                  </a:lnTo>
                  <a:lnTo>
                    <a:pt x="1972229" y="4715855"/>
                  </a:lnTo>
                  <a:lnTo>
                    <a:pt x="1961857" y="4762301"/>
                  </a:lnTo>
                  <a:lnTo>
                    <a:pt x="1945193" y="4806020"/>
                  </a:lnTo>
                  <a:lnTo>
                    <a:pt x="1922747" y="4846504"/>
                  </a:lnTo>
                  <a:lnTo>
                    <a:pt x="1895026" y="4883242"/>
                  </a:lnTo>
                  <a:lnTo>
                    <a:pt x="1862543" y="4915726"/>
                  </a:lnTo>
                  <a:lnTo>
                    <a:pt x="1825804" y="4943446"/>
                  </a:lnTo>
                  <a:lnTo>
                    <a:pt x="1785321" y="4965893"/>
                  </a:lnTo>
                  <a:lnTo>
                    <a:pt x="1741601" y="4982557"/>
                  </a:lnTo>
                  <a:lnTo>
                    <a:pt x="1695156" y="4992929"/>
                  </a:lnTo>
                  <a:lnTo>
                    <a:pt x="1646493" y="4996499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306"/>
                  </a:moveTo>
                  <a:lnTo>
                    <a:pt x="3570" y="280644"/>
                  </a:lnTo>
                  <a:lnTo>
                    <a:pt x="13942" y="234198"/>
                  </a:lnTo>
                  <a:lnTo>
                    <a:pt x="30606" y="190479"/>
                  </a:lnTo>
                  <a:lnTo>
                    <a:pt x="53053" y="149995"/>
                  </a:lnTo>
                  <a:lnTo>
                    <a:pt x="80773" y="113257"/>
                  </a:lnTo>
                  <a:lnTo>
                    <a:pt x="113257" y="80773"/>
                  </a:lnTo>
                  <a:lnTo>
                    <a:pt x="149995" y="53053"/>
                  </a:lnTo>
                  <a:lnTo>
                    <a:pt x="190479" y="30606"/>
                  </a:lnTo>
                  <a:lnTo>
                    <a:pt x="234198" y="13942"/>
                  </a:lnTo>
                  <a:lnTo>
                    <a:pt x="280644" y="3570"/>
                  </a:lnTo>
                  <a:lnTo>
                    <a:pt x="329306" y="0"/>
                  </a:lnTo>
                  <a:lnTo>
                    <a:pt x="1646493" y="0"/>
                  </a:lnTo>
                  <a:lnTo>
                    <a:pt x="1698319" y="4102"/>
                  </a:lnTo>
                  <a:lnTo>
                    <a:pt x="1748402" y="16164"/>
                  </a:lnTo>
                  <a:lnTo>
                    <a:pt x="1795857" y="35821"/>
                  </a:lnTo>
                  <a:lnTo>
                    <a:pt x="1839801" y="62706"/>
                  </a:lnTo>
                  <a:lnTo>
                    <a:pt x="1879348" y="96451"/>
                  </a:lnTo>
                  <a:lnTo>
                    <a:pt x="1913094" y="135998"/>
                  </a:lnTo>
                  <a:lnTo>
                    <a:pt x="1939978" y="179942"/>
                  </a:lnTo>
                  <a:lnTo>
                    <a:pt x="1959635" y="227397"/>
                  </a:lnTo>
                  <a:lnTo>
                    <a:pt x="1971698" y="277480"/>
                  </a:lnTo>
                  <a:lnTo>
                    <a:pt x="1975800" y="329306"/>
                  </a:lnTo>
                  <a:lnTo>
                    <a:pt x="1975800" y="4667193"/>
                  </a:lnTo>
                  <a:lnTo>
                    <a:pt x="1972229" y="4715855"/>
                  </a:lnTo>
                  <a:lnTo>
                    <a:pt x="1961857" y="4762301"/>
                  </a:lnTo>
                  <a:lnTo>
                    <a:pt x="1945193" y="4806020"/>
                  </a:lnTo>
                  <a:lnTo>
                    <a:pt x="1922747" y="4846504"/>
                  </a:lnTo>
                  <a:lnTo>
                    <a:pt x="1895026" y="4883242"/>
                  </a:lnTo>
                  <a:lnTo>
                    <a:pt x="1862543" y="4915726"/>
                  </a:lnTo>
                  <a:lnTo>
                    <a:pt x="1825804" y="4943446"/>
                  </a:lnTo>
                  <a:lnTo>
                    <a:pt x="1785321" y="4965893"/>
                  </a:lnTo>
                  <a:lnTo>
                    <a:pt x="1741601" y="4982557"/>
                  </a:lnTo>
                  <a:lnTo>
                    <a:pt x="1695156" y="4992929"/>
                  </a:lnTo>
                  <a:lnTo>
                    <a:pt x="1646493" y="4996499"/>
                  </a:lnTo>
                  <a:lnTo>
                    <a:pt x="329306" y="4996499"/>
                  </a:lnTo>
                  <a:lnTo>
                    <a:pt x="280644" y="4992929"/>
                  </a:lnTo>
                  <a:lnTo>
                    <a:pt x="234198" y="4982557"/>
                  </a:lnTo>
                  <a:lnTo>
                    <a:pt x="190479" y="4965893"/>
                  </a:lnTo>
                  <a:lnTo>
                    <a:pt x="149995" y="4943446"/>
                  </a:lnTo>
                  <a:lnTo>
                    <a:pt x="113257" y="4915726"/>
                  </a:lnTo>
                  <a:lnTo>
                    <a:pt x="80773" y="4883242"/>
                  </a:lnTo>
                  <a:lnTo>
                    <a:pt x="53053" y="4846504"/>
                  </a:lnTo>
                  <a:lnTo>
                    <a:pt x="30606" y="4806020"/>
                  </a:lnTo>
                  <a:lnTo>
                    <a:pt x="13942" y="4762301"/>
                  </a:lnTo>
                  <a:lnTo>
                    <a:pt x="3570" y="4715855"/>
                  </a:lnTo>
                  <a:lnTo>
                    <a:pt x="0" y="4667193"/>
                  </a:lnTo>
                  <a:lnTo>
                    <a:pt x="0" y="329306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74700" y="230039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31945">
              <a:lnSpc>
                <a:spcPct val="100000"/>
              </a:lnSpc>
              <a:spcBef>
                <a:spcPts val="100"/>
              </a:spcBef>
            </a:pPr>
            <a:r>
              <a:rPr lang="en-US" spc="-35" dirty="0" err="1"/>
              <a:t>Tranformer</a:t>
            </a:r>
            <a:endParaRPr spc="-35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1571695" y="4375300"/>
            <a:ext cx="198945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表示法 </a:t>
            </a:r>
            <a:r>
              <a:rPr sz="2000" b="1" spc="-50" dirty="0">
                <a:latin typeface="Arial" panose="020B0604020202090204"/>
                <a:cs typeface="Arial" panose="020B0604020202090204"/>
              </a:rPr>
              <a:t>/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8421" y="4680100"/>
            <a:ext cx="1028700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lang="ko-KR" altLang="en-US" sz="2000" b="1" spc="-10" dirty="0">
                <a:latin typeface="Arial" panose="020B0604020202090204"/>
                <a:cs typeface="Arial" panose="020B0604020202090204"/>
              </a:rPr>
              <a:t>编码器</a:t>
            </a:r>
            <a:endParaRPr sz="20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78212" y="4375200"/>
            <a:ext cx="1481455" cy="30480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dirty="0">
                <a:latin typeface="Arial" panose="020B0604020202090204"/>
                <a:cs typeface="Arial" panose="020B0604020202090204"/>
              </a:rPr>
              <a:t>生成 </a:t>
            </a:r>
            <a:r>
              <a:rPr sz="2000" b="1" spc="-50" dirty="0">
                <a:latin typeface="Arial" panose="020B0604020202090204"/>
                <a:cs typeface="Arial" panose="020B0604020202090204"/>
              </a:rPr>
              <a:t>/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10913" y="4680000"/>
            <a:ext cx="1028700" cy="30480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lang="ko-KR" altLang="en-US" sz="2000" b="1" spc="-10" dirty="0">
                <a:latin typeface="Arial" panose="020B0604020202090204"/>
                <a:cs typeface="Arial" panose="020B0604020202090204"/>
              </a:rPr>
              <a:t>解码器</a:t>
            </a:r>
            <a:endParaRPr sz="2000" dirty="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496" y="1449484"/>
            <a:ext cx="8810625" cy="254000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09575" indent="-396875">
              <a:lnSpc>
                <a:spcPct val="100000"/>
              </a:lnSpc>
              <a:spcBef>
                <a:spcPts val="1420"/>
              </a:spcBef>
              <a:buFont typeface="Arial" panose="020B0604020202090204"/>
              <a:buChar char="●"/>
              <a:tabLst>
                <a:tab pos="409575" algn="l"/>
              </a:tabLst>
            </a:pPr>
            <a:r>
              <a:rPr sz="2200" b="1" dirty="0">
                <a:latin typeface="Calibri"/>
                <a:cs typeface="Calibri"/>
              </a:rPr>
              <a:t>语言（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参见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讲座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第4部分</a:t>
            </a:r>
            <a:r>
              <a:rPr sz="2200" b="1" spc="-10" dirty="0">
                <a:latin typeface="Calibri"/>
                <a:cs typeface="Calibri"/>
              </a:rPr>
              <a:t>）</a:t>
            </a:r>
            <a:endParaRPr sz="2200">
              <a:latin typeface="Calibri"/>
              <a:cs typeface="Calibri"/>
            </a:endParaRPr>
          </a:p>
          <a:p>
            <a:pPr marL="409575" indent="-396875">
              <a:lnSpc>
                <a:spcPct val="100000"/>
              </a:lnSpc>
              <a:spcBef>
                <a:spcPts val="1320"/>
              </a:spcBef>
              <a:buFont typeface="Arial" panose="020B0604020202090204"/>
              <a:buChar char="●"/>
              <a:tabLst>
                <a:tab pos="409575" algn="l"/>
              </a:tabLst>
            </a:pPr>
            <a:r>
              <a:rPr sz="2200" b="1" spc="-10" dirty="0">
                <a:latin typeface="Calibri"/>
                <a:cs typeface="Calibri"/>
              </a:rPr>
              <a:t>视觉</a:t>
            </a:r>
            <a:endParaRPr sz="2200">
              <a:latin typeface="Calibri"/>
              <a:cs typeface="Calibri"/>
            </a:endParaRPr>
          </a:p>
          <a:p>
            <a:pPr marL="409575" indent="-396875">
              <a:lnSpc>
                <a:spcPct val="100000"/>
              </a:lnSpc>
              <a:spcBef>
                <a:spcPts val="1320"/>
              </a:spcBef>
              <a:buFont typeface="Arial" panose="020B0604020202090204"/>
              <a:buChar char="●"/>
              <a:tabLst>
                <a:tab pos="409575" algn="l"/>
              </a:tabLst>
            </a:pPr>
            <a:r>
              <a:rPr sz="2200" b="1" spc="-10" dirty="0">
                <a:latin typeface="Calibri"/>
                <a:cs typeface="Calibri"/>
              </a:rPr>
              <a:t>音频</a:t>
            </a:r>
            <a:endParaRPr sz="2200">
              <a:latin typeface="Calibri"/>
              <a:cs typeface="Calibri"/>
            </a:endParaRPr>
          </a:p>
          <a:p>
            <a:pPr marL="409575" indent="-396875">
              <a:lnSpc>
                <a:spcPct val="100000"/>
              </a:lnSpc>
              <a:spcBef>
                <a:spcPts val="1320"/>
              </a:spcBef>
              <a:buChar char="●"/>
              <a:tabLst>
                <a:tab pos="409575" algn="l"/>
              </a:tabLst>
            </a:pPr>
            <a:r>
              <a:rPr sz="2200" b="1" dirty="0">
                <a:latin typeface="Calibri"/>
                <a:cs typeface="Calibri"/>
              </a:rPr>
              <a:t>……以及许多其他模态（例如</a:t>
            </a:r>
            <a:r>
              <a:rPr sz="2200" b="1" spc="-10" dirty="0">
                <a:latin typeface="Calibri"/>
                <a:cs typeface="Calibri"/>
              </a:rPr>
              <a:t>生物/生理</a:t>
            </a:r>
            <a:r>
              <a:rPr sz="2200" b="1" dirty="0">
                <a:latin typeface="Calibri"/>
                <a:cs typeface="Calibri"/>
              </a:rPr>
              <a:t>信号</a:t>
            </a:r>
            <a:r>
              <a:rPr sz="2200" b="1" spc="-10" dirty="0">
                <a:latin typeface="Calibri"/>
                <a:cs typeface="Calibri"/>
              </a:rPr>
              <a:t>等）</a:t>
            </a:r>
            <a:endParaRPr sz="2200">
              <a:latin typeface="Calibri"/>
              <a:cs typeface="Calibri"/>
            </a:endParaRPr>
          </a:p>
          <a:p>
            <a:pPr marL="409575" indent="-396875">
              <a:lnSpc>
                <a:spcPct val="100000"/>
              </a:lnSpc>
              <a:spcBef>
                <a:spcPts val="1320"/>
              </a:spcBef>
              <a:buFont typeface="Arial" panose="020B0604020202090204"/>
              <a:buChar char="●"/>
              <a:tabLst>
                <a:tab pos="409575" algn="l"/>
              </a:tabLst>
            </a:pPr>
            <a:r>
              <a:rPr sz="2200" b="1" dirty="0">
                <a:latin typeface="Calibri"/>
                <a:cs typeface="Calibri"/>
              </a:rPr>
              <a:t>多模态（&gt;2种数据</a:t>
            </a:r>
            <a:r>
              <a:rPr sz="2200" b="1" spc="-10" dirty="0">
                <a:latin typeface="Calibri"/>
                <a:cs typeface="Calibri"/>
              </a:rPr>
              <a:t>模态）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4690" y="611863"/>
            <a:ext cx="44232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数据</a:t>
            </a:r>
            <a:r>
              <a:rPr spc="-10" dirty="0"/>
              <a:t>模态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88625" y="6385838"/>
            <a:ext cx="570611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一图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胜千言：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适用于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大规模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图像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识别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的</a:t>
            </a:r>
            <a:r>
              <a:rPr sz="1400" b="1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Transformer模型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05120" y="1513923"/>
            <a:ext cx="10770235" cy="22098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452755" indent="-440055">
              <a:lnSpc>
                <a:spcPct val="100000"/>
              </a:lnSpc>
              <a:spcBef>
                <a:spcPts val="1100"/>
              </a:spcBef>
              <a:buAutoNum type="arabicPeriod"/>
              <a:tabLst>
                <a:tab pos="452755" algn="l"/>
              </a:tabLst>
            </a:pPr>
            <a:r>
              <a:rPr sz="2200" dirty="0">
                <a:latin typeface="Calibri"/>
                <a:cs typeface="Calibri"/>
              </a:rPr>
              <a:t>在计算机视觉领域</a:t>
            </a:r>
            <a:r>
              <a:rPr sz="2200" spc="-10" dirty="0">
                <a:latin typeface="Calibri"/>
                <a:cs typeface="Calibri"/>
              </a:rPr>
              <a:t>，卷积架构</a:t>
            </a:r>
            <a:r>
              <a:rPr sz="2200" dirty="0">
                <a:latin typeface="Calibri"/>
                <a:cs typeface="Calibri"/>
              </a:rPr>
              <a:t>依然占据</a:t>
            </a:r>
            <a:r>
              <a:rPr sz="2200" spc="-10" dirty="0">
                <a:latin typeface="Calibri"/>
                <a:cs typeface="Calibri"/>
              </a:rPr>
              <a:t>主导地位。</a:t>
            </a:r>
            <a:endParaRPr sz="2200" dirty="0">
              <a:latin typeface="Calibri"/>
              <a:cs typeface="Calibri"/>
            </a:endParaRPr>
          </a:p>
          <a:p>
            <a:pPr marL="453390" marR="5080" indent="-44132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53390" algn="l"/>
              </a:tabLst>
            </a:pPr>
            <a:r>
              <a:rPr sz="2200" dirty="0">
                <a:latin typeface="Calibri"/>
                <a:cs typeface="Calibri"/>
              </a:rPr>
              <a:t>受自然语言处理（NLP）</a:t>
            </a:r>
            <a:r>
              <a:rPr sz="2200" spc="-10" dirty="0">
                <a:latin typeface="Calibri"/>
                <a:cs typeface="Calibri"/>
              </a:rPr>
              <a:t>领域成功经验的</a:t>
            </a:r>
            <a:r>
              <a:rPr sz="2200" dirty="0">
                <a:latin typeface="Calibri"/>
                <a:cs typeface="Calibri"/>
              </a:rPr>
              <a:t>启发</a:t>
            </a:r>
            <a:r>
              <a:rPr sz="2200" spc="-10" dirty="0">
                <a:latin typeface="Calibri"/>
                <a:cs typeface="Calibri"/>
              </a:rPr>
              <a:t>，</a:t>
            </a:r>
            <a:r>
              <a:rPr sz="2200" dirty="0">
                <a:latin typeface="Calibri"/>
                <a:cs typeface="Calibri"/>
              </a:rPr>
              <a:t>多项研究尝试将卷积神经网络（CNN）类架构与</a:t>
            </a:r>
            <a:r>
              <a:rPr lang="ko-KR" altLang="en-US" sz="2200" spc="-10" dirty="0">
                <a:latin typeface="Calibri"/>
                <a:cs typeface="Calibri"/>
              </a:rPr>
              <a:t>自注意力机制</a:t>
            </a:r>
            <a:r>
              <a:rPr sz="2200" dirty="0">
                <a:latin typeface="Calibri"/>
                <a:cs typeface="Calibri"/>
              </a:rPr>
              <a:t>相结合，或</a:t>
            </a:r>
            <a:r>
              <a:rPr sz="2200" spc="-10" dirty="0">
                <a:latin typeface="Calibri"/>
                <a:cs typeface="Calibri"/>
              </a:rPr>
              <a:t>完全</a:t>
            </a:r>
            <a:r>
              <a:rPr sz="2200" dirty="0">
                <a:latin typeface="Calibri"/>
                <a:cs typeface="Calibri"/>
              </a:rPr>
              <a:t>替换</a:t>
            </a:r>
            <a:r>
              <a:rPr sz="2200" spc="-10" dirty="0">
                <a:latin typeface="Calibri"/>
                <a:cs typeface="Calibri"/>
              </a:rPr>
              <a:t>卷积</a:t>
            </a:r>
            <a:r>
              <a:rPr sz="2200" dirty="0">
                <a:latin typeface="Calibri"/>
                <a:cs typeface="Calibri"/>
              </a:rPr>
              <a:t>层</a:t>
            </a:r>
            <a:r>
              <a:rPr sz="2200" spc="-10" dirty="0">
                <a:latin typeface="Calibri"/>
                <a:cs typeface="Calibri"/>
              </a:rPr>
              <a:t>。</a:t>
            </a:r>
            <a:endParaRPr sz="2200" dirty="0">
              <a:latin typeface="Calibri"/>
              <a:cs typeface="Calibri"/>
            </a:endParaRPr>
          </a:p>
          <a:p>
            <a:pPr marL="452755" indent="-44005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52755" algn="l"/>
              </a:tabLst>
            </a:pPr>
            <a:r>
              <a:rPr sz="2200" spc="-35" dirty="0">
                <a:latin typeface="Calibri"/>
                <a:cs typeface="Calibri"/>
              </a:rPr>
              <a:t>然而，</a:t>
            </a:r>
            <a:r>
              <a:rPr sz="2200" dirty="0">
                <a:latin typeface="Calibri"/>
                <a:cs typeface="Calibri"/>
              </a:rPr>
              <a:t>这些方法在性能和</a:t>
            </a:r>
            <a:r>
              <a:rPr sz="2200" spc="-10" dirty="0">
                <a:latin typeface="Calibri"/>
                <a:cs typeface="Calibri"/>
              </a:rPr>
              <a:t>可扩展性</a:t>
            </a:r>
            <a:r>
              <a:rPr sz="2200" dirty="0">
                <a:latin typeface="Calibri"/>
                <a:cs typeface="Calibri"/>
              </a:rPr>
              <a:t>方面面临挑战</a:t>
            </a:r>
            <a:r>
              <a:rPr sz="2200" spc="-10" dirty="0">
                <a:latin typeface="Calibri"/>
                <a:cs typeface="Calibri"/>
              </a:rPr>
              <a:t>。</a:t>
            </a:r>
            <a:endParaRPr sz="2200" dirty="0">
              <a:latin typeface="Calibri"/>
              <a:cs typeface="Calibri"/>
            </a:endParaRPr>
          </a:p>
          <a:p>
            <a:pPr marL="452755" indent="-44005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52755" algn="l"/>
              </a:tabLst>
            </a:pPr>
            <a:r>
              <a:rPr sz="2200" dirty="0">
                <a:latin typeface="Calibri"/>
                <a:cs typeface="Calibri"/>
              </a:rPr>
              <a:t>关键</a:t>
            </a:r>
            <a:r>
              <a:rPr sz="2200" spc="-10" dirty="0">
                <a:latin typeface="Calibri"/>
                <a:cs typeface="Calibri"/>
              </a:rPr>
              <a:t>突破</a:t>
            </a:r>
            <a:r>
              <a:rPr sz="2200" dirty="0">
                <a:latin typeface="Calibri"/>
                <a:cs typeface="Calibri"/>
              </a:rPr>
              <a:t>——</a:t>
            </a:r>
            <a:r>
              <a:rPr sz="2200" spc="-20" dirty="0">
                <a:latin typeface="Calibri"/>
                <a:cs typeface="Calibri"/>
              </a:rPr>
              <a:t>2020年</a:t>
            </a:r>
            <a:r>
              <a:rPr sz="2200" spc="-10" dirty="0">
                <a:latin typeface="Calibri"/>
                <a:cs typeface="Calibri"/>
              </a:rPr>
              <a:t>发布的</a:t>
            </a:r>
            <a:r>
              <a:rPr sz="2200" dirty="0">
                <a:latin typeface="Calibri"/>
                <a:cs typeface="Calibri"/>
              </a:rPr>
              <a:t>Vision </a:t>
            </a:r>
            <a:r>
              <a:rPr sz="2200" spc="-30" dirty="0">
                <a:latin typeface="Calibri"/>
                <a:cs typeface="Calibri"/>
              </a:rPr>
              <a:t>Transformer</a:t>
            </a:r>
            <a:r>
              <a:rPr sz="2200" dirty="0">
                <a:latin typeface="Calibri"/>
                <a:cs typeface="Calibri"/>
              </a:rPr>
              <a:t>（ViT）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99346" y="669809"/>
            <a:ext cx="3189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计算机视觉</a:t>
            </a: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23565"/>
            <a:ext cx="10515600" cy="1208683"/>
          </a:xfrm>
          <a:prstGeom prst="rect">
            <a:avLst/>
          </a:prstGeom>
        </p:spPr>
        <p:txBody>
          <a:bodyPr vert="horz" wrap="square" lIns="0" tIns="526434" rIns="0" bIns="0" rtlCol="0">
            <a:spAutoFit/>
          </a:bodyPr>
          <a:lstStyle/>
          <a:p>
            <a:pPr marL="24276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计算机</a:t>
            </a:r>
            <a:r>
              <a:rPr dirty="0"/>
              <a:t>视觉 -</a:t>
            </a:r>
            <a:r>
              <a:rPr spc="-25" dirty="0"/>
              <a:t> </a:t>
            </a:r>
            <a:r>
              <a:rPr lang="en-US" spc="-25" dirty="0" err="1"/>
              <a:t>token</a:t>
            </a:r>
            <a:r>
              <a:rPr spc="-25" dirty="0" err="1"/>
              <a:t>化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492746" y="2244625"/>
            <a:ext cx="2987353" cy="30670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0704" y="2244617"/>
            <a:ext cx="2987220" cy="30670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100" y="2244617"/>
            <a:ext cx="3057524" cy="30575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42437" y="3499899"/>
            <a:ext cx="474345" cy="518795"/>
          </a:xfrm>
          <a:custGeom>
            <a:avLst/>
            <a:gdLst/>
            <a:ahLst/>
            <a:cxnLst/>
            <a:rect l="l" t="t" r="r" b="b"/>
            <a:pathLst>
              <a:path w="474345" h="518795">
                <a:moveTo>
                  <a:pt x="236999" y="518399"/>
                </a:moveTo>
                <a:lnTo>
                  <a:pt x="0" y="518399"/>
                </a:lnTo>
                <a:lnTo>
                  <a:pt x="236999" y="259199"/>
                </a:lnTo>
                <a:lnTo>
                  <a:pt x="0" y="0"/>
                </a:lnTo>
                <a:lnTo>
                  <a:pt x="236999" y="0"/>
                </a:lnTo>
                <a:lnTo>
                  <a:pt x="473999" y="259199"/>
                </a:lnTo>
                <a:lnTo>
                  <a:pt x="236999" y="51839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60237" y="3499899"/>
            <a:ext cx="474345" cy="518795"/>
          </a:xfrm>
          <a:custGeom>
            <a:avLst/>
            <a:gdLst/>
            <a:ahLst/>
            <a:cxnLst/>
            <a:rect l="l" t="t" r="r" b="b"/>
            <a:pathLst>
              <a:path w="474345" h="518795">
                <a:moveTo>
                  <a:pt x="236999" y="518399"/>
                </a:moveTo>
                <a:lnTo>
                  <a:pt x="0" y="518399"/>
                </a:lnTo>
                <a:lnTo>
                  <a:pt x="236999" y="259199"/>
                </a:lnTo>
                <a:lnTo>
                  <a:pt x="0" y="0"/>
                </a:lnTo>
                <a:lnTo>
                  <a:pt x="236999" y="0"/>
                </a:lnTo>
                <a:lnTo>
                  <a:pt x="473999" y="259199"/>
                </a:lnTo>
                <a:lnTo>
                  <a:pt x="236999" y="51839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8625" y="6385838"/>
            <a:ext cx="570611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一图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胜千言：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16×16 像素的图像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：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适用于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大规模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图像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识别的 </a:t>
            </a:r>
            <a:r>
              <a:rPr sz="1400" b="1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Transformer 模型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49119" y="1911615"/>
            <a:ext cx="4506595" cy="32957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3705" marR="283845" indent="-42164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33705" algn="l"/>
              </a:tabLst>
            </a:pPr>
            <a:r>
              <a:rPr sz="2000" dirty="0">
                <a:latin typeface="Calibri"/>
                <a:cs typeface="Calibri"/>
              </a:rPr>
              <a:t>将图像分割为固定大小的</a:t>
            </a:r>
            <a:r>
              <a:rPr sz="2000" spc="-10" dirty="0">
                <a:latin typeface="Calibri"/>
                <a:cs typeface="Calibri"/>
              </a:rPr>
              <a:t>图像块</a:t>
            </a:r>
            <a:r>
              <a:rPr sz="2000" dirty="0">
                <a:latin typeface="Calibri"/>
                <a:cs typeface="Calibri"/>
              </a:rPr>
              <a:t>（16×16</a:t>
            </a:r>
            <a:r>
              <a:rPr sz="2000" spc="-10" dirty="0">
                <a:latin typeface="Calibri"/>
                <a:cs typeface="Calibri"/>
              </a:rPr>
              <a:t> 像素）。</a:t>
            </a:r>
            <a:endParaRPr sz="2000" dirty="0">
              <a:latin typeface="Calibri"/>
              <a:cs typeface="Calibri"/>
            </a:endParaRPr>
          </a:p>
          <a:p>
            <a:pPr marL="433705" marR="5080" indent="-42164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33705" algn="l"/>
              </a:tabLst>
            </a:pPr>
            <a:r>
              <a:rPr sz="2000" spc="-40" dirty="0" err="1">
                <a:latin typeface="Calibri"/>
                <a:cs typeface="Calibri"/>
              </a:rPr>
              <a:t>对</a:t>
            </a:r>
            <a:r>
              <a:rPr sz="2000" dirty="0" err="1">
                <a:latin typeface="Calibri"/>
                <a:cs typeface="Calibri"/>
              </a:rPr>
              <a:t>每</a:t>
            </a:r>
            <a:r>
              <a:rPr lang="zh-CN" altLang="en-US" sz="2000" dirty="0">
                <a:latin typeface="Calibri"/>
                <a:cs typeface="Calibri"/>
              </a:rPr>
              <a:t>个图像块</a:t>
            </a:r>
            <a:r>
              <a:rPr sz="2000" dirty="0">
                <a:latin typeface="Calibri"/>
                <a:cs typeface="Calibri"/>
              </a:rPr>
              <a:t>（</a:t>
            </a:r>
            <a:r>
              <a:rPr sz="2000" spc="-10" dirty="0">
                <a:latin typeface="Calibri"/>
                <a:cs typeface="Calibri"/>
              </a:rPr>
              <a:t>展平后补丁</a:t>
            </a:r>
            <a:r>
              <a:rPr sz="2000" spc="-25" dirty="0">
                <a:latin typeface="Calibri"/>
                <a:cs typeface="Calibri"/>
              </a:rPr>
              <a:t>的</a:t>
            </a:r>
            <a:r>
              <a:rPr sz="2000" dirty="0">
                <a:latin typeface="Calibri"/>
                <a:cs typeface="Calibri"/>
              </a:rPr>
              <a:t>线性</a:t>
            </a:r>
            <a:r>
              <a:rPr sz="2000" spc="-10" dirty="0">
                <a:latin typeface="Calibri"/>
                <a:cs typeface="Calibri"/>
              </a:rPr>
              <a:t>投影）</a:t>
            </a:r>
            <a:r>
              <a:rPr sz="2000" spc="-40" dirty="0">
                <a:latin typeface="Calibri"/>
                <a:cs typeface="Calibri"/>
              </a:rPr>
              <a:t>进行分词</a:t>
            </a:r>
            <a:r>
              <a:rPr sz="2000" spc="-10" dirty="0">
                <a:latin typeface="Calibri"/>
                <a:cs typeface="Calibri"/>
              </a:rPr>
              <a:t>。</a:t>
            </a:r>
            <a:endParaRPr sz="2000" dirty="0">
              <a:latin typeface="Calibri"/>
              <a:cs typeface="Calibri"/>
            </a:endParaRPr>
          </a:p>
          <a:p>
            <a:pPr marL="433705" indent="-42100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33705" algn="l"/>
              </a:tabLst>
            </a:pPr>
            <a:r>
              <a:rPr sz="2000" dirty="0">
                <a:latin typeface="Calibri"/>
                <a:cs typeface="Calibri"/>
              </a:rPr>
              <a:t>添加位置</a:t>
            </a:r>
            <a:r>
              <a:rPr sz="2000" spc="-10" dirty="0">
                <a:latin typeface="Calibri"/>
                <a:cs typeface="Calibri"/>
              </a:rPr>
              <a:t>嵌入。</a:t>
            </a:r>
            <a:endParaRPr sz="2000" dirty="0">
              <a:latin typeface="Calibri"/>
              <a:cs typeface="Calibri"/>
            </a:endParaRPr>
          </a:p>
          <a:p>
            <a:pPr marL="433705" marR="94615" indent="-42164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33705" algn="l"/>
              </a:tabLst>
            </a:pPr>
            <a:r>
              <a:rPr sz="2000" spc="-10" dirty="0">
                <a:latin typeface="Calibri"/>
                <a:cs typeface="Calibri"/>
              </a:rPr>
              <a:t>将生成的向量序列</a:t>
            </a:r>
            <a:r>
              <a:rPr sz="2000" dirty="0">
                <a:latin typeface="Calibri"/>
                <a:cs typeface="Calibri"/>
              </a:rPr>
              <a:t>输入到</a:t>
            </a:r>
            <a:r>
              <a:rPr sz="2000" spc="-10" dirty="0">
                <a:latin typeface="Calibri"/>
                <a:cs typeface="Calibri"/>
              </a:rPr>
              <a:t>标准的 </a:t>
            </a:r>
            <a:r>
              <a:rPr sz="2000" spc="-30" dirty="0">
                <a:latin typeface="Calibri"/>
                <a:cs typeface="Calibri"/>
              </a:rPr>
              <a:t>Transformer</a:t>
            </a:r>
            <a:r>
              <a:rPr lang="ko-KR" altLang="en-US" sz="2000" spc="-10" dirty="0">
                <a:latin typeface="Calibri"/>
                <a:cs typeface="Calibri"/>
              </a:rPr>
              <a:t> 编码器</a:t>
            </a:r>
            <a:r>
              <a:rPr sz="2000" dirty="0">
                <a:latin typeface="Calibri"/>
                <a:cs typeface="Calibri"/>
              </a:rPr>
              <a:t>中</a:t>
            </a:r>
            <a:r>
              <a:rPr sz="2000" spc="-10" dirty="0">
                <a:latin typeface="Calibri"/>
                <a:cs typeface="Calibri"/>
              </a:rPr>
              <a:t>。</a:t>
            </a:r>
            <a:endParaRPr sz="2000" dirty="0">
              <a:latin typeface="Calibri"/>
              <a:cs typeface="Calibri"/>
            </a:endParaRPr>
          </a:p>
          <a:p>
            <a:pPr marL="433705" marR="269240" indent="-421640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33705" algn="l"/>
              </a:tabLst>
            </a:pPr>
            <a:r>
              <a:rPr sz="2000" dirty="0" err="1">
                <a:latin typeface="Calibri"/>
                <a:cs typeface="Calibri"/>
              </a:rPr>
              <a:t>对于</a:t>
            </a:r>
            <a:r>
              <a:rPr sz="2000" spc="-10" dirty="0" err="1">
                <a:latin typeface="Calibri"/>
                <a:cs typeface="Calibri"/>
              </a:rPr>
              <a:t>分类任务，</a:t>
            </a:r>
            <a:r>
              <a:rPr sz="2000" dirty="0" err="1">
                <a:latin typeface="Calibri"/>
                <a:cs typeface="Calibri"/>
              </a:rPr>
              <a:t>在</a:t>
            </a:r>
            <a:r>
              <a:rPr sz="2000" spc="-10" dirty="0" err="1">
                <a:latin typeface="Calibri"/>
                <a:cs typeface="Calibri"/>
              </a:rPr>
              <a:t>序列</a:t>
            </a:r>
            <a:r>
              <a:rPr sz="2000" spc="-25" dirty="0" err="1">
                <a:latin typeface="Calibri"/>
                <a:cs typeface="Calibri"/>
              </a:rPr>
              <a:t>中</a:t>
            </a:r>
            <a:r>
              <a:rPr sz="2000" dirty="0" err="1">
                <a:latin typeface="Calibri"/>
                <a:cs typeface="Calibri"/>
              </a:rPr>
              <a:t>添加一个</a:t>
            </a:r>
            <a:r>
              <a:rPr sz="2000" spc="-20" dirty="0" err="1">
                <a:latin typeface="Calibri"/>
                <a:cs typeface="Calibri"/>
              </a:rPr>
              <a:t>额外的可学习“</a:t>
            </a:r>
            <a:r>
              <a:rPr lang="en-US" altLang="zh-CN" sz="2000" dirty="0" err="1"/>
              <a:t>class</a:t>
            </a:r>
            <a:r>
              <a:rPr lang="en-US" altLang="zh-CN" sz="2000" dirty="0"/>
              <a:t> token</a:t>
            </a:r>
            <a:r>
              <a:rPr sz="2000" spc="-10" dirty="0">
                <a:latin typeface="Calibri"/>
                <a:cs typeface="Calibri"/>
              </a:rPr>
              <a:t>”。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6434" rIns="0" bIns="0" rtlCol="0">
            <a:spAutoFit/>
          </a:bodyPr>
          <a:lstStyle/>
          <a:p>
            <a:pPr marL="1191895">
              <a:lnSpc>
                <a:spcPct val="100000"/>
              </a:lnSpc>
              <a:spcBef>
                <a:spcPts val="100"/>
              </a:spcBef>
            </a:pPr>
            <a:r>
              <a:rPr dirty="0"/>
              <a:t>Vision </a:t>
            </a:r>
            <a:r>
              <a:rPr spc="-30" dirty="0"/>
              <a:t>Transformer </a:t>
            </a:r>
            <a:r>
              <a:rPr dirty="0"/>
              <a:t>(ViT) 模型</a:t>
            </a:r>
            <a:r>
              <a:rPr spc="-10" dirty="0"/>
              <a:t>架构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96113" y="1760039"/>
            <a:ext cx="5886188" cy="42836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8625" y="6385838"/>
            <a:ext cx="570611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一图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胜千言：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适用于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大规模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图像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识别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的</a:t>
            </a:r>
            <a:r>
              <a:rPr sz="1400" b="1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变压器模型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867" y="5407890"/>
            <a:ext cx="108223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ViT 通过其位置</a:t>
            </a:r>
            <a:r>
              <a:rPr sz="2000" spc="-10" dirty="0">
                <a:latin typeface="Calibri"/>
                <a:cs typeface="Calibri"/>
              </a:rPr>
              <a:t>嵌入</a:t>
            </a:r>
            <a:r>
              <a:rPr sz="2000" dirty="0">
                <a:latin typeface="Calibri"/>
                <a:cs typeface="Calibri"/>
              </a:rPr>
              <a:t>来学习图像</a:t>
            </a:r>
            <a:r>
              <a:rPr sz="2000" spc="-10" dirty="0">
                <a:latin typeface="Calibri"/>
                <a:cs typeface="Calibri"/>
              </a:rPr>
              <a:t>补丁</a:t>
            </a:r>
            <a:r>
              <a:rPr sz="2000" dirty="0">
                <a:latin typeface="Calibri"/>
                <a:cs typeface="Calibri"/>
              </a:rPr>
              <a:t>的网格</a:t>
            </a:r>
            <a:r>
              <a:rPr sz="2000" spc="-10" dirty="0">
                <a:latin typeface="Calibri"/>
                <a:cs typeface="Calibri"/>
              </a:rPr>
              <a:t>状结构。</a:t>
            </a:r>
            <a:endParaRPr sz="2000">
              <a:latin typeface="Calibri"/>
              <a:cs typeface="Calibri"/>
            </a:endParaRPr>
          </a:p>
          <a:p>
            <a:pPr marL="394335" indent="-381635">
              <a:lnSpc>
                <a:spcPct val="100000"/>
              </a:lnSpc>
              <a:buFont typeface="Arial MT"/>
              <a:buChar char="●"/>
              <a:tabLst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较低</a:t>
            </a:r>
            <a:r>
              <a:rPr sz="2000" spc="-10" dirty="0">
                <a:latin typeface="Calibri"/>
                <a:cs typeface="Calibri"/>
              </a:rPr>
              <a:t>层包含</a:t>
            </a:r>
            <a:r>
              <a:rPr sz="2000" dirty="0">
                <a:latin typeface="Calibri"/>
                <a:cs typeface="Calibri"/>
              </a:rPr>
              <a:t>全局</a:t>
            </a:r>
            <a:r>
              <a:rPr sz="2000" spc="-20" dirty="0">
                <a:latin typeface="Calibri"/>
                <a:cs typeface="Calibri"/>
              </a:rPr>
              <a:t>特征</a:t>
            </a:r>
            <a:r>
              <a:rPr sz="2000" dirty="0">
                <a:latin typeface="Calibri"/>
                <a:cs typeface="Calibri"/>
              </a:rPr>
              <a:t>和局部</a:t>
            </a:r>
            <a:r>
              <a:rPr sz="2000" spc="-20" dirty="0">
                <a:latin typeface="Calibri"/>
                <a:cs typeface="Calibri"/>
              </a:rPr>
              <a:t>特征，</a:t>
            </a:r>
            <a:r>
              <a:rPr sz="2000" dirty="0">
                <a:latin typeface="Calibri"/>
                <a:cs typeface="Calibri"/>
              </a:rPr>
              <a:t>较高</a:t>
            </a:r>
            <a:r>
              <a:rPr sz="2000" spc="-10" dirty="0">
                <a:latin typeface="Calibri"/>
                <a:cs typeface="Calibri"/>
              </a:rPr>
              <a:t>层</a:t>
            </a:r>
            <a:r>
              <a:rPr sz="2000" dirty="0">
                <a:latin typeface="Calibri"/>
                <a:cs typeface="Calibri"/>
              </a:rPr>
              <a:t>仅</a:t>
            </a:r>
            <a:r>
              <a:rPr sz="2000" spc="-10" dirty="0">
                <a:latin typeface="Calibri"/>
                <a:cs typeface="Calibri"/>
              </a:rPr>
              <a:t>包含</a:t>
            </a:r>
            <a:r>
              <a:rPr sz="2000" dirty="0">
                <a:latin typeface="Calibri"/>
                <a:cs typeface="Calibri"/>
              </a:rPr>
              <a:t>全局</a:t>
            </a:r>
            <a:r>
              <a:rPr sz="2000" spc="-10" dirty="0">
                <a:latin typeface="Calibri"/>
                <a:cs typeface="Calibri"/>
              </a:rPr>
              <a:t>特征。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6434" rIns="0" bIns="0" rtlCol="0">
            <a:spAutoFit/>
          </a:bodyPr>
          <a:lstStyle/>
          <a:p>
            <a:pPr marL="3241675">
              <a:lnSpc>
                <a:spcPct val="100000"/>
              </a:lnSpc>
              <a:spcBef>
                <a:spcPts val="100"/>
              </a:spcBef>
            </a:pPr>
            <a:r>
              <a:rPr dirty="0"/>
              <a:t>ViT -</a:t>
            </a:r>
            <a:r>
              <a:rPr spc="-10" dirty="0"/>
              <a:t> 模式</a:t>
            </a:r>
            <a:r>
              <a:rPr dirty="0"/>
              <a:t>学习</a:t>
            </a:r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170012" y="1602301"/>
            <a:ext cx="7811291" cy="36452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8625" y="6385838"/>
            <a:ext cx="3259454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适用于</a:t>
            </a:r>
            <a:r>
              <a:rPr sz="1400" b="1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大规模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图像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识别</a:t>
            </a:r>
            <a:r>
              <a:rPr sz="1400" b="1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的Transformer模型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6434" rIns="0" bIns="0" rtlCol="0">
            <a:spAutoFit/>
          </a:bodyPr>
          <a:lstStyle/>
          <a:p>
            <a:pPr marL="3802380">
              <a:lnSpc>
                <a:spcPct val="100000"/>
              </a:lnSpc>
              <a:spcBef>
                <a:spcPts val="100"/>
              </a:spcBef>
            </a:pPr>
            <a:r>
              <a:rPr dirty="0"/>
              <a:t>ViT</a:t>
            </a:r>
            <a:r>
              <a:rPr spc="-10" dirty="0"/>
              <a:t> 性能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29028" y="1717589"/>
            <a:ext cx="8733951" cy="34973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3867" y="5407890"/>
            <a:ext cx="105124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5080" indent="-38227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ViT 模型在多个主流</a:t>
            </a:r>
            <a:r>
              <a:rPr sz="2000" spc="-10" dirty="0">
                <a:latin typeface="Calibri"/>
                <a:cs typeface="Calibri"/>
              </a:rPr>
              <a:t>基准测试中</a:t>
            </a:r>
            <a:r>
              <a:rPr sz="2000" dirty="0">
                <a:latin typeface="Calibri"/>
                <a:cs typeface="Calibri"/>
              </a:rPr>
              <a:t>均</a:t>
            </a:r>
            <a:r>
              <a:rPr sz="2000" spc="-10" dirty="0">
                <a:latin typeface="Calibri"/>
                <a:cs typeface="Calibri"/>
              </a:rPr>
              <a:t>取得了</a:t>
            </a:r>
            <a:r>
              <a:rPr sz="2000" dirty="0">
                <a:latin typeface="Calibri"/>
                <a:cs typeface="Calibri"/>
              </a:rPr>
              <a:t>业界领先的</a:t>
            </a:r>
            <a:r>
              <a:rPr sz="2000" spc="-10" dirty="0">
                <a:latin typeface="Calibri"/>
                <a:cs typeface="Calibri"/>
              </a:rPr>
              <a:t>性能，包括</a:t>
            </a:r>
            <a:r>
              <a:rPr sz="2000" dirty="0">
                <a:latin typeface="Calibri"/>
                <a:cs typeface="Calibri"/>
              </a:rPr>
              <a:t>在 ImageNet 上达到</a:t>
            </a:r>
            <a:r>
              <a:rPr sz="2000" spc="-10" dirty="0">
                <a:latin typeface="Calibri"/>
                <a:cs typeface="Calibri"/>
              </a:rPr>
              <a:t> 88.55% 的 </a:t>
            </a:r>
            <a:r>
              <a:rPr sz="2000" dirty="0">
                <a:latin typeface="Calibri"/>
                <a:cs typeface="Calibri"/>
              </a:rPr>
              <a:t>Top-1 准确率，以及在 </a:t>
            </a:r>
            <a:r>
              <a:rPr sz="2000" spc="-25" dirty="0">
                <a:latin typeface="Calibri"/>
                <a:cs typeface="Calibri"/>
              </a:rPr>
              <a:t>CIFAR-10 </a:t>
            </a:r>
            <a:r>
              <a:rPr sz="2000" dirty="0">
                <a:latin typeface="Calibri"/>
                <a:cs typeface="Calibri"/>
              </a:rPr>
              <a:t>上达到 99.50%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625" y="6385838"/>
            <a:ext cx="3259454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适用于</a:t>
            </a:r>
            <a:r>
              <a:rPr sz="1400" b="1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大规模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图像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识别</a:t>
            </a:r>
            <a:r>
              <a:rPr sz="1400" b="1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的Transformer模型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6434" rIns="0" bIns="0" rtlCol="0">
            <a:spAutoFit/>
          </a:bodyPr>
          <a:lstStyle/>
          <a:p>
            <a:pPr marL="48152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音频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48496" y="1640923"/>
            <a:ext cx="9309100" cy="220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indent="-39687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409575" algn="l"/>
              </a:tabLst>
            </a:pPr>
            <a:r>
              <a:rPr sz="2200" dirty="0">
                <a:latin typeface="Calibri"/>
                <a:cs typeface="Calibri"/>
              </a:rPr>
              <a:t>与计算机视觉类似，但使用</a:t>
            </a:r>
            <a:r>
              <a:rPr sz="2200" spc="-10" dirty="0">
                <a:latin typeface="Calibri"/>
                <a:cs typeface="Calibri"/>
              </a:rPr>
              <a:t>频谱图</a:t>
            </a:r>
            <a:r>
              <a:rPr sz="2200" dirty="0">
                <a:latin typeface="Calibri"/>
                <a:cs typeface="Calibri"/>
              </a:rPr>
              <a:t>代替</a:t>
            </a:r>
            <a:r>
              <a:rPr sz="2200" spc="-10" dirty="0">
                <a:latin typeface="Calibri"/>
                <a:cs typeface="Calibri"/>
              </a:rPr>
              <a:t>图像。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  <a:buFont typeface="Arial MT"/>
              <a:buChar char="●"/>
            </a:pPr>
            <a:endParaRPr sz="2200" dirty="0">
              <a:latin typeface="Calibri"/>
              <a:cs typeface="Calibri"/>
            </a:endParaRPr>
          </a:p>
          <a:p>
            <a:pPr marL="409575" indent="-39687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09575" algn="l"/>
              </a:tabLst>
            </a:pPr>
            <a:r>
              <a:rPr sz="2200" dirty="0">
                <a:latin typeface="Calibri"/>
                <a:cs typeface="Calibri"/>
              </a:rPr>
              <a:t>存在编码器-解码器变体，或采用CTC</a:t>
            </a:r>
            <a:r>
              <a:rPr sz="2200" spc="-10" dirty="0">
                <a:latin typeface="Calibri"/>
                <a:cs typeface="Calibri"/>
              </a:rPr>
              <a:t>损失</a:t>
            </a:r>
            <a:r>
              <a:rPr sz="2200" dirty="0">
                <a:latin typeface="Calibri"/>
                <a:cs typeface="Calibri"/>
              </a:rPr>
              <a:t>的纯编码器变体</a:t>
            </a:r>
            <a:r>
              <a:rPr sz="2200" spc="-10" dirty="0">
                <a:latin typeface="Calibri"/>
                <a:cs typeface="Calibri"/>
              </a:rPr>
              <a:t>。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0"/>
              </a:spcBef>
              <a:buFont typeface="Arial MT"/>
              <a:buChar char="●"/>
            </a:pPr>
            <a:endParaRPr sz="2200" dirty="0">
              <a:latin typeface="Calibri"/>
              <a:cs typeface="Calibri"/>
            </a:endParaRPr>
          </a:p>
          <a:p>
            <a:pPr marL="409575" indent="-396875">
              <a:lnSpc>
                <a:spcPct val="100000"/>
              </a:lnSpc>
              <a:buFont typeface="Arial MT"/>
              <a:buChar char="●"/>
              <a:tabLst>
                <a:tab pos="409575" algn="l"/>
              </a:tabLst>
            </a:pPr>
            <a:r>
              <a:rPr sz="2200" dirty="0">
                <a:latin typeface="Calibri"/>
                <a:cs typeface="Calibri"/>
              </a:rPr>
              <a:t>可结合卷积神经网络（</a:t>
            </a:r>
            <a:r>
              <a:rPr sz="2200" spc="-20" dirty="0">
                <a:latin typeface="Calibri"/>
                <a:cs typeface="Calibri"/>
              </a:rPr>
              <a:t>CNN）</a:t>
            </a:r>
            <a:r>
              <a:rPr sz="2200" dirty="0">
                <a:latin typeface="Calibri"/>
                <a:cs typeface="Calibri"/>
              </a:rPr>
              <a:t>进行增强</a:t>
            </a:r>
            <a:r>
              <a:rPr sz="2200" spc="-20" dirty="0">
                <a:latin typeface="Calibri"/>
                <a:cs typeface="Calibri"/>
              </a:rPr>
              <a:t>。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625" y="5828432"/>
            <a:ext cx="53708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Conformer：用于语音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识别的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卷积</a:t>
            </a:r>
            <a:r>
              <a:rPr sz="1400" b="1" u="heavy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"/>
              </a:rPr>
              <a:t>增强型Transformer</a:t>
            </a:r>
            <a:r>
              <a:rPr sz="1400" b="1" spc="-10" dirty="0">
                <a:solidFill>
                  <a:srgbClr val="0563C1"/>
                </a:solidFill>
                <a:latin typeface="Calibri"/>
                <a:cs typeface="Calibri"/>
              </a:rPr>
              <a:t>AST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：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音频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频谱图Transformer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6434" rIns="0" bIns="0" rtlCol="0">
            <a:spAutoFit/>
          </a:bodyPr>
          <a:lstStyle/>
          <a:p>
            <a:pPr marL="24396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多模</a:t>
            </a:r>
            <a:r>
              <a:rPr spc="-30" dirty="0"/>
              <a:t>态</a:t>
            </a:r>
            <a:r>
              <a:rPr spc="-10" dirty="0"/>
              <a:t>Transformer </a:t>
            </a:r>
            <a:r>
              <a:rPr dirty="0"/>
              <a:t>- </a:t>
            </a:r>
            <a:r>
              <a:rPr spc="-20" dirty="0"/>
              <a:t>UniT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92785" y="1617628"/>
            <a:ext cx="6259625" cy="45929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8625" y="6341388"/>
            <a:ext cx="47536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UniT：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基于统一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Transformer的多模态多任务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学习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9119" y="1622064"/>
            <a:ext cx="4517390" cy="462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3705" marR="5080" indent="-42164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33705" algn="l"/>
              </a:tabLst>
            </a:pPr>
            <a:r>
              <a:rPr sz="2000" dirty="0">
                <a:latin typeface="Calibri"/>
                <a:cs typeface="Calibri"/>
              </a:rPr>
              <a:t>UniT 涵盖了</a:t>
            </a:r>
            <a:r>
              <a:rPr sz="2000" spc="-20" dirty="0">
                <a:latin typeface="Calibri"/>
                <a:cs typeface="Calibri"/>
              </a:rPr>
              <a:t>从</a:t>
            </a:r>
            <a:r>
              <a:rPr sz="2000" dirty="0">
                <a:latin typeface="Calibri"/>
                <a:cs typeface="Calibri"/>
              </a:rPr>
              <a:t>目标</a:t>
            </a:r>
            <a:r>
              <a:rPr sz="2000" spc="-10" dirty="0">
                <a:latin typeface="Calibri"/>
                <a:cs typeface="Calibri"/>
              </a:rPr>
              <a:t>检测</a:t>
            </a:r>
            <a:r>
              <a:rPr sz="2000" dirty="0">
                <a:latin typeface="Calibri"/>
                <a:cs typeface="Calibri"/>
              </a:rPr>
              <a:t>到视觉与</a:t>
            </a:r>
            <a:r>
              <a:rPr sz="2000" spc="-10" dirty="0">
                <a:latin typeface="Calibri"/>
                <a:cs typeface="Calibri"/>
              </a:rPr>
              <a:t>语言推理</a:t>
            </a:r>
            <a:r>
              <a:rPr sz="2000" dirty="0">
                <a:latin typeface="Calibri"/>
                <a:cs typeface="Calibri"/>
              </a:rPr>
              <a:t>及</a:t>
            </a:r>
            <a:r>
              <a:rPr sz="2000" spc="-10" dirty="0">
                <a:latin typeface="Calibri"/>
                <a:cs typeface="Calibri"/>
              </a:rPr>
              <a:t>自然语言理解</a:t>
            </a:r>
            <a:r>
              <a:rPr sz="2000" dirty="0">
                <a:latin typeface="Calibri"/>
                <a:cs typeface="Calibri"/>
              </a:rPr>
              <a:t>的 7 项任务</a:t>
            </a:r>
            <a:r>
              <a:rPr sz="2000" spc="-10" dirty="0">
                <a:latin typeface="Calibri"/>
                <a:cs typeface="Calibri"/>
              </a:rPr>
              <a:t>。</a:t>
            </a:r>
            <a:endParaRPr sz="2000" dirty="0">
              <a:latin typeface="Calibri"/>
              <a:cs typeface="Calibri"/>
            </a:endParaRPr>
          </a:p>
          <a:p>
            <a:pPr marL="433705" indent="-42100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433705" algn="l"/>
              </a:tabLst>
            </a:pPr>
            <a:r>
              <a:rPr sz="2000" spc="-10" dirty="0">
                <a:latin typeface="Calibri"/>
                <a:cs typeface="Calibri"/>
              </a:rPr>
              <a:t>组成部分：</a:t>
            </a:r>
            <a:endParaRPr sz="2000" dirty="0">
              <a:latin typeface="Calibri"/>
              <a:cs typeface="Calibri"/>
            </a:endParaRPr>
          </a:p>
          <a:p>
            <a:pPr marL="890905" marR="259715" lvl="1" indent="-382270">
              <a:lnSpc>
                <a:spcPct val="100000"/>
              </a:lnSpc>
              <a:spcBef>
                <a:spcPts val="1000"/>
              </a:spcBef>
              <a:buFont typeface="Arial MT"/>
              <a:buChar char="○"/>
              <a:tabLst>
                <a:tab pos="890905" algn="l"/>
              </a:tabLst>
            </a:pPr>
            <a:r>
              <a:rPr sz="2000" dirty="0">
                <a:latin typeface="Calibri"/>
                <a:cs typeface="Calibri"/>
              </a:rPr>
              <a:t>图像</a:t>
            </a:r>
            <a:r>
              <a:rPr lang="ko-KR" altLang="en-US" sz="2000" spc="-10" dirty="0">
                <a:latin typeface="Calibri"/>
                <a:cs typeface="Calibri"/>
              </a:rPr>
              <a:t>编码器</a:t>
            </a:r>
            <a:r>
              <a:rPr sz="2000" dirty="0">
                <a:latin typeface="Calibri"/>
                <a:cs typeface="Calibri"/>
              </a:rPr>
              <a:t>，用于</a:t>
            </a:r>
            <a:r>
              <a:rPr sz="2000" spc="-25" dirty="0">
                <a:latin typeface="Calibri"/>
                <a:cs typeface="Calibri"/>
              </a:rPr>
              <a:t>对</a:t>
            </a:r>
            <a:r>
              <a:rPr sz="2000" dirty="0">
                <a:latin typeface="Calibri"/>
                <a:cs typeface="Calibri"/>
              </a:rPr>
              <a:t>视觉</a:t>
            </a:r>
            <a:r>
              <a:rPr sz="2000" spc="-10" dirty="0">
                <a:latin typeface="Calibri"/>
                <a:cs typeface="Calibri"/>
              </a:rPr>
              <a:t>输入</a:t>
            </a:r>
            <a:r>
              <a:rPr sz="2000" dirty="0">
                <a:latin typeface="Calibri"/>
                <a:cs typeface="Calibri"/>
              </a:rPr>
              <a:t>进行编码</a:t>
            </a:r>
            <a:r>
              <a:rPr sz="2000" spc="-10" dirty="0">
                <a:latin typeface="Calibri"/>
                <a:cs typeface="Calibri"/>
              </a:rPr>
              <a:t>。</a:t>
            </a:r>
            <a:endParaRPr sz="2000" dirty="0">
              <a:latin typeface="Calibri"/>
              <a:cs typeface="Calibri"/>
            </a:endParaRPr>
          </a:p>
          <a:p>
            <a:pPr marL="890905" marR="619125" lvl="1" indent="-382270">
              <a:lnSpc>
                <a:spcPct val="100000"/>
              </a:lnSpc>
              <a:spcBef>
                <a:spcPts val="1000"/>
              </a:spcBef>
              <a:buFont typeface="Arial MT"/>
              <a:buChar char="○"/>
              <a:tabLst>
                <a:tab pos="890905" algn="l"/>
              </a:tabLst>
            </a:pPr>
            <a:r>
              <a:rPr sz="2000" dirty="0">
                <a:latin typeface="Calibri"/>
                <a:cs typeface="Calibri"/>
              </a:rPr>
              <a:t>文本</a:t>
            </a:r>
            <a:r>
              <a:rPr lang="ko-KR" altLang="en-US" sz="2000" spc="-10" dirty="0">
                <a:latin typeface="Calibri"/>
                <a:cs typeface="Calibri"/>
              </a:rPr>
              <a:t>编码器</a:t>
            </a:r>
            <a:r>
              <a:rPr sz="2000" dirty="0">
                <a:latin typeface="Calibri"/>
                <a:cs typeface="Calibri"/>
              </a:rPr>
              <a:t>，用于</a:t>
            </a:r>
            <a:r>
              <a:rPr sz="2000" spc="-25" dirty="0">
                <a:latin typeface="Calibri"/>
                <a:cs typeface="Calibri"/>
              </a:rPr>
              <a:t>对</a:t>
            </a:r>
            <a:r>
              <a:rPr sz="2000" spc="-10" dirty="0">
                <a:latin typeface="Calibri"/>
                <a:cs typeface="Calibri"/>
              </a:rPr>
              <a:t>语言输入</a:t>
            </a:r>
            <a:r>
              <a:rPr sz="2000" dirty="0">
                <a:latin typeface="Calibri"/>
                <a:cs typeface="Calibri"/>
              </a:rPr>
              <a:t>进行编码</a:t>
            </a:r>
            <a:r>
              <a:rPr sz="2000" spc="-10" dirty="0">
                <a:latin typeface="Calibri"/>
                <a:cs typeface="Calibri"/>
              </a:rPr>
              <a:t>。</a:t>
            </a:r>
            <a:endParaRPr sz="2000" dirty="0">
              <a:latin typeface="Calibri"/>
              <a:cs typeface="Calibri"/>
            </a:endParaRPr>
          </a:p>
          <a:p>
            <a:pPr marL="890905" marR="632460" lvl="1" indent="-382270">
              <a:lnSpc>
                <a:spcPct val="100000"/>
              </a:lnSpc>
              <a:spcBef>
                <a:spcPts val="1000"/>
              </a:spcBef>
              <a:buFont typeface="Arial MT"/>
              <a:buChar char="○"/>
              <a:tabLst>
                <a:tab pos="890905" algn="l"/>
              </a:tabLst>
            </a:pPr>
            <a:r>
              <a:rPr sz="2000" dirty="0">
                <a:latin typeface="Calibri"/>
                <a:cs typeface="Calibri"/>
              </a:rPr>
              <a:t>一个具有</a:t>
            </a:r>
            <a:r>
              <a:rPr sz="2000" spc="-20" dirty="0">
                <a:latin typeface="Calibri"/>
                <a:cs typeface="Calibri"/>
              </a:rPr>
              <a:t>任务级</a:t>
            </a:r>
            <a:r>
              <a:rPr sz="2000" dirty="0">
                <a:latin typeface="Calibri"/>
                <a:cs typeface="Calibri"/>
              </a:rPr>
              <a:t>查询</a:t>
            </a:r>
            <a:r>
              <a:rPr sz="2000" spc="-10" dirty="0">
                <a:latin typeface="Calibri"/>
                <a:cs typeface="Calibri"/>
              </a:rPr>
              <a:t>嵌入的</a:t>
            </a:r>
            <a:r>
              <a:rPr sz="2000" dirty="0">
                <a:latin typeface="Calibri"/>
                <a:cs typeface="Calibri"/>
              </a:rPr>
              <a:t>联合</a:t>
            </a:r>
            <a:r>
              <a:rPr lang="ko-KR" altLang="en-US" sz="2000" spc="-10" dirty="0">
                <a:latin typeface="Calibri"/>
                <a:cs typeface="Calibri"/>
              </a:rPr>
              <a:t>解码器</a:t>
            </a:r>
            <a:r>
              <a:rPr sz="2000" spc="-10" dirty="0">
                <a:latin typeface="Calibri"/>
                <a:cs typeface="Calibri"/>
              </a:rPr>
              <a:t>。</a:t>
            </a:r>
            <a:endParaRPr sz="2000" dirty="0">
              <a:latin typeface="Calibri"/>
              <a:cs typeface="Calibri"/>
            </a:endParaRPr>
          </a:p>
          <a:p>
            <a:pPr marL="890905" marR="381000" lvl="1" indent="-382270">
              <a:lnSpc>
                <a:spcPct val="100000"/>
              </a:lnSpc>
              <a:spcBef>
                <a:spcPts val="1000"/>
              </a:spcBef>
              <a:buFont typeface="Arial MT"/>
              <a:buChar char="○"/>
              <a:tabLst>
                <a:tab pos="890905" algn="l"/>
              </a:tabLst>
            </a:pPr>
            <a:r>
              <a:rPr sz="2000" dirty="0">
                <a:latin typeface="Calibri"/>
                <a:cs typeface="Calibri"/>
              </a:rPr>
              <a:t>专用处理头用于</a:t>
            </a:r>
            <a:r>
              <a:rPr sz="2000" spc="-10" dirty="0">
                <a:latin typeface="Calibri"/>
                <a:cs typeface="Calibri"/>
              </a:rPr>
              <a:t>生成</a:t>
            </a:r>
            <a:r>
              <a:rPr sz="2000" dirty="0">
                <a:latin typeface="Calibri"/>
                <a:cs typeface="Calibri"/>
              </a:rPr>
              <a:t>每个</a:t>
            </a:r>
            <a:r>
              <a:rPr sz="2000" spc="-10" dirty="0">
                <a:latin typeface="Calibri"/>
                <a:cs typeface="Calibri"/>
              </a:rPr>
              <a:t>任务</a:t>
            </a:r>
            <a:r>
              <a:rPr sz="2000" dirty="0">
                <a:latin typeface="Calibri"/>
                <a:cs typeface="Calibri"/>
              </a:rPr>
              <a:t>的最终输出</a:t>
            </a:r>
            <a:r>
              <a:rPr sz="2000" spc="-10" dirty="0">
                <a:latin typeface="Calibri"/>
                <a:cs typeface="Calibri"/>
              </a:rPr>
              <a:t>。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10" dirty="0"/>
              <a:t>多模</a:t>
            </a:r>
            <a:r>
              <a:rPr lang="zh-CN" altLang="en-US" spc="-30" dirty="0"/>
              <a:t>态</a:t>
            </a:r>
            <a:r>
              <a:rPr lang="en-US" altLang="zh-CN" spc="-10" dirty="0"/>
              <a:t>Transformer </a:t>
            </a:r>
            <a:r>
              <a:rPr lang="en-US" altLang="zh-CN" dirty="0"/>
              <a:t>- </a:t>
            </a:r>
            <a:r>
              <a:rPr lang="en-US" altLang="zh-CN" spc="-20" dirty="0" err="1"/>
              <a:t>UniT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A0A9-AEE8-4961-892A-9A031FCB256E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7267" y="1919529"/>
            <a:ext cx="8449733" cy="42574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6434" rIns="0" bIns="0" rtlCol="0">
            <a:spAutoFit/>
          </a:bodyPr>
          <a:lstStyle/>
          <a:p>
            <a:pPr marL="23133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多模</a:t>
            </a:r>
            <a:r>
              <a:rPr spc="-30" dirty="0"/>
              <a:t>态</a:t>
            </a:r>
            <a:r>
              <a:rPr spc="-10" dirty="0"/>
              <a:t>Transformer </a:t>
            </a:r>
            <a:r>
              <a:rPr dirty="0"/>
              <a:t>- </a:t>
            </a:r>
            <a:r>
              <a:rPr spc="-10" dirty="0"/>
              <a:t>LLaVA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0850" y="1816524"/>
            <a:ext cx="10763299" cy="360719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8625" y="6385838"/>
            <a:ext cx="522351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视觉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指令微调（LLaVA 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- 大型语言与视觉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助手）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6434" rIns="0" bIns="0" rtlCol="0">
            <a:spAutoFit/>
          </a:bodyPr>
          <a:lstStyle/>
          <a:p>
            <a:pPr marL="23133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多模</a:t>
            </a:r>
            <a:r>
              <a:rPr spc="-30" dirty="0"/>
              <a:t>态</a:t>
            </a:r>
            <a:r>
              <a:rPr spc="-10" dirty="0"/>
              <a:t>Transformer </a:t>
            </a:r>
            <a:r>
              <a:rPr dirty="0"/>
              <a:t>- </a:t>
            </a:r>
            <a:r>
              <a:rPr spc="-10" dirty="0"/>
              <a:t>LLaVA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0143" y="1886542"/>
            <a:ext cx="11050256" cy="33186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88625" y="6385838"/>
            <a:ext cx="522351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视觉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指令微调（LLaVA </a:t>
            </a:r>
            <a:r>
              <a:rPr sz="1400" b="1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- 大型语言与视觉</a:t>
            </a:r>
            <a:r>
              <a:rPr sz="1400" b="1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助手）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43328" y="981253"/>
            <a:ext cx="3841021" cy="56467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35201" y="2093136"/>
            <a:ext cx="2061152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C00000"/>
                </a:solidFill>
                <a:latin typeface="Calibri"/>
                <a:cs typeface="Calibri"/>
              </a:rPr>
              <a:t>第4</a:t>
            </a: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部分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496021" y="3436111"/>
            <a:ext cx="4457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00FF"/>
                </a:solidFill>
                <a:latin typeface="Calibri"/>
                <a:cs typeface="Calibri"/>
              </a:rPr>
              <a:t>大型</a:t>
            </a:r>
            <a:r>
              <a:rPr sz="3600" b="1" spc="-10" dirty="0">
                <a:solidFill>
                  <a:srgbClr val="0000FF"/>
                </a:solidFill>
                <a:latin typeface="Calibri"/>
                <a:cs typeface="Calibri"/>
              </a:rPr>
              <a:t>语言模型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3893" y="924377"/>
            <a:ext cx="3964304" cy="5704205"/>
            <a:chOff x="4113893" y="924377"/>
            <a:chExt cx="3964304" cy="570420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75488" y="981254"/>
              <a:ext cx="3841023" cy="56467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120243" y="2743199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93" y="3184199"/>
                  </a:moveTo>
                  <a:lnTo>
                    <a:pt x="329306" y="3184199"/>
                  </a:lnTo>
                  <a:lnTo>
                    <a:pt x="280643" y="3180629"/>
                  </a:lnTo>
                  <a:lnTo>
                    <a:pt x="234198" y="3170257"/>
                  </a:lnTo>
                  <a:lnTo>
                    <a:pt x="190479" y="3153593"/>
                  </a:lnTo>
                  <a:lnTo>
                    <a:pt x="149995" y="3131146"/>
                  </a:lnTo>
                  <a:lnTo>
                    <a:pt x="113257" y="3103426"/>
                  </a:lnTo>
                  <a:lnTo>
                    <a:pt x="80773" y="3070942"/>
                  </a:lnTo>
                  <a:lnTo>
                    <a:pt x="53053" y="3034204"/>
                  </a:lnTo>
                  <a:lnTo>
                    <a:pt x="30606" y="2993720"/>
                  </a:lnTo>
                  <a:lnTo>
                    <a:pt x="13942" y="2950001"/>
                  </a:lnTo>
                  <a:lnTo>
                    <a:pt x="3570" y="2903555"/>
                  </a:lnTo>
                  <a:lnTo>
                    <a:pt x="0" y="2854893"/>
                  </a:lnTo>
                  <a:lnTo>
                    <a:pt x="0" y="329306"/>
                  </a:lnTo>
                  <a:lnTo>
                    <a:pt x="3570" y="280644"/>
                  </a:lnTo>
                  <a:lnTo>
                    <a:pt x="13942" y="234198"/>
                  </a:lnTo>
                  <a:lnTo>
                    <a:pt x="30606" y="190479"/>
                  </a:lnTo>
                  <a:lnTo>
                    <a:pt x="53053" y="149995"/>
                  </a:lnTo>
                  <a:lnTo>
                    <a:pt x="80773" y="113257"/>
                  </a:lnTo>
                  <a:lnTo>
                    <a:pt x="113257" y="80773"/>
                  </a:lnTo>
                  <a:lnTo>
                    <a:pt x="149995" y="53053"/>
                  </a:lnTo>
                  <a:lnTo>
                    <a:pt x="190479" y="30606"/>
                  </a:lnTo>
                  <a:lnTo>
                    <a:pt x="234198" y="13942"/>
                  </a:lnTo>
                  <a:lnTo>
                    <a:pt x="280643" y="3570"/>
                  </a:lnTo>
                  <a:lnTo>
                    <a:pt x="329306" y="0"/>
                  </a:lnTo>
                  <a:lnTo>
                    <a:pt x="1646493" y="0"/>
                  </a:lnTo>
                  <a:lnTo>
                    <a:pt x="1698319" y="4102"/>
                  </a:lnTo>
                  <a:lnTo>
                    <a:pt x="1748402" y="16164"/>
                  </a:lnTo>
                  <a:lnTo>
                    <a:pt x="1795857" y="35821"/>
                  </a:lnTo>
                  <a:lnTo>
                    <a:pt x="1839801" y="62706"/>
                  </a:lnTo>
                  <a:lnTo>
                    <a:pt x="1879348" y="96451"/>
                  </a:lnTo>
                  <a:lnTo>
                    <a:pt x="1913094" y="135998"/>
                  </a:lnTo>
                  <a:lnTo>
                    <a:pt x="1939978" y="179942"/>
                  </a:lnTo>
                  <a:lnTo>
                    <a:pt x="1959635" y="227397"/>
                  </a:lnTo>
                  <a:lnTo>
                    <a:pt x="1971697" y="277480"/>
                  </a:lnTo>
                  <a:lnTo>
                    <a:pt x="1975799" y="329306"/>
                  </a:lnTo>
                  <a:lnTo>
                    <a:pt x="1975799" y="2854893"/>
                  </a:lnTo>
                  <a:lnTo>
                    <a:pt x="1972229" y="2903555"/>
                  </a:lnTo>
                  <a:lnTo>
                    <a:pt x="1961857" y="2950001"/>
                  </a:lnTo>
                  <a:lnTo>
                    <a:pt x="1945193" y="2993720"/>
                  </a:lnTo>
                  <a:lnTo>
                    <a:pt x="1922746" y="3034204"/>
                  </a:lnTo>
                  <a:lnTo>
                    <a:pt x="1895026" y="3070942"/>
                  </a:lnTo>
                  <a:lnTo>
                    <a:pt x="1862542" y="3103426"/>
                  </a:lnTo>
                  <a:lnTo>
                    <a:pt x="1825804" y="3131146"/>
                  </a:lnTo>
                  <a:lnTo>
                    <a:pt x="1785320" y="3153593"/>
                  </a:lnTo>
                  <a:lnTo>
                    <a:pt x="1741601" y="3170257"/>
                  </a:lnTo>
                  <a:lnTo>
                    <a:pt x="1695155" y="3180629"/>
                  </a:lnTo>
                  <a:lnTo>
                    <a:pt x="1646493" y="3184199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120243" y="2743200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306"/>
                  </a:moveTo>
                  <a:lnTo>
                    <a:pt x="3570" y="280644"/>
                  </a:lnTo>
                  <a:lnTo>
                    <a:pt x="13942" y="234198"/>
                  </a:lnTo>
                  <a:lnTo>
                    <a:pt x="30606" y="190479"/>
                  </a:lnTo>
                  <a:lnTo>
                    <a:pt x="53053" y="149995"/>
                  </a:lnTo>
                  <a:lnTo>
                    <a:pt x="80773" y="113257"/>
                  </a:lnTo>
                  <a:lnTo>
                    <a:pt x="113257" y="80773"/>
                  </a:lnTo>
                  <a:lnTo>
                    <a:pt x="149995" y="53053"/>
                  </a:lnTo>
                  <a:lnTo>
                    <a:pt x="190479" y="30606"/>
                  </a:lnTo>
                  <a:lnTo>
                    <a:pt x="234198" y="13942"/>
                  </a:lnTo>
                  <a:lnTo>
                    <a:pt x="280643" y="3570"/>
                  </a:lnTo>
                  <a:lnTo>
                    <a:pt x="329306" y="0"/>
                  </a:lnTo>
                  <a:lnTo>
                    <a:pt x="1646493" y="0"/>
                  </a:lnTo>
                  <a:lnTo>
                    <a:pt x="1698319" y="4102"/>
                  </a:lnTo>
                  <a:lnTo>
                    <a:pt x="1748402" y="16164"/>
                  </a:lnTo>
                  <a:lnTo>
                    <a:pt x="1795857" y="35821"/>
                  </a:lnTo>
                  <a:lnTo>
                    <a:pt x="1839801" y="62706"/>
                  </a:lnTo>
                  <a:lnTo>
                    <a:pt x="1879348" y="96451"/>
                  </a:lnTo>
                  <a:lnTo>
                    <a:pt x="1913094" y="135998"/>
                  </a:lnTo>
                  <a:lnTo>
                    <a:pt x="1939978" y="179942"/>
                  </a:lnTo>
                  <a:lnTo>
                    <a:pt x="1959635" y="227397"/>
                  </a:lnTo>
                  <a:lnTo>
                    <a:pt x="1971697" y="277480"/>
                  </a:lnTo>
                  <a:lnTo>
                    <a:pt x="1975799" y="329306"/>
                  </a:lnTo>
                  <a:lnTo>
                    <a:pt x="1975799" y="2854893"/>
                  </a:lnTo>
                  <a:lnTo>
                    <a:pt x="1972229" y="2903555"/>
                  </a:lnTo>
                  <a:lnTo>
                    <a:pt x="1961857" y="2950001"/>
                  </a:lnTo>
                  <a:lnTo>
                    <a:pt x="1945193" y="2993720"/>
                  </a:lnTo>
                  <a:lnTo>
                    <a:pt x="1922746" y="3034204"/>
                  </a:lnTo>
                  <a:lnTo>
                    <a:pt x="1895026" y="3070942"/>
                  </a:lnTo>
                  <a:lnTo>
                    <a:pt x="1862542" y="3103426"/>
                  </a:lnTo>
                  <a:lnTo>
                    <a:pt x="1825804" y="3131146"/>
                  </a:lnTo>
                  <a:lnTo>
                    <a:pt x="1785320" y="3153593"/>
                  </a:lnTo>
                  <a:lnTo>
                    <a:pt x="1741601" y="3170257"/>
                  </a:lnTo>
                  <a:lnTo>
                    <a:pt x="1695155" y="3180629"/>
                  </a:lnTo>
                  <a:lnTo>
                    <a:pt x="1646493" y="3184199"/>
                  </a:lnTo>
                  <a:lnTo>
                    <a:pt x="329306" y="3184199"/>
                  </a:lnTo>
                  <a:lnTo>
                    <a:pt x="280643" y="3180629"/>
                  </a:lnTo>
                  <a:lnTo>
                    <a:pt x="234198" y="3170257"/>
                  </a:lnTo>
                  <a:lnTo>
                    <a:pt x="190479" y="3153593"/>
                  </a:lnTo>
                  <a:lnTo>
                    <a:pt x="149995" y="3131146"/>
                  </a:lnTo>
                  <a:lnTo>
                    <a:pt x="113257" y="3103426"/>
                  </a:lnTo>
                  <a:lnTo>
                    <a:pt x="80773" y="3070942"/>
                  </a:lnTo>
                  <a:lnTo>
                    <a:pt x="53053" y="3034204"/>
                  </a:lnTo>
                  <a:lnTo>
                    <a:pt x="30606" y="2993720"/>
                  </a:lnTo>
                  <a:lnTo>
                    <a:pt x="13942" y="2950001"/>
                  </a:lnTo>
                  <a:lnTo>
                    <a:pt x="3570" y="2903555"/>
                  </a:lnTo>
                  <a:lnTo>
                    <a:pt x="0" y="2854893"/>
                  </a:lnTo>
                  <a:lnTo>
                    <a:pt x="0" y="329306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93" y="4996499"/>
                  </a:moveTo>
                  <a:lnTo>
                    <a:pt x="329306" y="4996499"/>
                  </a:lnTo>
                  <a:lnTo>
                    <a:pt x="280644" y="4992929"/>
                  </a:lnTo>
                  <a:lnTo>
                    <a:pt x="234198" y="4982557"/>
                  </a:lnTo>
                  <a:lnTo>
                    <a:pt x="190479" y="4965893"/>
                  </a:lnTo>
                  <a:lnTo>
                    <a:pt x="149995" y="4943446"/>
                  </a:lnTo>
                  <a:lnTo>
                    <a:pt x="113257" y="4915726"/>
                  </a:lnTo>
                  <a:lnTo>
                    <a:pt x="80773" y="4883242"/>
                  </a:lnTo>
                  <a:lnTo>
                    <a:pt x="53053" y="4846504"/>
                  </a:lnTo>
                  <a:lnTo>
                    <a:pt x="30606" y="4806020"/>
                  </a:lnTo>
                  <a:lnTo>
                    <a:pt x="13942" y="4762301"/>
                  </a:lnTo>
                  <a:lnTo>
                    <a:pt x="3570" y="4715855"/>
                  </a:lnTo>
                  <a:lnTo>
                    <a:pt x="0" y="4667193"/>
                  </a:lnTo>
                  <a:lnTo>
                    <a:pt x="0" y="329306"/>
                  </a:lnTo>
                  <a:lnTo>
                    <a:pt x="3570" y="280644"/>
                  </a:lnTo>
                  <a:lnTo>
                    <a:pt x="13942" y="234198"/>
                  </a:lnTo>
                  <a:lnTo>
                    <a:pt x="30606" y="190479"/>
                  </a:lnTo>
                  <a:lnTo>
                    <a:pt x="53053" y="149995"/>
                  </a:lnTo>
                  <a:lnTo>
                    <a:pt x="80773" y="113257"/>
                  </a:lnTo>
                  <a:lnTo>
                    <a:pt x="113257" y="80773"/>
                  </a:lnTo>
                  <a:lnTo>
                    <a:pt x="149995" y="53053"/>
                  </a:lnTo>
                  <a:lnTo>
                    <a:pt x="190479" y="30606"/>
                  </a:lnTo>
                  <a:lnTo>
                    <a:pt x="234198" y="13942"/>
                  </a:lnTo>
                  <a:lnTo>
                    <a:pt x="280644" y="3570"/>
                  </a:lnTo>
                  <a:lnTo>
                    <a:pt x="329306" y="0"/>
                  </a:lnTo>
                  <a:lnTo>
                    <a:pt x="1646493" y="0"/>
                  </a:lnTo>
                  <a:lnTo>
                    <a:pt x="1698319" y="4102"/>
                  </a:lnTo>
                  <a:lnTo>
                    <a:pt x="1748402" y="16164"/>
                  </a:lnTo>
                  <a:lnTo>
                    <a:pt x="1795857" y="35821"/>
                  </a:lnTo>
                  <a:lnTo>
                    <a:pt x="1839801" y="62706"/>
                  </a:lnTo>
                  <a:lnTo>
                    <a:pt x="1879348" y="96451"/>
                  </a:lnTo>
                  <a:lnTo>
                    <a:pt x="1913094" y="135998"/>
                  </a:lnTo>
                  <a:lnTo>
                    <a:pt x="1939978" y="179942"/>
                  </a:lnTo>
                  <a:lnTo>
                    <a:pt x="1959635" y="227397"/>
                  </a:lnTo>
                  <a:lnTo>
                    <a:pt x="1971698" y="277480"/>
                  </a:lnTo>
                  <a:lnTo>
                    <a:pt x="1975800" y="329306"/>
                  </a:lnTo>
                  <a:lnTo>
                    <a:pt x="1975800" y="4667193"/>
                  </a:lnTo>
                  <a:lnTo>
                    <a:pt x="1972229" y="4715855"/>
                  </a:lnTo>
                  <a:lnTo>
                    <a:pt x="1961857" y="4762301"/>
                  </a:lnTo>
                  <a:lnTo>
                    <a:pt x="1945193" y="4806020"/>
                  </a:lnTo>
                  <a:lnTo>
                    <a:pt x="1922747" y="4846504"/>
                  </a:lnTo>
                  <a:lnTo>
                    <a:pt x="1895026" y="4883242"/>
                  </a:lnTo>
                  <a:lnTo>
                    <a:pt x="1862543" y="4915726"/>
                  </a:lnTo>
                  <a:lnTo>
                    <a:pt x="1825804" y="4943446"/>
                  </a:lnTo>
                  <a:lnTo>
                    <a:pt x="1785321" y="4965893"/>
                  </a:lnTo>
                  <a:lnTo>
                    <a:pt x="1741601" y="4982557"/>
                  </a:lnTo>
                  <a:lnTo>
                    <a:pt x="1695156" y="4992929"/>
                  </a:lnTo>
                  <a:lnTo>
                    <a:pt x="1646493" y="4996499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306"/>
                  </a:moveTo>
                  <a:lnTo>
                    <a:pt x="3570" y="280644"/>
                  </a:lnTo>
                  <a:lnTo>
                    <a:pt x="13942" y="234198"/>
                  </a:lnTo>
                  <a:lnTo>
                    <a:pt x="30606" y="190479"/>
                  </a:lnTo>
                  <a:lnTo>
                    <a:pt x="53053" y="149995"/>
                  </a:lnTo>
                  <a:lnTo>
                    <a:pt x="80773" y="113257"/>
                  </a:lnTo>
                  <a:lnTo>
                    <a:pt x="113257" y="80773"/>
                  </a:lnTo>
                  <a:lnTo>
                    <a:pt x="149995" y="53053"/>
                  </a:lnTo>
                  <a:lnTo>
                    <a:pt x="190479" y="30606"/>
                  </a:lnTo>
                  <a:lnTo>
                    <a:pt x="234198" y="13942"/>
                  </a:lnTo>
                  <a:lnTo>
                    <a:pt x="280644" y="3570"/>
                  </a:lnTo>
                  <a:lnTo>
                    <a:pt x="329306" y="0"/>
                  </a:lnTo>
                  <a:lnTo>
                    <a:pt x="1646493" y="0"/>
                  </a:lnTo>
                  <a:lnTo>
                    <a:pt x="1698319" y="4102"/>
                  </a:lnTo>
                  <a:lnTo>
                    <a:pt x="1748402" y="16164"/>
                  </a:lnTo>
                  <a:lnTo>
                    <a:pt x="1795857" y="35821"/>
                  </a:lnTo>
                  <a:lnTo>
                    <a:pt x="1839801" y="62706"/>
                  </a:lnTo>
                  <a:lnTo>
                    <a:pt x="1879348" y="96451"/>
                  </a:lnTo>
                  <a:lnTo>
                    <a:pt x="1913094" y="135998"/>
                  </a:lnTo>
                  <a:lnTo>
                    <a:pt x="1939978" y="179942"/>
                  </a:lnTo>
                  <a:lnTo>
                    <a:pt x="1959635" y="227397"/>
                  </a:lnTo>
                  <a:lnTo>
                    <a:pt x="1971698" y="277480"/>
                  </a:lnTo>
                  <a:lnTo>
                    <a:pt x="1975800" y="329306"/>
                  </a:lnTo>
                  <a:lnTo>
                    <a:pt x="1975800" y="4667193"/>
                  </a:lnTo>
                  <a:lnTo>
                    <a:pt x="1972229" y="4715855"/>
                  </a:lnTo>
                  <a:lnTo>
                    <a:pt x="1961857" y="4762301"/>
                  </a:lnTo>
                  <a:lnTo>
                    <a:pt x="1945193" y="4806020"/>
                  </a:lnTo>
                  <a:lnTo>
                    <a:pt x="1922747" y="4846504"/>
                  </a:lnTo>
                  <a:lnTo>
                    <a:pt x="1895026" y="4883242"/>
                  </a:lnTo>
                  <a:lnTo>
                    <a:pt x="1862543" y="4915726"/>
                  </a:lnTo>
                  <a:lnTo>
                    <a:pt x="1825804" y="4943446"/>
                  </a:lnTo>
                  <a:lnTo>
                    <a:pt x="1785321" y="4965893"/>
                  </a:lnTo>
                  <a:lnTo>
                    <a:pt x="1741601" y="4982557"/>
                  </a:lnTo>
                  <a:lnTo>
                    <a:pt x="1695156" y="4992929"/>
                  </a:lnTo>
                  <a:lnTo>
                    <a:pt x="1646493" y="4996499"/>
                  </a:lnTo>
                  <a:lnTo>
                    <a:pt x="329306" y="4996499"/>
                  </a:lnTo>
                  <a:lnTo>
                    <a:pt x="280644" y="4992929"/>
                  </a:lnTo>
                  <a:lnTo>
                    <a:pt x="234198" y="4982557"/>
                  </a:lnTo>
                  <a:lnTo>
                    <a:pt x="190479" y="4965893"/>
                  </a:lnTo>
                  <a:lnTo>
                    <a:pt x="149995" y="4943446"/>
                  </a:lnTo>
                  <a:lnTo>
                    <a:pt x="113257" y="4915726"/>
                  </a:lnTo>
                  <a:lnTo>
                    <a:pt x="80773" y="4883242"/>
                  </a:lnTo>
                  <a:lnTo>
                    <a:pt x="53053" y="4846504"/>
                  </a:lnTo>
                  <a:lnTo>
                    <a:pt x="30606" y="4806020"/>
                  </a:lnTo>
                  <a:lnTo>
                    <a:pt x="13942" y="4762301"/>
                  </a:lnTo>
                  <a:lnTo>
                    <a:pt x="3570" y="4715855"/>
                  </a:lnTo>
                  <a:lnTo>
                    <a:pt x="0" y="4667193"/>
                  </a:lnTo>
                  <a:lnTo>
                    <a:pt x="0" y="329306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38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3565">
              <a:lnSpc>
                <a:spcPct val="100000"/>
              </a:lnSpc>
              <a:spcBef>
                <a:spcPts val="100"/>
              </a:spcBef>
            </a:pPr>
            <a:r>
              <a:rPr lang="en-US" spc="-30" dirty="0"/>
              <a:t>Transformer</a:t>
            </a:r>
            <a:r>
              <a:rPr spc="-30" dirty="0"/>
              <a:t>，</a:t>
            </a:r>
            <a:r>
              <a:rPr spc="-20" dirty="0"/>
              <a:t>2017年年中</a:t>
            </a:r>
            <a:endParaRPr spc="-2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068978" y="4375300"/>
            <a:ext cx="184848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表现形式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71629" y="4375200"/>
            <a:ext cx="1340485" cy="30480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世代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3893" y="924377"/>
            <a:ext cx="3964304" cy="5704205"/>
            <a:chOff x="4113893" y="924377"/>
            <a:chExt cx="3964304" cy="570420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75488" y="981253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8" y="4992975"/>
                  </a:lnTo>
                  <a:lnTo>
                    <a:pt x="234193" y="4982603"/>
                  </a:lnTo>
                  <a:lnTo>
                    <a:pt x="190475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0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5" y="4715908"/>
                  </a:lnTo>
                  <a:lnTo>
                    <a:pt x="1961814" y="4762352"/>
                  </a:lnTo>
                  <a:lnTo>
                    <a:pt x="1945150" y="4806070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1" y="4965940"/>
                  </a:lnTo>
                  <a:lnTo>
                    <a:pt x="1741562" y="4982603"/>
                  </a:lnTo>
                  <a:lnTo>
                    <a:pt x="1695118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5" y="4715908"/>
                  </a:lnTo>
                  <a:lnTo>
                    <a:pt x="1961814" y="4762352"/>
                  </a:lnTo>
                  <a:lnTo>
                    <a:pt x="1945150" y="4806070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1" y="4965940"/>
                  </a:lnTo>
                  <a:lnTo>
                    <a:pt x="1741562" y="4982603"/>
                  </a:lnTo>
                  <a:lnTo>
                    <a:pt x="1695118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8" y="4992975"/>
                  </a:lnTo>
                  <a:lnTo>
                    <a:pt x="234193" y="4982603"/>
                  </a:lnTo>
                  <a:lnTo>
                    <a:pt x="190475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0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120243" y="2743199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6" y="3184072"/>
                  </a:moveTo>
                  <a:lnTo>
                    <a:pt x="329299" y="3184072"/>
                  </a:lnTo>
                  <a:lnTo>
                    <a:pt x="280637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7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2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4" y="179938"/>
                  </a:lnTo>
                  <a:lnTo>
                    <a:pt x="1959591" y="227392"/>
                  </a:lnTo>
                  <a:lnTo>
                    <a:pt x="1971653" y="277474"/>
                  </a:lnTo>
                  <a:lnTo>
                    <a:pt x="1975755" y="329299"/>
                  </a:lnTo>
                  <a:lnTo>
                    <a:pt x="1975755" y="2854773"/>
                  </a:lnTo>
                  <a:lnTo>
                    <a:pt x="1972185" y="2903435"/>
                  </a:lnTo>
                  <a:lnTo>
                    <a:pt x="1961813" y="2949879"/>
                  </a:lnTo>
                  <a:lnTo>
                    <a:pt x="1945149" y="2993597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1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20243" y="2743200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2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3" y="277474"/>
                  </a:lnTo>
                  <a:lnTo>
                    <a:pt x="1975755" y="329299"/>
                  </a:lnTo>
                  <a:lnTo>
                    <a:pt x="1975755" y="2854773"/>
                  </a:lnTo>
                  <a:lnTo>
                    <a:pt x="1972185" y="2903435"/>
                  </a:lnTo>
                  <a:lnTo>
                    <a:pt x="1961813" y="2949879"/>
                  </a:lnTo>
                  <a:lnTo>
                    <a:pt x="1945149" y="2993597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1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2"/>
                  </a:lnTo>
                  <a:lnTo>
                    <a:pt x="329299" y="3184072"/>
                  </a:lnTo>
                  <a:lnTo>
                    <a:pt x="280637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7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8235">
              <a:lnSpc>
                <a:spcPct val="100000"/>
              </a:lnSpc>
              <a:spcBef>
                <a:spcPts val="100"/>
              </a:spcBef>
            </a:pPr>
            <a:r>
              <a:rPr dirty="0"/>
              <a:t>2018年——LLM</a:t>
            </a:r>
            <a:r>
              <a:rPr spc="-25" dirty="0"/>
              <a:t>时代的</a:t>
            </a:r>
            <a:r>
              <a:rPr dirty="0"/>
              <a:t>开端</a:t>
            </a:r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068986" y="4375300"/>
            <a:ext cx="184848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表示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71638" y="4375300"/>
            <a:ext cx="1340485" cy="30480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生成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9900" y="3226035"/>
            <a:ext cx="17957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3515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BERT </a:t>
            </a:r>
            <a:endParaRPr lang="en-US" sz="2000" b="1" spc="-20" dirty="0">
              <a:solidFill>
                <a:srgbClr val="FF0000"/>
              </a:solidFill>
              <a:latin typeface="Arial" panose="020B0604020202090204"/>
              <a:cs typeface="Arial" panose="020B0604020202090204"/>
            </a:endParaRPr>
          </a:p>
          <a:p>
            <a:pPr marL="12700" marR="5080" indent="183515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2018年</a:t>
            </a: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10月</a:t>
            </a:r>
            <a:endParaRPr sz="20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15088" y="3226035"/>
            <a:ext cx="12534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GPT</a:t>
            </a:r>
            <a:endParaRPr sz="200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2018年</a:t>
            </a: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6月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47289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8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5"/>
                  </a:lnTo>
                  <a:lnTo>
                    <a:pt x="1961814" y="2949879"/>
                  </a:lnTo>
                  <a:lnTo>
                    <a:pt x="1945150" y="2993598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7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47289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5"/>
                  </a:lnTo>
                  <a:lnTo>
                    <a:pt x="1961814" y="2949879"/>
                  </a:lnTo>
                  <a:lnTo>
                    <a:pt x="1945150" y="2993598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7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8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1300" y="393408"/>
            <a:ext cx="696993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3631" y="1920187"/>
            <a:ext cx="7078345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5080" indent="-297815">
              <a:lnSpc>
                <a:spcPct val="100000"/>
              </a:lnSpc>
              <a:spcBef>
                <a:spcPts val="100"/>
              </a:spcBef>
              <a:buChar char="•"/>
              <a:tabLst>
                <a:tab pos="309880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在构建语言模型时，最大的挑战之一曾是缺乏任务特定的训练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数据。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09880" marR="156210" indent="-297815">
              <a:lnSpc>
                <a:spcPct val="100000"/>
              </a:lnSpc>
              <a:buChar char="•"/>
              <a:tabLst>
                <a:tab pos="309880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如果我们能学习到一种有效的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表征</a:t>
            </a: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，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并将其应用于各种下游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任务，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会怎样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？</a:t>
            </a:r>
            <a:endParaRPr sz="2400">
              <a:latin typeface="Arial MT"/>
              <a:cs typeface="Arial MT"/>
            </a:endParaRPr>
          </a:p>
          <a:p>
            <a:pPr marL="766445" lvl="1" indent="-296545">
              <a:lnSpc>
                <a:spcPct val="100000"/>
              </a:lnSpc>
              <a:buChar char="•"/>
              <a:tabLst>
                <a:tab pos="76644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Word2vec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(2013)</a:t>
            </a:r>
            <a:endParaRPr sz="2400">
              <a:latin typeface="Arial MT"/>
              <a:cs typeface="Arial MT"/>
            </a:endParaRPr>
          </a:p>
          <a:p>
            <a:pPr marL="766445" lvl="1" indent="-296545">
              <a:lnSpc>
                <a:spcPct val="100000"/>
              </a:lnSpc>
              <a:buChar char="•"/>
              <a:tabLst>
                <a:tab pos="766445" algn="l"/>
              </a:tabLst>
            </a:pPr>
            <a:r>
              <a:rPr sz="2400" spc="-20" dirty="0">
                <a:solidFill>
                  <a:srgbClr val="374151"/>
                </a:solidFill>
                <a:latin typeface="Arial MT"/>
                <a:cs typeface="Arial MT"/>
              </a:rPr>
              <a:t>GloVe 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(2014)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41" y="1510079"/>
            <a:ext cx="56515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预训练语料库：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英语维基百科 - 25亿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词</a:t>
            </a: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书籍语料库 - 8亿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词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object 6"/>
          <p:cNvSpPr txBox="1"/>
          <p:nvPr/>
        </p:nvSpPr>
        <p:spPr>
          <a:xfrm>
            <a:off x="241300" y="393408"/>
            <a:ext cx="6969931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>
                <a:solidFill>
                  <a:srgbClr val="000000"/>
                </a:solidFill>
              </a:rPr>
              <a:t>BERT -</a:t>
            </a:r>
            <a:r>
              <a:rPr lang="en-US" spc="-10">
                <a:solidFill>
                  <a:srgbClr val="000000"/>
                </a:solidFill>
              </a:rPr>
              <a:t> 双向</a:t>
            </a:r>
            <a:r>
              <a:rPr lang="ko-KR" altLang="en-US" spc="-10">
                <a:solidFill>
                  <a:srgbClr val="000000"/>
                </a:solidFill>
              </a:rPr>
              <a:t>编码器</a:t>
            </a:r>
            <a:endParaRPr lang="ko-KR" altLang="en-US"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41" y="1510079"/>
            <a:ext cx="565150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预训练语料库：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英语维基百科 - 25亿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词</a:t>
            </a: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书籍语料库 - 8亿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词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预训练任务：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MLM（遮蔽语言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建模）</a:t>
            </a: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NSP（下一句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预测）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41" y="1510079"/>
            <a:ext cx="565150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预训练语料库：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英语维基百科 - 25亿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词</a:t>
            </a: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书籍语料库 - 8亿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词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预训练任务：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MLM（掩码语言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建模）</a:t>
            </a: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NSP（下一句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预测）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预训练结果：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BERT-Base – 1.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1亿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参数</a:t>
            </a: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BERT-Large – 3.4亿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参数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DA0A9-AEE8-4961-892A-9A031FCB256E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Spring 2025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64D4F-2754-45B5-A84F-43D41F98A5C0}" type="slidenum">
              <a:rPr lang="en-US" smtClean="0"/>
            </a:fld>
            <a:endParaRPr lang="en-US"/>
          </a:p>
        </p:txBody>
      </p:sp>
      <p:pic>
        <p:nvPicPr>
          <p:cNvPr id="1028" name="Picture 4" descr="A comparison between BERT Base and BERT Large. Image by author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469" y="1852269"/>
            <a:ext cx="6819331" cy="434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8"/>
          <p:cNvSpPr txBox="1"/>
          <p:nvPr/>
        </p:nvSpPr>
        <p:spPr>
          <a:xfrm>
            <a:off x="755650" y="1963045"/>
            <a:ext cx="565150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预训练语料库：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英语维基百科 - 25亿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词</a:t>
            </a: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书籍语料库 - 8亿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词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预训练任务：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MLM（掩码语言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建模）</a:t>
            </a: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NSP（下一句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预测）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预训练结果：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BERT-Base – 1.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1亿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参数</a:t>
            </a: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BERT-Large – 3.4亿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参数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774" y="1808798"/>
            <a:ext cx="5069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MLM（</a:t>
            </a:r>
            <a:r>
              <a:rPr lang="zh-CN" altLang="en-US"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掩码</a:t>
            </a:r>
            <a:r>
              <a:rPr sz="2400" b="1" dirty="0" err="1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语言</a:t>
            </a:r>
            <a:r>
              <a:rPr sz="2400" b="1" spc="-10" dirty="0" err="1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建模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）</a:t>
            </a:r>
            <a:endParaRPr sz="24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79986" y="5391801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66240" y="5410835"/>
            <a:ext cx="62166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如何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74576" y="5391799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23393" y="5410790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是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66410" y="5391799"/>
            <a:ext cx="927735" cy="356235"/>
          </a:xfrm>
          <a:custGeom>
            <a:avLst/>
            <a:gdLst/>
            <a:ahLst/>
            <a:cxnLst/>
            <a:rect l="l" t="t" r="r" b="b"/>
            <a:pathLst>
              <a:path w="927735" h="356235">
                <a:moveTo>
                  <a:pt x="867924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584" y="36627"/>
                </a:lnTo>
                <a:lnTo>
                  <a:pt x="4662" y="36237"/>
                </a:lnTo>
                <a:lnTo>
                  <a:pt x="17378" y="17377"/>
                </a:lnTo>
                <a:lnTo>
                  <a:pt x="36237" y="4662"/>
                </a:lnTo>
                <a:lnTo>
                  <a:pt x="59332" y="0"/>
                </a:lnTo>
                <a:lnTo>
                  <a:pt x="867924" y="0"/>
                </a:lnTo>
                <a:lnTo>
                  <a:pt x="909878" y="17377"/>
                </a:lnTo>
                <a:lnTo>
                  <a:pt x="927257" y="59332"/>
                </a:lnTo>
                <a:lnTo>
                  <a:pt x="927257" y="296656"/>
                </a:lnTo>
                <a:lnTo>
                  <a:pt x="922594" y="319751"/>
                </a:lnTo>
                <a:lnTo>
                  <a:pt x="909878" y="338610"/>
                </a:lnTo>
                <a:lnTo>
                  <a:pt x="891019" y="351326"/>
                </a:lnTo>
                <a:lnTo>
                  <a:pt x="867924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14474" y="5443302"/>
            <a:ext cx="631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&lt;MASK&gt;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05019" y="5391799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643387" y="5410790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近来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35236" y="5391799"/>
            <a:ext cx="1120140" cy="356235"/>
          </a:xfrm>
          <a:custGeom>
            <a:avLst/>
            <a:gdLst/>
            <a:ahLst/>
            <a:cxnLst/>
            <a:rect l="l" t="t" r="r" b="b"/>
            <a:pathLst>
              <a:path w="1120140" h="356235">
                <a:moveTo>
                  <a:pt x="1060282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1060282" y="0"/>
                </a:lnTo>
                <a:lnTo>
                  <a:pt x="1102237" y="17377"/>
                </a:lnTo>
                <a:lnTo>
                  <a:pt x="1119615" y="59332"/>
                </a:lnTo>
                <a:lnTo>
                  <a:pt x="1119615" y="296656"/>
                </a:lnTo>
                <a:lnTo>
                  <a:pt x="1114952" y="319751"/>
                </a:lnTo>
                <a:lnTo>
                  <a:pt x="1102236" y="338610"/>
                </a:lnTo>
                <a:lnTo>
                  <a:pt x="1083377" y="351326"/>
                </a:lnTo>
                <a:lnTo>
                  <a:pt x="1060282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820481" y="5410790"/>
            <a:ext cx="549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今天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62109" y="5391799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2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979661" y="5410790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4291" y="538219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5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5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82600" y="5361940"/>
            <a:ext cx="892810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&lt;CLS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75136" y="4817326"/>
            <a:ext cx="1974214" cy="434340"/>
          </a:xfrm>
          <a:custGeom>
            <a:avLst/>
            <a:gdLst/>
            <a:ahLst/>
            <a:cxnLst/>
            <a:rect l="l" t="t" r="r" b="b"/>
            <a:pathLst>
              <a:path w="1974214" h="434339">
                <a:moveTo>
                  <a:pt x="1480323" y="434124"/>
                </a:moveTo>
                <a:lnTo>
                  <a:pt x="493441" y="434124"/>
                </a:lnTo>
                <a:lnTo>
                  <a:pt x="493441" y="217062"/>
                </a:lnTo>
                <a:lnTo>
                  <a:pt x="0" y="217062"/>
                </a:lnTo>
                <a:lnTo>
                  <a:pt x="986882" y="0"/>
                </a:lnTo>
                <a:lnTo>
                  <a:pt x="1973765" y="217062"/>
                </a:lnTo>
                <a:lnTo>
                  <a:pt x="1480323" y="217062"/>
                </a:lnTo>
                <a:lnTo>
                  <a:pt x="1480323" y="43412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4291" y="4320987"/>
            <a:ext cx="7231380" cy="356235"/>
          </a:xfrm>
          <a:custGeom>
            <a:avLst/>
            <a:gdLst/>
            <a:ahLst/>
            <a:cxnLst/>
            <a:rect l="l" t="t" r="r" b="b"/>
            <a:pathLst>
              <a:path w="7231380" h="356235">
                <a:moveTo>
                  <a:pt x="7171445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584" y="36627"/>
                </a:lnTo>
                <a:lnTo>
                  <a:pt x="4662" y="36237"/>
                </a:lnTo>
                <a:lnTo>
                  <a:pt x="17378" y="17377"/>
                </a:lnTo>
                <a:lnTo>
                  <a:pt x="36237" y="4662"/>
                </a:lnTo>
                <a:lnTo>
                  <a:pt x="59332" y="0"/>
                </a:lnTo>
                <a:lnTo>
                  <a:pt x="7171445" y="0"/>
                </a:lnTo>
                <a:lnTo>
                  <a:pt x="7213400" y="17377"/>
                </a:lnTo>
                <a:lnTo>
                  <a:pt x="7230777" y="59332"/>
                </a:lnTo>
                <a:lnTo>
                  <a:pt x="7230777" y="296656"/>
                </a:lnTo>
                <a:lnTo>
                  <a:pt x="7226115" y="319751"/>
                </a:lnTo>
                <a:lnTo>
                  <a:pt x="7213399" y="338610"/>
                </a:lnTo>
                <a:lnTo>
                  <a:pt x="7194540" y="351326"/>
                </a:lnTo>
                <a:lnTo>
                  <a:pt x="7171445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17330" y="4339978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BERT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75136" y="3723437"/>
            <a:ext cx="1974214" cy="434340"/>
          </a:xfrm>
          <a:custGeom>
            <a:avLst/>
            <a:gdLst/>
            <a:ahLst/>
            <a:cxnLst/>
            <a:rect l="l" t="t" r="r" b="b"/>
            <a:pathLst>
              <a:path w="1974214" h="434339">
                <a:moveTo>
                  <a:pt x="1480323" y="434124"/>
                </a:moveTo>
                <a:lnTo>
                  <a:pt x="493441" y="434124"/>
                </a:lnTo>
                <a:lnTo>
                  <a:pt x="493441" y="217062"/>
                </a:lnTo>
                <a:lnTo>
                  <a:pt x="0" y="217062"/>
                </a:lnTo>
                <a:lnTo>
                  <a:pt x="986882" y="0"/>
                </a:lnTo>
                <a:lnTo>
                  <a:pt x="1973765" y="217062"/>
                </a:lnTo>
                <a:lnTo>
                  <a:pt x="1480323" y="217062"/>
                </a:lnTo>
                <a:lnTo>
                  <a:pt x="1480323" y="43412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78423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764452" y="3223015"/>
            <a:ext cx="5229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如何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73012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821830" y="3223014"/>
            <a:ext cx="32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是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5238" y="3204024"/>
            <a:ext cx="892810" cy="356235"/>
          </a:xfrm>
          <a:custGeom>
            <a:avLst/>
            <a:gdLst/>
            <a:ahLst/>
            <a:cxnLst/>
            <a:rect l="l" t="t" r="r" b="b"/>
            <a:pathLst>
              <a:path w="892810" h="356235">
                <a:moveTo>
                  <a:pt x="833360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584" y="36627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833360" y="0"/>
                </a:lnTo>
                <a:lnTo>
                  <a:pt x="875314" y="17378"/>
                </a:lnTo>
                <a:lnTo>
                  <a:pt x="892692" y="59332"/>
                </a:lnTo>
                <a:lnTo>
                  <a:pt x="892692" y="296656"/>
                </a:lnTo>
                <a:lnTo>
                  <a:pt x="888030" y="319751"/>
                </a:lnTo>
                <a:lnTo>
                  <a:pt x="875314" y="338610"/>
                </a:lnTo>
                <a:lnTo>
                  <a:pt x="856455" y="351326"/>
                </a:lnTo>
                <a:lnTo>
                  <a:pt x="833360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716021" y="3255526"/>
            <a:ext cx="6318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&lt;MASK&gt;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03455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8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8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2" y="17378"/>
                </a:lnTo>
                <a:lnTo>
                  <a:pt x="822960" y="59332"/>
                </a:lnTo>
                <a:lnTo>
                  <a:pt x="822960" y="296656"/>
                </a:lnTo>
                <a:lnTo>
                  <a:pt x="818297" y="319751"/>
                </a:lnTo>
                <a:lnTo>
                  <a:pt x="805582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741824" y="3223014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今天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33673" y="3204024"/>
            <a:ext cx="1120140" cy="356235"/>
          </a:xfrm>
          <a:custGeom>
            <a:avLst/>
            <a:gdLst/>
            <a:ahLst/>
            <a:cxnLst/>
            <a:rect l="l" t="t" r="r" b="b"/>
            <a:pathLst>
              <a:path w="1120140" h="356235">
                <a:moveTo>
                  <a:pt x="1060282" y="355988"/>
                </a:moveTo>
                <a:lnTo>
                  <a:pt x="59332" y="355988"/>
                </a:lnTo>
                <a:lnTo>
                  <a:pt x="36238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8" y="4662"/>
                </a:lnTo>
                <a:lnTo>
                  <a:pt x="59332" y="0"/>
                </a:lnTo>
                <a:lnTo>
                  <a:pt x="1060282" y="0"/>
                </a:lnTo>
                <a:lnTo>
                  <a:pt x="1102237" y="17378"/>
                </a:lnTo>
                <a:lnTo>
                  <a:pt x="1119615" y="59332"/>
                </a:lnTo>
                <a:lnTo>
                  <a:pt x="1119615" y="296656"/>
                </a:lnTo>
                <a:lnTo>
                  <a:pt x="1114952" y="319751"/>
                </a:lnTo>
                <a:lnTo>
                  <a:pt x="1102237" y="338610"/>
                </a:lnTo>
                <a:lnTo>
                  <a:pt x="1083377" y="351326"/>
                </a:lnTo>
                <a:lnTo>
                  <a:pt x="1060282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918918" y="3223014"/>
            <a:ext cx="549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今天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960547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078098" y="3223014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2729" y="3194418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69839" y="3197152"/>
            <a:ext cx="589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&lt;CLS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968262" y="2252545"/>
            <a:ext cx="537210" cy="801370"/>
          </a:xfrm>
          <a:custGeom>
            <a:avLst/>
            <a:gdLst/>
            <a:ahLst/>
            <a:cxnLst/>
            <a:rect l="l" t="t" r="r" b="b"/>
            <a:pathLst>
              <a:path w="537210" h="801369">
                <a:moveTo>
                  <a:pt x="134189" y="801246"/>
                </a:moveTo>
                <a:lnTo>
                  <a:pt x="0" y="801246"/>
                </a:lnTo>
                <a:lnTo>
                  <a:pt x="0" y="291088"/>
                </a:lnTo>
                <a:lnTo>
                  <a:pt x="4550" y="245945"/>
                </a:lnTo>
                <a:lnTo>
                  <a:pt x="17602" y="203900"/>
                </a:lnTo>
                <a:lnTo>
                  <a:pt x="38254" y="165851"/>
                </a:lnTo>
                <a:lnTo>
                  <a:pt x="65606" y="132700"/>
                </a:lnTo>
                <a:lnTo>
                  <a:pt x="98756" y="105349"/>
                </a:lnTo>
                <a:lnTo>
                  <a:pt x="136805" y="84697"/>
                </a:lnTo>
                <a:lnTo>
                  <a:pt x="178851" y="71645"/>
                </a:lnTo>
                <a:lnTo>
                  <a:pt x="223994" y="67094"/>
                </a:lnTo>
                <a:lnTo>
                  <a:pt x="402567" y="67094"/>
                </a:lnTo>
                <a:lnTo>
                  <a:pt x="402567" y="0"/>
                </a:lnTo>
                <a:lnTo>
                  <a:pt x="536757" y="134189"/>
                </a:lnTo>
                <a:lnTo>
                  <a:pt x="469662" y="201283"/>
                </a:lnTo>
                <a:lnTo>
                  <a:pt x="223994" y="201283"/>
                </a:lnTo>
                <a:lnTo>
                  <a:pt x="189038" y="208341"/>
                </a:lnTo>
                <a:lnTo>
                  <a:pt x="160492" y="227587"/>
                </a:lnTo>
                <a:lnTo>
                  <a:pt x="141246" y="256132"/>
                </a:lnTo>
                <a:lnTo>
                  <a:pt x="134189" y="291088"/>
                </a:lnTo>
                <a:lnTo>
                  <a:pt x="134189" y="801246"/>
                </a:lnTo>
                <a:close/>
              </a:path>
              <a:path w="537210" h="801369">
                <a:moveTo>
                  <a:pt x="402567" y="268378"/>
                </a:moveTo>
                <a:lnTo>
                  <a:pt x="402567" y="201283"/>
                </a:lnTo>
                <a:lnTo>
                  <a:pt x="469662" y="201283"/>
                </a:lnTo>
                <a:lnTo>
                  <a:pt x="402567" y="26837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638020" y="1906095"/>
            <a:ext cx="443230" cy="1074420"/>
          </a:xfrm>
          <a:custGeom>
            <a:avLst/>
            <a:gdLst/>
            <a:ahLst/>
            <a:cxnLst/>
            <a:rect l="l" t="t" r="r" b="b"/>
            <a:pathLst>
              <a:path w="443229" h="1074420">
                <a:moveTo>
                  <a:pt x="443085" y="1073906"/>
                </a:moveTo>
                <a:lnTo>
                  <a:pt x="373061" y="1072024"/>
                </a:lnTo>
                <a:lnTo>
                  <a:pt x="312245" y="1066783"/>
                </a:lnTo>
                <a:lnTo>
                  <a:pt x="264287" y="1058790"/>
                </a:lnTo>
                <a:lnTo>
                  <a:pt x="221542" y="1036984"/>
                </a:lnTo>
                <a:lnTo>
                  <a:pt x="221542" y="573875"/>
                </a:lnTo>
                <a:lnTo>
                  <a:pt x="210248" y="562205"/>
                </a:lnTo>
                <a:lnTo>
                  <a:pt x="178798" y="552070"/>
                </a:lnTo>
                <a:lnTo>
                  <a:pt x="130840" y="544077"/>
                </a:lnTo>
                <a:lnTo>
                  <a:pt x="70024" y="538835"/>
                </a:lnTo>
                <a:lnTo>
                  <a:pt x="0" y="536953"/>
                </a:lnTo>
                <a:lnTo>
                  <a:pt x="70024" y="535071"/>
                </a:lnTo>
                <a:lnTo>
                  <a:pt x="130840" y="529829"/>
                </a:lnTo>
                <a:lnTo>
                  <a:pt x="178798" y="521837"/>
                </a:lnTo>
                <a:lnTo>
                  <a:pt x="221542" y="500031"/>
                </a:lnTo>
                <a:lnTo>
                  <a:pt x="221542" y="36922"/>
                </a:lnTo>
                <a:lnTo>
                  <a:pt x="232837" y="25252"/>
                </a:lnTo>
                <a:lnTo>
                  <a:pt x="264287" y="15116"/>
                </a:lnTo>
                <a:lnTo>
                  <a:pt x="312245" y="7123"/>
                </a:lnTo>
                <a:lnTo>
                  <a:pt x="373061" y="1882"/>
                </a:lnTo>
                <a:lnTo>
                  <a:pt x="443085" y="0"/>
                </a:lnTo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148901" y="1828675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6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1" y="351326"/>
                </a:lnTo>
                <a:lnTo>
                  <a:pt x="763626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148901" y="22449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6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6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1" y="351326"/>
                </a:lnTo>
                <a:lnTo>
                  <a:pt x="763626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145207" y="265860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2" y="17378"/>
                </a:lnTo>
                <a:lnTo>
                  <a:pt x="822960" y="59332"/>
                </a:lnTo>
                <a:lnTo>
                  <a:pt x="822960" y="296656"/>
                </a:lnTo>
                <a:lnTo>
                  <a:pt x="818297" y="319751"/>
                </a:lnTo>
                <a:lnTo>
                  <a:pt x="805582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341461" y="1705736"/>
            <a:ext cx="438150" cy="1271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925">
              <a:lnSpc>
                <a:spcPct val="152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你</a:t>
            </a:r>
            <a:r>
              <a:rPr sz="1800" spc="-20" dirty="0">
                <a:latin typeface="Calibri"/>
                <a:cs typeface="Calibri"/>
              </a:rPr>
              <a:t> 他们</a:t>
            </a:r>
            <a:endParaRPr sz="1800">
              <a:latin typeface="Calibri"/>
              <a:cs typeface="Calibri"/>
            </a:endParaRPr>
          </a:p>
          <a:p>
            <a:pPr marL="100330">
              <a:lnSpc>
                <a:spcPct val="100000"/>
              </a:lnSpc>
              <a:spcBef>
                <a:spcPts val="1095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039149" y="1828675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039149" y="22449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035456" y="265860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60" y="59332"/>
                </a:lnTo>
                <a:lnTo>
                  <a:pt x="822960" y="296656"/>
                </a:lnTo>
                <a:lnTo>
                  <a:pt x="818297" y="319751"/>
                </a:lnTo>
                <a:lnTo>
                  <a:pt x="805582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6240360" y="1705736"/>
            <a:ext cx="420370" cy="127190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800" spc="-25" dirty="0">
                <a:latin typeface="Calibri"/>
                <a:cs typeface="Calibri"/>
              </a:rPr>
              <a:t>60%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spc="-25" dirty="0">
                <a:latin typeface="Calibri"/>
                <a:cs typeface="Calibri"/>
              </a:rPr>
              <a:t>20%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095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51" name="object 51"/>
          <p:cNvSpPr txBox="1"/>
          <p:nvPr/>
        </p:nvSpPr>
        <p:spPr>
          <a:xfrm>
            <a:off x="3649967" y="2592777"/>
            <a:ext cx="763270" cy="321945"/>
          </a:xfrm>
          <a:prstGeom prst="rect">
            <a:avLst/>
          </a:prstGeom>
          <a:solidFill>
            <a:srgbClr val="7F7F7F"/>
          </a:solidFill>
          <a:ln w="12699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252730" marR="111125" indent="-134620">
              <a:lnSpc>
                <a:spcPct val="100000"/>
              </a:lnSpc>
              <a:spcBef>
                <a:spcPts val="25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预测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5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6740" y="1595689"/>
            <a:ext cx="4608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NSP（下一句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预测）</a:t>
            </a:r>
            <a:endParaRPr sz="24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79986" y="5391801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764466" y="5410791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74576" y="5391799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59056" y="541079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66410" y="5391799"/>
            <a:ext cx="927735" cy="356235"/>
          </a:xfrm>
          <a:custGeom>
            <a:avLst/>
            <a:gdLst/>
            <a:ahLst/>
            <a:cxnLst/>
            <a:rect l="l" t="t" r="r" b="b"/>
            <a:pathLst>
              <a:path w="927735" h="356235">
                <a:moveTo>
                  <a:pt x="867924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584" y="36627"/>
                </a:lnTo>
                <a:lnTo>
                  <a:pt x="4662" y="36237"/>
                </a:lnTo>
                <a:lnTo>
                  <a:pt x="17378" y="17377"/>
                </a:lnTo>
                <a:lnTo>
                  <a:pt x="36237" y="4662"/>
                </a:lnTo>
                <a:lnTo>
                  <a:pt x="59332" y="0"/>
                </a:lnTo>
                <a:lnTo>
                  <a:pt x="867924" y="0"/>
                </a:lnTo>
                <a:lnTo>
                  <a:pt x="909878" y="17377"/>
                </a:lnTo>
                <a:lnTo>
                  <a:pt x="927257" y="59332"/>
                </a:lnTo>
                <a:lnTo>
                  <a:pt x="927257" y="296656"/>
                </a:lnTo>
                <a:lnTo>
                  <a:pt x="922594" y="319751"/>
                </a:lnTo>
                <a:lnTo>
                  <a:pt x="909878" y="338610"/>
                </a:lnTo>
                <a:lnTo>
                  <a:pt x="891019" y="351326"/>
                </a:lnTo>
                <a:lnTo>
                  <a:pt x="867924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36109" y="5410790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05019" y="5391799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789499" y="541079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35236" y="5391799"/>
            <a:ext cx="1120140" cy="356235"/>
          </a:xfrm>
          <a:custGeom>
            <a:avLst/>
            <a:gdLst/>
            <a:ahLst/>
            <a:cxnLst/>
            <a:rect l="l" t="t" r="r" b="b"/>
            <a:pathLst>
              <a:path w="1120140" h="356235">
                <a:moveTo>
                  <a:pt x="1060282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1060282" y="0"/>
                </a:lnTo>
                <a:lnTo>
                  <a:pt x="1102237" y="17377"/>
                </a:lnTo>
                <a:lnTo>
                  <a:pt x="1119615" y="59332"/>
                </a:lnTo>
                <a:lnTo>
                  <a:pt x="1119615" y="296656"/>
                </a:lnTo>
                <a:lnTo>
                  <a:pt x="1114952" y="319751"/>
                </a:lnTo>
                <a:lnTo>
                  <a:pt x="1102236" y="338610"/>
                </a:lnTo>
                <a:lnTo>
                  <a:pt x="1083377" y="351326"/>
                </a:lnTo>
                <a:lnTo>
                  <a:pt x="1060282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968044" y="541079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862109" y="5391799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2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979661" y="5410790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4291" y="538219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5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5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71402" y="5384928"/>
            <a:ext cx="589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&lt;CLS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75136" y="4817326"/>
            <a:ext cx="1974214" cy="434340"/>
          </a:xfrm>
          <a:custGeom>
            <a:avLst/>
            <a:gdLst/>
            <a:ahLst/>
            <a:cxnLst/>
            <a:rect l="l" t="t" r="r" b="b"/>
            <a:pathLst>
              <a:path w="1974214" h="434339">
                <a:moveTo>
                  <a:pt x="1480323" y="434124"/>
                </a:moveTo>
                <a:lnTo>
                  <a:pt x="493441" y="434124"/>
                </a:lnTo>
                <a:lnTo>
                  <a:pt x="493441" y="217062"/>
                </a:lnTo>
                <a:lnTo>
                  <a:pt x="0" y="217062"/>
                </a:lnTo>
                <a:lnTo>
                  <a:pt x="986882" y="0"/>
                </a:lnTo>
                <a:lnTo>
                  <a:pt x="1973765" y="217062"/>
                </a:lnTo>
                <a:lnTo>
                  <a:pt x="1480323" y="217062"/>
                </a:lnTo>
                <a:lnTo>
                  <a:pt x="1480323" y="43412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4291" y="4320987"/>
            <a:ext cx="7231380" cy="356235"/>
          </a:xfrm>
          <a:custGeom>
            <a:avLst/>
            <a:gdLst/>
            <a:ahLst/>
            <a:cxnLst/>
            <a:rect l="l" t="t" r="r" b="b"/>
            <a:pathLst>
              <a:path w="7231380" h="356235">
                <a:moveTo>
                  <a:pt x="7171445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584" y="36627"/>
                </a:lnTo>
                <a:lnTo>
                  <a:pt x="4662" y="36237"/>
                </a:lnTo>
                <a:lnTo>
                  <a:pt x="17378" y="17377"/>
                </a:lnTo>
                <a:lnTo>
                  <a:pt x="36237" y="4662"/>
                </a:lnTo>
                <a:lnTo>
                  <a:pt x="59332" y="0"/>
                </a:lnTo>
                <a:lnTo>
                  <a:pt x="7171445" y="0"/>
                </a:lnTo>
                <a:lnTo>
                  <a:pt x="7213400" y="17377"/>
                </a:lnTo>
                <a:lnTo>
                  <a:pt x="7230777" y="59332"/>
                </a:lnTo>
                <a:lnTo>
                  <a:pt x="7230777" y="296656"/>
                </a:lnTo>
                <a:lnTo>
                  <a:pt x="7226115" y="319751"/>
                </a:lnTo>
                <a:lnTo>
                  <a:pt x="7213399" y="338610"/>
                </a:lnTo>
                <a:lnTo>
                  <a:pt x="7194540" y="351326"/>
                </a:lnTo>
                <a:lnTo>
                  <a:pt x="7171445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817330" y="4339978"/>
            <a:ext cx="504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BERT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75136" y="3723437"/>
            <a:ext cx="1974214" cy="434340"/>
          </a:xfrm>
          <a:custGeom>
            <a:avLst/>
            <a:gdLst/>
            <a:ahLst/>
            <a:cxnLst/>
            <a:rect l="l" t="t" r="r" b="b"/>
            <a:pathLst>
              <a:path w="1974214" h="434339">
                <a:moveTo>
                  <a:pt x="1480323" y="434124"/>
                </a:moveTo>
                <a:lnTo>
                  <a:pt x="493441" y="434124"/>
                </a:lnTo>
                <a:lnTo>
                  <a:pt x="493441" y="217062"/>
                </a:lnTo>
                <a:lnTo>
                  <a:pt x="0" y="217062"/>
                </a:lnTo>
                <a:lnTo>
                  <a:pt x="986882" y="0"/>
                </a:lnTo>
                <a:lnTo>
                  <a:pt x="1973765" y="217062"/>
                </a:lnTo>
                <a:lnTo>
                  <a:pt x="1480323" y="217062"/>
                </a:lnTo>
                <a:lnTo>
                  <a:pt x="1480323" y="43412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78423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862903" y="322301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73012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857493" y="322301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585238" y="3204024"/>
            <a:ext cx="892810" cy="356235"/>
          </a:xfrm>
          <a:custGeom>
            <a:avLst/>
            <a:gdLst/>
            <a:ahLst/>
            <a:cxnLst/>
            <a:rect l="l" t="t" r="r" b="b"/>
            <a:pathLst>
              <a:path w="892810" h="356235">
                <a:moveTo>
                  <a:pt x="833360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584" y="36627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833360" y="0"/>
                </a:lnTo>
                <a:lnTo>
                  <a:pt x="875314" y="17378"/>
                </a:lnTo>
                <a:lnTo>
                  <a:pt x="892692" y="59332"/>
                </a:lnTo>
                <a:lnTo>
                  <a:pt x="892692" y="296656"/>
                </a:lnTo>
                <a:lnTo>
                  <a:pt x="888030" y="319751"/>
                </a:lnTo>
                <a:lnTo>
                  <a:pt x="875314" y="338610"/>
                </a:lnTo>
                <a:lnTo>
                  <a:pt x="856455" y="351326"/>
                </a:lnTo>
                <a:lnTo>
                  <a:pt x="833360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737655" y="3223014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03455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8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8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2" y="17378"/>
                </a:lnTo>
                <a:lnTo>
                  <a:pt x="822960" y="59332"/>
                </a:lnTo>
                <a:lnTo>
                  <a:pt x="822960" y="296656"/>
                </a:lnTo>
                <a:lnTo>
                  <a:pt x="818297" y="319751"/>
                </a:lnTo>
                <a:lnTo>
                  <a:pt x="805582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887936" y="322301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33673" y="3204024"/>
            <a:ext cx="1120140" cy="356235"/>
          </a:xfrm>
          <a:custGeom>
            <a:avLst/>
            <a:gdLst/>
            <a:ahLst/>
            <a:cxnLst/>
            <a:rect l="l" t="t" r="r" b="b"/>
            <a:pathLst>
              <a:path w="1120140" h="356235">
                <a:moveTo>
                  <a:pt x="1060282" y="355988"/>
                </a:moveTo>
                <a:lnTo>
                  <a:pt x="59332" y="355988"/>
                </a:lnTo>
                <a:lnTo>
                  <a:pt x="36238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8" y="4662"/>
                </a:lnTo>
                <a:lnTo>
                  <a:pt x="59332" y="0"/>
                </a:lnTo>
                <a:lnTo>
                  <a:pt x="1060282" y="0"/>
                </a:lnTo>
                <a:lnTo>
                  <a:pt x="1102237" y="17378"/>
                </a:lnTo>
                <a:lnTo>
                  <a:pt x="1119615" y="59332"/>
                </a:lnTo>
                <a:lnTo>
                  <a:pt x="1119615" y="296656"/>
                </a:lnTo>
                <a:lnTo>
                  <a:pt x="1114952" y="319751"/>
                </a:lnTo>
                <a:lnTo>
                  <a:pt x="1102237" y="338610"/>
                </a:lnTo>
                <a:lnTo>
                  <a:pt x="1083377" y="351326"/>
                </a:lnTo>
                <a:lnTo>
                  <a:pt x="1060282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066481" y="322301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960547" y="320402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59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078098" y="3223014"/>
            <a:ext cx="588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&lt;SEP&gt;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2729" y="3194418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70AD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69839" y="3197152"/>
            <a:ext cx="589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&lt;CLS</a:t>
            </a:r>
            <a:r>
              <a:rPr sz="2000" spc="-10" dirty="0">
                <a:latin typeface="Calibri"/>
                <a:cs typeface="Calibri"/>
              </a:rPr>
              <a:t>&gt;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913604" y="2228131"/>
            <a:ext cx="537210" cy="801370"/>
          </a:xfrm>
          <a:custGeom>
            <a:avLst/>
            <a:gdLst/>
            <a:ahLst/>
            <a:cxnLst/>
            <a:rect l="l" t="t" r="r" b="b"/>
            <a:pathLst>
              <a:path w="537210" h="801369">
                <a:moveTo>
                  <a:pt x="134189" y="801246"/>
                </a:moveTo>
                <a:lnTo>
                  <a:pt x="0" y="801246"/>
                </a:lnTo>
                <a:lnTo>
                  <a:pt x="0" y="291088"/>
                </a:lnTo>
                <a:lnTo>
                  <a:pt x="4550" y="245946"/>
                </a:lnTo>
                <a:lnTo>
                  <a:pt x="17602" y="203900"/>
                </a:lnTo>
                <a:lnTo>
                  <a:pt x="38254" y="165851"/>
                </a:lnTo>
                <a:lnTo>
                  <a:pt x="65606" y="132700"/>
                </a:lnTo>
                <a:lnTo>
                  <a:pt x="98756" y="105349"/>
                </a:lnTo>
                <a:lnTo>
                  <a:pt x="136805" y="84697"/>
                </a:lnTo>
                <a:lnTo>
                  <a:pt x="178851" y="71645"/>
                </a:lnTo>
                <a:lnTo>
                  <a:pt x="223993" y="67094"/>
                </a:lnTo>
                <a:lnTo>
                  <a:pt x="402567" y="67094"/>
                </a:lnTo>
                <a:lnTo>
                  <a:pt x="402567" y="0"/>
                </a:lnTo>
                <a:lnTo>
                  <a:pt x="536756" y="134189"/>
                </a:lnTo>
                <a:lnTo>
                  <a:pt x="469662" y="201283"/>
                </a:lnTo>
                <a:lnTo>
                  <a:pt x="223993" y="201283"/>
                </a:lnTo>
                <a:lnTo>
                  <a:pt x="189037" y="208341"/>
                </a:lnTo>
                <a:lnTo>
                  <a:pt x="160492" y="227587"/>
                </a:lnTo>
                <a:lnTo>
                  <a:pt x="141246" y="256132"/>
                </a:lnTo>
                <a:lnTo>
                  <a:pt x="134189" y="291088"/>
                </a:lnTo>
                <a:lnTo>
                  <a:pt x="134189" y="801246"/>
                </a:lnTo>
                <a:close/>
              </a:path>
              <a:path w="537210" h="801369">
                <a:moveTo>
                  <a:pt x="402567" y="268378"/>
                </a:moveTo>
                <a:lnTo>
                  <a:pt x="402567" y="201283"/>
                </a:lnTo>
                <a:lnTo>
                  <a:pt x="469662" y="201283"/>
                </a:lnTo>
                <a:lnTo>
                  <a:pt x="402567" y="26837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538352" y="1979044"/>
            <a:ext cx="443865" cy="801370"/>
          </a:xfrm>
          <a:custGeom>
            <a:avLst/>
            <a:gdLst/>
            <a:ahLst/>
            <a:cxnLst/>
            <a:rect l="l" t="t" r="r" b="b"/>
            <a:pathLst>
              <a:path w="443864" h="801369">
                <a:moveTo>
                  <a:pt x="443591" y="801247"/>
                </a:moveTo>
                <a:lnTo>
                  <a:pt x="373487" y="799363"/>
                </a:lnTo>
                <a:lnTo>
                  <a:pt x="312602" y="794115"/>
                </a:lnTo>
                <a:lnTo>
                  <a:pt x="264589" y="786114"/>
                </a:lnTo>
                <a:lnTo>
                  <a:pt x="221795" y="764283"/>
                </a:lnTo>
                <a:lnTo>
                  <a:pt x="221795" y="437588"/>
                </a:lnTo>
                <a:lnTo>
                  <a:pt x="210488" y="425904"/>
                </a:lnTo>
                <a:lnTo>
                  <a:pt x="179002" y="415757"/>
                </a:lnTo>
                <a:lnTo>
                  <a:pt x="130989" y="407755"/>
                </a:lnTo>
                <a:lnTo>
                  <a:pt x="70104" y="402508"/>
                </a:lnTo>
                <a:lnTo>
                  <a:pt x="0" y="400623"/>
                </a:lnTo>
                <a:lnTo>
                  <a:pt x="70104" y="398739"/>
                </a:lnTo>
                <a:lnTo>
                  <a:pt x="130989" y="393491"/>
                </a:lnTo>
                <a:lnTo>
                  <a:pt x="179002" y="385490"/>
                </a:lnTo>
                <a:lnTo>
                  <a:pt x="221795" y="363659"/>
                </a:lnTo>
                <a:lnTo>
                  <a:pt x="221795" y="36964"/>
                </a:lnTo>
                <a:lnTo>
                  <a:pt x="233103" y="25280"/>
                </a:lnTo>
                <a:lnTo>
                  <a:pt x="264589" y="15133"/>
                </a:lnTo>
                <a:lnTo>
                  <a:pt x="312602" y="7131"/>
                </a:lnTo>
                <a:lnTo>
                  <a:pt x="373487" y="1884"/>
                </a:lnTo>
                <a:lnTo>
                  <a:pt x="443591" y="0"/>
                </a:lnTo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094244" y="2008054"/>
            <a:ext cx="1301750" cy="356235"/>
          </a:xfrm>
          <a:custGeom>
            <a:avLst/>
            <a:gdLst/>
            <a:ahLst/>
            <a:cxnLst/>
            <a:rect l="l" t="t" r="r" b="b"/>
            <a:pathLst>
              <a:path w="1301750" h="356235">
                <a:moveTo>
                  <a:pt x="1242395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1242395" y="0"/>
                </a:lnTo>
                <a:lnTo>
                  <a:pt x="1284349" y="17378"/>
                </a:lnTo>
                <a:lnTo>
                  <a:pt x="1301727" y="59332"/>
                </a:lnTo>
                <a:lnTo>
                  <a:pt x="1301727" y="296656"/>
                </a:lnTo>
                <a:lnTo>
                  <a:pt x="1297065" y="319751"/>
                </a:lnTo>
                <a:lnTo>
                  <a:pt x="1284349" y="338610"/>
                </a:lnTo>
                <a:lnTo>
                  <a:pt x="1265490" y="351326"/>
                </a:lnTo>
                <a:lnTo>
                  <a:pt x="1242395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094242" y="2424303"/>
            <a:ext cx="1301750" cy="356235"/>
          </a:xfrm>
          <a:custGeom>
            <a:avLst/>
            <a:gdLst/>
            <a:ahLst/>
            <a:cxnLst/>
            <a:rect l="l" t="t" r="r" b="b"/>
            <a:pathLst>
              <a:path w="1301750" h="356235">
                <a:moveTo>
                  <a:pt x="1242396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1242396" y="0"/>
                </a:lnTo>
                <a:lnTo>
                  <a:pt x="1284350" y="17378"/>
                </a:lnTo>
                <a:lnTo>
                  <a:pt x="1301728" y="59332"/>
                </a:lnTo>
                <a:lnTo>
                  <a:pt x="1301728" y="296656"/>
                </a:lnTo>
                <a:lnTo>
                  <a:pt x="1297066" y="319751"/>
                </a:lnTo>
                <a:lnTo>
                  <a:pt x="1284350" y="338610"/>
                </a:lnTo>
                <a:lnTo>
                  <a:pt x="1265491" y="351326"/>
                </a:lnTo>
                <a:lnTo>
                  <a:pt x="1242396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313549" y="1885116"/>
            <a:ext cx="862330" cy="858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7630">
              <a:lnSpc>
                <a:spcPct val="152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is_next not_next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466410" y="2008054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8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466410" y="2424302"/>
            <a:ext cx="822960" cy="356235"/>
          </a:xfrm>
          <a:custGeom>
            <a:avLst/>
            <a:gdLst/>
            <a:ahLst/>
            <a:cxnLst/>
            <a:rect l="l" t="t" r="r" b="b"/>
            <a:pathLst>
              <a:path w="822960" h="356235">
                <a:moveTo>
                  <a:pt x="763627" y="355988"/>
                </a:moveTo>
                <a:lnTo>
                  <a:pt x="59332" y="355988"/>
                </a:lnTo>
                <a:lnTo>
                  <a:pt x="36237" y="351326"/>
                </a:lnTo>
                <a:lnTo>
                  <a:pt x="17378" y="338610"/>
                </a:lnTo>
                <a:lnTo>
                  <a:pt x="4662" y="319751"/>
                </a:lnTo>
                <a:lnTo>
                  <a:pt x="0" y="296656"/>
                </a:lnTo>
                <a:lnTo>
                  <a:pt x="0" y="59332"/>
                </a:lnTo>
                <a:lnTo>
                  <a:pt x="4662" y="36237"/>
                </a:lnTo>
                <a:lnTo>
                  <a:pt x="17378" y="17378"/>
                </a:lnTo>
                <a:lnTo>
                  <a:pt x="36237" y="4662"/>
                </a:lnTo>
                <a:lnTo>
                  <a:pt x="59332" y="0"/>
                </a:lnTo>
                <a:lnTo>
                  <a:pt x="763627" y="0"/>
                </a:lnTo>
                <a:lnTo>
                  <a:pt x="805581" y="17377"/>
                </a:lnTo>
                <a:lnTo>
                  <a:pt x="822959" y="59332"/>
                </a:lnTo>
                <a:lnTo>
                  <a:pt x="822959" y="296656"/>
                </a:lnTo>
                <a:lnTo>
                  <a:pt x="818297" y="319751"/>
                </a:lnTo>
                <a:lnTo>
                  <a:pt x="805581" y="338610"/>
                </a:lnTo>
                <a:lnTo>
                  <a:pt x="786722" y="351326"/>
                </a:lnTo>
                <a:lnTo>
                  <a:pt x="763627" y="355988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667620" y="1885117"/>
            <a:ext cx="420370" cy="858519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800" spc="-25" dirty="0">
                <a:latin typeface="Calibri"/>
                <a:cs typeface="Calibri"/>
              </a:rPr>
              <a:t>95%</a:t>
            </a:r>
            <a:endParaRPr sz="18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1120"/>
              </a:spcBef>
            </a:pPr>
            <a:r>
              <a:rPr sz="1800" spc="-25" dirty="0">
                <a:latin typeface="Calibri"/>
                <a:cs typeface="Calibri"/>
              </a:rPr>
              <a:t>5%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49" name="object 49"/>
          <p:cNvSpPr txBox="1"/>
          <p:nvPr/>
        </p:nvSpPr>
        <p:spPr>
          <a:xfrm>
            <a:off x="594439" y="2602296"/>
            <a:ext cx="763270" cy="321945"/>
          </a:xfrm>
          <a:prstGeom prst="rect">
            <a:avLst/>
          </a:prstGeom>
          <a:solidFill>
            <a:srgbClr val="7F7F7F"/>
          </a:solidFill>
          <a:ln w="12699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252730" marR="111125" indent="-134620">
              <a:lnSpc>
                <a:spcPct val="100000"/>
              </a:lnSpc>
              <a:spcBef>
                <a:spcPts val="25"/>
              </a:spcBef>
            </a:pPr>
            <a:r>
              <a:rPr sz="1000" spc="-10" dirty="0">
                <a:solidFill>
                  <a:srgbClr val="FFFFFF"/>
                </a:solidFill>
                <a:latin typeface="Calibri"/>
                <a:cs typeface="Calibri"/>
              </a:rPr>
              <a:t>预测</a:t>
            </a:r>
            <a:r>
              <a:rPr sz="1000" spc="-20" dirty="0">
                <a:solidFill>
                  <a:srgbClr val="FFFFFF"/>
                </a:solidFill>
                <a:latin typeface="Calibri"/>
                <a:cs typeface="Calibri"/>
              </a:rPr>
              <a:t>头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3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41" y="1550856"/>
            <a:ext cx="6953250" cy="447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微调：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355600" marR="5080" indent="-29781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只需在</a:t>
            </a: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最后一个</a:t>
            </a:r>
            <a:r>
              <a:rPr lang="ko-KR" altLang="en-US" sz="2400" dirty="0">
                <a:solidFill>
                  <a:srgbClr val="242424"/>
                </a:solidFill>
                <a:latin typeface="Arial MT"/>
                <a:cs typeface="Arial MT"/>
              </a:rPr>
              <a:t>编码器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层之后添加一个特定任务的模块，即可将其映射到所需的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维度。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810895" lvl="1" indent="-295910" algn="just">
              <a:lnSpc>
                <a:spcPct val="100000"/>
              </a:lnSpc>
              <a:buChar char="•"/>
              <a:tabLst>
                <a:tab pos="810895" algn="l"/>
              </a:tabLst>
            </a:pPr>
            <a:r>
              <a:rPr sz="2400" i="1" u="heavy" spc="-10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" panose="020B0604020202090204"/>
                <a:cs typeface="Arial" panose="020B0604020202090204"/>
              </a:rPr>
              <a:t>分类任务：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68095" marR="561340" lvl="2" indent="-295910" algn="just">
              <a:lnSpc>
                <a:spcPct val="100000"/>
              </a:lnSpc>
              <a:buChar char="•"/>
              <a:tabLst>
                <a:tab pos="1270000" algn="l"/>
              </a:tabLst>
            </a:pPr>
            <a:r>
              <a:rPr sz="2400" i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在编码器输出</a:t>
            </a:r>
            <a:r>
              <a:rPr sz="2400" i="1" spc="-25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层</a:t>
            </a:r>
            <a:r>
              <a:rPr sz="2400" i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上方添加一个前馈层，用于处理 [CLS</a:t>
            </a:r>
            <a:r>
              <a:rPr sz="2400" i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]</a:t>
            </a:r>
            <a:r>
              <a:rPr sz="2400" i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lang="en-US" altLang="zh-CN" sz="2400" i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token</a:t>
            </a:r>
            <a:endParaRPr lang="en-US" altLang="zh-CN" sz="2400" i="1" dirty="0">
              <a:solidFill>
                <a:srgbClr val="242424"/>
              </a:solidFill>
              <a:latin typeface="Arial" panose="020B0604020202090204"/>
              <a:cs typeface="Arial" panose="020B0604020202090204"/>
            </a:endParaRPr>
          </a:p>
          <a:p>
            <a:pPr marL="810895" marR="561340" lvl="1" indent="-295910" algn="just">
              <a:buChar char="•"/>
              <a:tabLst>
                <a:tab pos="1270000" algn="l"/>
              </a:tabLst>
            </a:pPr>
            <a:r>
              <a:rPr sz="2400" i="1" u="heavy" spc="-10" dirty="0" err="1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" panose="020B0604020202090204"/>
                <a:cs typeface="Arial" panose="020B0604020202090204"/>
              </a:rPr>
              <a:t>问</a:t>
            </a:r>
            <a:r>
              <a:rPr sz="2400" i="1" u="heavy" dirty="0" err="1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" panose="020B0604020202090204"/>
                <a:cs typeface="Arial" panose="020B0604020202090204"/>
              </a:rPr>
              <a:t>答</a:t>
            </a:r>
            <a:r>
              <a:rPr sz="2400" i="1" u="heavy" spc="-10" dirty="0" err="1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" panose="020B0604020202090204"/>
                <a:cs typeface="Arial" panose="020B0604020202090204"/>
              </a:rPr>
              <a:t>任务</a:t>
            </a:r>
            <a:r>
              <a:rPr sz="2400" i="1" u="heavy" spc="-10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" panose="020B0604020202090204"/>
                <a:cs typeface="Arial" panose="020B0604020202090204"/>
              </a:rPr>
              <a:t>：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68095" marR="1008380" lvl="2" indent="-295910" algn="just">
              <a:lnSpc>
                <a:spcPct val="100000"/>
              </a:lnSpc>
              <a:buChar char="•"/>
              <a:tabLst>
                <a:tab pos="1270000" algn="l"/>
              </a:tabLst>
            </a:pPr>
            <a:r>
              <a:rPr sz="2400" i="1" spc="-2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训练</a:t>
            </a:r>
            <a:r>
              <a:rPr sz="2400" i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两个额外的向量，用于标记</a:t>
            </a:r>
            <a:r>
              <a:rPr sz="2400" i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段落</a:t>
            </a:r>
            <a:r>
              <a:rPr sz="2400" i="1" spc="-2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中</a:t>
            </a:r>
            <a:r>
              <a:rPr sz="2400" i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答案的起始和结束</a:t>
            </a:r>
            <a:r>
              <a:rPr sz="2400" i="1" spc="-25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位置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810895" lvl="1" indent="-295910" algn="just">
              <a:lnSpc>
                <a:spcPct val="100000"/>
              </a:lnSpc>
              <a:buChar char="•"/>
              <a:tabLst>
                <a:tab pos="810895" algn="l"/>
              </a:tabLst>
            </a:pPr>
            <a:r>
              <a:rPr sz="2400" i="1" u="heavy" spc="-50" dirty="0">
                <a:solidFill>
                  <a:srgbClr val="242424"/>
                </a:solidFill>
                <a:uFill>
                  <a:solidFill>
                    <a:srgbClr val="242424"/>
                  </a:solidFill>
                </a:uFill>
                <a:latin typeface="Arial" panose="020B0604020202090204"/>
                <a:cs typeface="Arial" panose="020B0604020202090204"/>
              </a:rPr>
              <a:t>…</a:t>
            </a:r>
            <a:endParaRPr sz="24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41" y="1550856"/>
            <a:ext cx="6768465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 评估：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 panose="020B0604020202090204"/>
              <a:cs typeface="Arial" panose="020B0604020202090204"/>
            </a:endParaRPr>
          </a:p>
          <a:p>
            <a:pPr marL="355600" marR="306705" indent="-29781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通用语言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理解评估（GLUE）</a:t>
            </a:r>
            <a:endParaRPr sz="2400">
              <a:latin typeface="Arial MT"/>
              <a:cs typeface="Arial MT"/>
            </a:endParaRPr>
          </a:p>
          <a:p>
            <a:pPr marL="812165" lvl="1" indent="-297180">
              <a:lnSpc>
                <a:spcPct val="100000"/>
              </a:lnSpc>
              <a:buChar char="•"/>
              <a:tabLst>
                <a:tab pos="8121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句子配对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任务</a:t>
            </a:r>
            <a:endParaRPr sz="2400">
              <a:latin typeface="Arial MT"/>
              <a:cs typeface="Arial MT"/>
            </a:endParaRPr>
          </a:p>
          <a:p>
            <a:pPr marL="812165" lvl="1" indent="-297180">
              <a:lnSpc>
                <a:spcPct val="100000"/>
              </a:lnSpc>
              <a:buChar char="•"/>
              <a:tabLst>
                <a:tab pos="8121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单句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分类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斯坦福</a:t>
            </a: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问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答数据集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(SQuAD)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941" y="1550856"/>
            <a:ext cx="2581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 评估：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2714" y="2164805"/>
            <a:ext cx="7516495" cy="4544060"/>
            <a:chOff x="362714" y="2164805"/>
            <a:chExt cx="7516495" cy="45440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714" y="2164805"/>
              <a:ext cx="7516105" cy="15776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3274" y="3736761"/>
              <a:ext cx="2527737" cy="29717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16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8200" y="2118646"/>
            <a:ext cx="6950709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我们从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中获得了什么启示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预训练任务可以灵活设计</a:t>
            </a:r>
            <a:r>
              <a:rPr sz="24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812800" marR="5080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有效的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表征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可以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从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灵活的预训练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任务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体系中推导出来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。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641" y="1699434"/>
            <a:ext cx="7056120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我们从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中获得了什么启示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预训练任务可以灵活设计</a:t>
            </a:r>
            <a:r>
              <a:rPr sz="2400" b="1" spc="-10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812800" marR="110490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有效的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表征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可以</a:t>
            </a:r>
            <a:r>
              <a:rPr sz="2400" spc="-20" dirty="0">
                <a:solidFill>
                  <a:srgbClr val="374151"/>
                </a:solidFill>
                <a:latin typeface="Arial MT"/>
                <a:cs typeface="Arial MT"/>
              </a:rPr>
              <a:t>从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灵活的预训练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任务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体系中衍生出来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。</a:t>
            </a:r>
            <a:endParaRPr sz="24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5600" marR="1230630" indent="-29781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b="1" spc="-6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不同的</a:t>
            </a:r>
            <a:r>
              <a:rPr sz="24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自然语言处理任务似乎具有</a:t>
            </a:r>
            <a:r>
              <a:rPr sz="24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很强的迁移能力……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812800" marR="5080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只要我们拥有有效的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表示方法，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这似乎就能形成一种通用模型，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Arial MT"/>
              </a:rPr>
              <a:t>可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作为许多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专用模型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的基石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。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1507" y="1083340"/>
            <a:ext cx="3892550" cy="5647055"/>
            <a:chOff x="8121507" y="1083340"/>
            <a:chExt cx="3892550" cy="564705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7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7" y="3184072"/>
                  </a:move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27857" y="2834225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6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5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7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7" y="96449"/>
                  </a:lnTo>
                  <a:lnTo>
                    <a:pt x="1913052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2854773"/>
                  </a:lnTo>
                  <a:lnTo>
                    <a:pt x="1972186" y="2903434"/>
                  </a:lnTo>
                  <a:lnTo>
                    <a:pt x="1961814" y="2949879"/>
                  </a:lnTo>
                  <a:lnTo>
                    <a:pt x="1945150" y="2993597"/>
                  </a:lnTo>
                  <a:lnTo>
                    <a:pt x="1922704" y="3034080"/>
                  </a:lnTo>
                  <a:lnTo>
                    <a:pt x="1894985" y="3070818"/>
                  </a:lnTo>
                  <a:lnTo>
                    <a:pt x="1862501" y="3103301"/>
                  </a:lnTo>
                  <a:lnTo>
                    <a:pt x="1825764" y="3131020"/>
                  </a:lnTo>
                  <a:lnTo>
                    <a:pt x="1785281" y="3153466"/>
                  </a:lnTo>
                  <a:lnTo>
                    <a:pt x="1741563" y="3170130"/>
                  </a:lnTo>
                  <a:lnTo>
                    <a:pt x="1695118" y="3180502"/>
                  </a:lnTo>
                  <a:lnTo>
                    <a:pt x="1646457" y="3184072"/>
                  </a:lnTo>
                  <a:lnTo>
                    <a:pt x="329299" y="3184072"/>
                  </a:lnTo>
                  <a:lnTo>
                    <a:pt x="280638" y="3180502"/>
                  </a:lnTo>
                  <a:lnTo>
                    <a:pt x="234193" y="3170130"/>
                  </a:lnTo>
                  <a:lnTo>
                    <a:pt x="190475" y="3153466"/>
                  </a:lnTo>
                  <a:lnTo>
                    <a:pt x="149992" y="3131020"/>
                  </a:lnTo>
                  <a:lnTo>
                    <a:pt x="113255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6" y="2993597"/>
                  </a:lnTo>
                  <a:lnTo>
                    <a:pt x="13942" y="2949879"/>
                  </a:lnTo>
                  <a:lnTo>
                    <a:pt x="3570" y="2903434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281528" y="332022"/>
            <a:ext cx="30873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25" dirty="0">
                <a:latin typeface="Calibri"/>
                <a:cs typeface="Calibri"/>
              </a:rPr>
              <a:t>表示法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641" y="1244969"/>
            <a:ext cx="7056120" cy="551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我们从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BERT</a:t>
            </a: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中获得了什么启示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预训练任务可以灵活设计</a:t>
            </a:r>
            <a:r>
              <a:rPr sz="2400" b="1" spc="-10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812800" marR="110490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有效的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表征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可以</a:t>
            </a:r>
            <a:r>
              <a:rPr sz="2400" spc="-20" dirty="0">
                <a:solidFill>
                  <a:srgbClr val="374151"/>
                </a:solidFill>
                <a:latin typeface="Arial MT"/>
                <a:cs typeface="Arial MT"/>
              </a:rPr>
              <a:t>从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灵活的预训练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任务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体系中衍生出来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。</a:t>
            </a:r>
            <a:endParaRPr sz="24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5600" marR="1230630" indent="-29781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b="1" spc="-60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不同的</a:t>
            </a:r>
            <a:r>
              <a:rPr sz="2400" b="1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自然语言处理任务似乎具有</a:t>
            </a:r>
            <a:r>
              <a:rPr sz="2400" b="1" spc="-10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很强的迁移能力……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812800" marR="5080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只要我们拥有有效的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表示方法，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这似乎就能形成一种通用模型，</a:t>
            </a:r>
            <a:r>
              <a:rPr sz="2400" spc="-25" dirty="0">
                <a:solidFill>
                  <a:srgbClr val="374151"/>
                </a:solidFill>
                <a:latin typeface="Arial MT"/>
                <a:cs typeface="Arial MT"/>
              </a:rPr>
              <a:t>可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作为许多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专用模型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的基石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。</a:t>
            </a:r>
            <a:endParaRPr sz="24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而且模型</a:t>
            </a:r>
            <a:r>
              <a:rPr sz="24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扩展效果显著！！！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812165" lvl="1" indent="-297180">
              <a:lnSpc>
                <a:spcPct val="100000"/>
              </a:lnSpc>
              <a:buChar char="•"/>
              <a:tabLst>
                <a:tab pos="812165" algn="l"/>
              </a:tabLst>
            </a:pP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在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2018年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，3.4亿个参数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被认为是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庞大的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BERT -</a:t>
            </a:r>
            <a:r>
              <a:rPr spc="-10" dirty="0">
                <a:solidFill>
                  <a:srgbClr val="000000"/>
                </a:solidFill>
              </a:rPr>
              <a:t> 双向</a:t>
            </a:r>
            <a:r>
              <a:rPr lang="ko-KR" altLang="en-US" spc="-10" dirty="0">
                <a:solidFill>
                  <a:srgbClr val="000000"/>
                </a:solidFill>
              </a:rPr>
              <a:t>编码器</a:t>
            </a:r>
            <a:endParaRPr spc="-1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3893" y="924377"/>
            <a:ext cx="3964304" cy="5704205"/>
            <a:chOff x="4113893" y="924377"/>
            <a:chExt cx="3964304" cy="570420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75488" y="981253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8" y="4992975"/>
                  </a:lnTo>
                  <a:lnTo>
                    <a:pt x="234193" y="4982603"/>
                  </a:lnTo>
                  <a:lnTo>
                    <a:pt x="190475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0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5" y="4715908"/>
                  </a:lnTo>
                  <a:lnTo>
                    <a:pt x="1961814" y="4762352"/>
                  </a:lnTo>
                  <a:lnTo>
                    <a:pt x="1945150" y="4806070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1" y="4965940"/>
                  </a:lnTo>
                  <a:lnTo>
                    <a:pt x="1741562" y="4982603"/>
                  </a:lnTo>
                  <a:lnTo>
                    <a:pt x="1695118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5" y="4715908"/>
                  </a:lnTo>
                  <a:lnTo>
                    <a:pt x="1961814" y="4762352"/>
                  </a:lnTo>
                  <a:lnTo>
                    <a:pt x="1945150" y="4806070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1" y="4965940"/>
                  </a:lnTo>
                  <a:lnTo>
                    <a:pt x="1741562" y="4982603"/>
                  </a:lnTo>
                  <a:lnTo>
                    <a:pt x="1695118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8" y="4992975"/>
                  </a:lnTo>
                  <a:lnTo>
                    <a:pt x="234193" y="4982603"/>
                  </a:lnTo>
                  <a:lnTo>
                    <a:pt x="190475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0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120243" y="2743199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6" y="3184072"/>
                  </a:moveTo>
                  <a:lnTo>
                    <a:pt x="329299" y="3184072"/>
                  </a:lnTo>
                  <a:lnTo>
                    <a:pt x="280637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7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2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4" y="179938"/>
                  </a:lnTo>
                  <a:lnTo>
                    <a:pt x="1959591" y="227392"/>
                  </a:lnTo>
                  <a:lnTo>
                    <a:pt x="1971653" y="277474"/>
                  </a:lnTo>
                  <a:lnTo>
                    <a:pt x="1975755" y="329299"/>
                  </a:lnTo>
                  <a:lnTo>
                    <a:pt x="1975755" y="2854773"/>
                  </a:lnTo>
                  <a:lnTo>
                    <a:pt x="1972185" y="2903435"/>
                  </a:lnTo>
                  <a:lnTo>
                    <a:pt x="1961813" y="2949879"/>
                  </a:lnTo>
                  <a:lnTo>
                    <a:pt x="1945149" y="2993597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1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20243" y="2743200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2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3" y="277474"/>
                  </a:lnTo>
                  <a:lnTo>
                    <a:pt x="1975755" y="329299"/>
                  </a:lnTo>
                  <a:lnTo>
                    <a:pt x="1975755" y="2854773"/>
                  </a:lnTo>
                  <a:lnTo>
                    <a:pt x="1972185" y="2903435"/>
                  </a:lnTo>
                  <a:lnTo>
                    <a:pt x="1961813" y="2949879"/>
                  </a:lnTo>
                  <a:lnTo>
                    <a:pt x="1945149" y="2993597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1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2"/>
                  </a:lnTo>
                  <a:lnTo>
                    <a:pt x="329299" y="3184072"/>
                  </a:lnTo>
                  <a:lnTo>
                    <a:pt x="280637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7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0050" y="230039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8235">
              <a:lnSpc>
                <a:spcPct val="100000"/>
              </a:lnSpc>
              <a:spcBef>
                <a:spcPts val="100"/>
              </a:spcBef>
            </a:pPr>
            <a:r>
              <a:rPr dirty="0"/>
              <a:t>2018年——LLM</a:t>
            </a:r>
            <a:r>
              <a:rPr spc="-25" dirty="0"/>
              <a:t>时代的</a:t>
            </a:r>
            <a:r>
              <a:rPr dirty="0"/>
              <a:t>开端</a:t>
            </a:r>
            <a:endParaRPr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2068986" y="4375300"/>
            <a:ext cx="184848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表示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71638" y="4375300"/>
            <a:ext cx="1340485" cy="30480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生成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17700" y="3226035"/>
            <a:ext cx="161796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3515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BERT </a:t>
            </a:r>
            <a:endParaRPr lang="en-US" sz="2000" b="1" spc="-20" dirty="0">
              <a:solidFill>
                <a:srgbClr val="FF0000"/>
              </a:solidFill>
              <a:latin typeface="Arial" panose="020B0604020202090204"/>
              <a:cs typeface="Arial" panose="020B0604020202090204"/>
            </a:endParaRPr>
          </a:p>
          <a:p>
            <a:pPr marL="12700" marR="5080" indent="183515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2018年</a:t>
            </a: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10月</a:t>
            </a:r>
            <a:endParaRPr sz="20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15088" y="3226035"/>
            <a:ext cx="12534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GPT</a:t>
            </a:r>
            <a:endParaRPr sz="200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2018年</a:t>
            </a: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6月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72918" y="1025307"/>
            <a:ext cx="3902710" cy="5704840"/>
            <a:chOff x="8172918" y="1025307"/>
            <a:chExt cx="3902710" cy="57048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8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3700" y="243089"/>
            <a:ext cx="163689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GPT </a:t>
            </a:r>
            <a:r>
              <a:rPr spc="-50" dirty="0">
                <a:solidFill>
                  <a:srgbClr val="000000"/>
                </a:solidFill>
              </a:rPr>
              <a:t>–</a:t>
            </a:r>
            <a:endParaRPr spc="-50" dirty="0">
              <a:solidFill>
                <a:srgbClr val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391086" y="332022"/>
            <a:ext cx="20840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30" dirty="0">
                <a:latin typeface="Calibri"/>
                <a:cs typeface="Calibri"/>
              </a:rPr>
              <a:t>生成式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5679" y="301035"/>
            <a:ext cx="4438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 err="1">
                <a:latin typeface="Calibri"/>
                <a:cs typeface="Calibri"/>
              </a:rPr>
              <a:t>预</a:t>
            </a:r>
            <a:r>
              <a:rPr sz="3600" b="1" spc="-25" dirty="0" err="1">
                <a:latin typeface="Calibri"/>
                <a:cs typeface="Calibri"/>
              </a:rPr>
              <a:t>训练</a:t>
            </a:r>
            <a:r>
              <a:rPr lang="en-US" sz="3600" b="1" spc="-25" dirty="0" err="1">
                <a:latin typeface="Calibri"/>
                <a:cs typeface="Calibri"/>
              </a:rPr>
              <a:t>Transformer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631" y="1920187"/>
            <a:ext cx="721487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575310" indent="-297815">
              <a:lnSpc>
                <a:spcPct val="100000"/>
              </a:lnSpc>
              <a:spcBef>
                <a:spcPts val="100"/>
              </a:spcBef>
              <a:buChar char="•"/>
              <a:tabLst>
                <a:tab pos="309880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与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BERT的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研发初衷相似</a:t>
            </a:r>
            <a:r>
              <a:rPr sz="2400" spc="-60" dirty="0">
                <a:solidFill>
                  <a:srgbClr val="242424"/>
                </a:solidFill>
                <a:latin typeface="Arial MT"/>
                <a:cs typeface="Arial MT"/>
              </a:rPr>
              <a:t>，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但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设计有所不同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767080" marR="5080" lvl="1" indent="-297815">
              <a:lnSpc>
                <a:spcPct val="100000"/>
              </a:lnSpc>
              <a:buChar char="•"/>
              <a:tabLst>
                <a:tab pos="767080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我们能否利用大量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无标签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数据，预训练一个能够理解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普遍模式的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语言模型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？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72918" y="1025307"/>
            <a:ext cx="3902710" cy="5704840"/>
            <a:chOff x="8172918" y="1025307"/>
            <a:chExt cx="3902710" cy="57048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8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607941" y="1651787"/>
            <a:ext cx="6936105" cy="373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预训练语料库：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同样地，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BooksCorpus 和英文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维基百科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预训练任务：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根据前面的</a:t>
            </a:r>
            <a:r>
              <a:rPr lang="en-US" sz="2400" dirty="0">
                <a:solidFill>
                  <a:srgbClr val="242424"/>
                </a:solidFill>
                <a:latin typeface="Arial MT"/>
                <a:cs typeface="Arial MT"/>
              </a:rPr>
              <a:t>Token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预测下一个</a:t>
            </a:r>
            <a:r>
              <a:rPr lang="en-US" sz="2400" dirty="0">
                <a:solidFill>
                  <a:srgbClr val="242424"/>
                </a:solidFill>
                <a:latin typeface="Arial MT"/>
                <a:cs typeface="Arial MT"/>
                <a:sym typeface="+mn-ea"/>
              </a:rPr>
              <a:t>Token</a:t>
            </a:r>
            <a:endParaRPr sz="2400">
              <a:latin typeface="Arial MT"/>
              <a:cs typeface="Arial MT"/>
            </a:endParaRPr>
          </a:p>
          <a:p>
            <a:pPr marL="812165" lvl="1" indent="-297180">
              <a:lnSpc>
                <a:spcPct val="100000"/>
              </a:lnSpc>
              <a:buChar char="•"/>
              <a:tabLst>
                <a:tab pos="8121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比多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语言模型（MLM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）拥有更多的学习信号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Clr>
                <a:srgbClr val="242424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预训练结果：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GPT – 1.</a:t>
            </a:r>
            <a:r>
              <a:rPr sz="2400" spc="-35" dirty="0">
                <a:solidFill>
                  <a:srgbClr val="242424"/>
                </a:solidFill>
                <a:latin typeface="Arial MT"/>
                <a:cs typeface="Arial MT"/>
              </a:rPr>
              <a:t>17亿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参数</a:t>
            </a:r>
            <a:endParaRPr sz="2400">
              <a:latin typeface="Arial MT"/>
              <a:cs typeface="Arial MT"/>
            </a:endParaRPr>
          </a:p>
          <a:p>
            <a:pPr marL="812165" lvl="1" indent="-297180">
              <a:lnSpc>
                <a:spcPct val="100000"/>
              </a:lnSpc>
              <a:buChar char="•"/>
              <a:tabLst>
                <a:tab pos="812165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在 GLUE 和 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SQuAD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 任务上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表现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同样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出色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1663700" y="243089"/>
            <a:ext cx="163689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GPT </a:t>
            </a:r>
            <a:r>
              <a:rPr spc="-50" dirty="0">
                <a:solidFill>
                  <a:srgbClr val="000000"/>
                </a:solidFill>
              </a:rPr>
              <a:t>–</a:t>
            </a:r>
            <a:endParaRPr spc="-50" dirty="0">
              <a:solidFill>
                <a:srgbClr val="000000"/>
              </a:solidFill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3391086" y="332022"/>
            <a:ext cx="20840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30" dirty="0">
                <a:latin typeface="Calibri"/>
                <a:cs typeface="Calibri"/>
              </a:rPr>
              <a:t>生成式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14" name="object 8"/>
          <p:cNvSpPr txBox="1"/>
          <p:nvPr/>
        </p:nvSpPr>
        <p:spPr>
          <a:xfrm>
            <a:off x="5565679" y="301035"/>
            <a:ext cx="4438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 err="1">
                <a:latin typeface="Calibri"/>
                <a:cs typeface="Calibri"/>
              </a:rPr>
              <a:t>预</a:t>
            </a:r>
            <a:r>
              <a:rPr sz="3600" b="1" spc="-25" dirty="0" err="1">
                <a:latin typeface="Calibri"/>
                <a:cs typeface="Calibri"/>
              </a:rPr>
              <a:t>训练</a:t>
            </a:r>
            <a:r>
              <a:rPr lang="en-US" sz="3600" b="1" spc="-25" dirty="0" err="1">
                <a:latin typeface="Calibri"/>
                <a:cs typeface="Calibri"/>
              </a:rPr>
              <a:t>Transformer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72918" y="1025307"/>
            <a:ext cx="3902710" cy="5704840"/>
            <a:chOff x="8172918" y="1025307"/>
            <a:chExt cx="3902710" cy="57048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8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367354" y="3265978"/>
            <a:ext cx="2856865" cy="466090"/>
          </a:xfrm>
          <a:custGeom>
            <a:avLst/>
            <a:gdLst/>
            <a:ahLst/>
            <a:cxnLst/>
            <a:rect l="l" t="t" r="r" b="b"/>
            <a:pathLst>
              <a:path w="2856865" h="466089">
                <a:moveTo>
                  <a:pt x="2778828" y="465492"/>
                </a:moveTo>
                <a:lnTo>
                  <a:pt x="77583" y="465492"/>
                </a:lnTo>
                <a:lnTo>
                  <a:pt x="47384" y="459396"/>
                </a:lnTo>
                <a:lnTo>
                  <a:pt x="22723" y="442769"/>
                </a:lnTo>
                <a:lnTo>
                  <a:pt x="6096" y="418108"/>
                </a:lnTo>
                <a:lnTo>
                  <a:pt x="0" y="387908"/>
                </a:lnTo>
                <a:lnTo>
                  <a:pt x="0" y="77583"/>
                </a:lnTo>
                <a:lnTo>
                  <a:pt x="6096" y="47384"/>
                </a:lnTo>
                <a:lnTo>
                  <a:pt x="22723" y="22723"/>
                </a:lnTo>
                <a:lnTo>
                  <a:pt x="47384" y="6096"/>
                </a:lnTo>
                <a:lnTo>
                  <a:pt x="77583" y="0"/>
                </a:lnTo>
                <a:lnTo>
                  <a:pt x="2778828" y="0"/>
                </a:lnTo>
                <a:lnTo>
                  <a:pt x="2821871" y="13034"/>
                </a:lnTo>
                <a:lnTo>
                  <a:pt x="2850506" y="47893"/>
                </a:lnTo>
                <a:lnTo>
                  <a:pt x="2856411" y="77583"/>
                </a:lnTo>
                <a:lnTo>
                  <a:pt x="2856411" y="387908"/>
                </a:lnTo>
                <a:lnTo>
                  <a:pt x="2850315" y="418108"/>
                </a:lnTo>
                <a:lnTo>
                  <a:pt x="2833688" y="442769"/>
                </a:lnTo>
                <a:lnTo>
                  <a:pt x="2809027" y="459396"/>
                </a:lnTo>
                <a:lnTo>
                  <a:pt x="2778828" y="465492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25306" y="3339720"/>
            <a:ext cx="2139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93737"/>
                </a:solidFill>
                <a:latin typeface="Calibri"/>
                <a:cs typeface="Calibri"/>
              </a:rPr>
              <a:t>总结本文：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7354" y="3830501"/>
            <a:ext cx="2856865" cy="1082040"/>
          </a:xfrm>
          <a:custGeom>
            <a:avLst/>
            <a:gdLst/>
            <a:ahLst/>
            <a:cxnLst/>
            <a:rect l="l" t="t" r="r" b="b"/>
            <a:pathLst>
              <a:path w="2856865" h="1082039">
                <a:moveTo>
                  <a:pt x="2753403" y="1081678"/>
                </a:moveTo>
                <a:lnTo>
                  <a:pt x="103008" y="1081678"/>
                </a:lnTo>
                <a:lnTo>
                  <a:pt x="62912" y="1073583"/>
                </a:lnTo>
                <a:lnTo>
                  <a:pt x="30170" y="1051508"/>
                </a:lnTo>
                <a:lnTo>
                  <a:pt x="8094" y="1018766"/>
                </a:lnTo>
                <a:lnTo>
                  <a:pt x="0" y="978670"/>
                </a:lnTo>
                <a:lnTo>
                  <a:pt x="0" y="103007"/>
                </a:lnTo>
                <a:lnTo>
                  <a:pt x="8094" y="62912"/>
                </a:lnTo>
                <a:lnTo>
                  <a:pt x="30170" y="30170"/>
                </a:lnTo>
                <a:lnTo>
                  <a:pt x="62912" y="8094"/>
                </a:lnTo>
                <a:lnTo>
                  <a:pt x="103008" y="0"/>
                </a:lnTo>
                <a:lnTo>
                  <a:pt x="2753403" y="0"/>
                </a:lnTo>
                <a:lnTo>
                  <a:pt x="2792823" y="7841"/>
                </a:lnTo>
                <a:lnTo>
                  <a:pt x="2826241" y="30170"/>
                </a:lnTo>
                <a:lnTo>
                  <a:pt x="2848570" y="63588"/>
                </a:lnTo>
                <a:lnTo>
                  <a:pt x="2856411" y="103007"/>
                </a:lnTo>
                <a:lnTo>
                  <a:pt x="2856411" y="978670"/>
                </a:lnTo>
                <a:lnTo>
                  <a:pt x="2848317" y="1018766"/>
                </a:lnTo>
                <a:lnTo>
                  <a:pt x="2826241" y="1051508"/>
                </a:lnTo>
                <a:lnTo>
                  <a:pt x="2793499" y="1073583"/>
                </a:lnTo>
                <a:lnTo>
                  <a:pt x="2753403" y="1081678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67354" y="5015712"/>
            <a:ext cx="2856865" cy="466090"/>
          </a:xfrm>
          <a:custGeom>
            <a:avLst/>
            <a:gdLst/>
            <a:ahLst/>
            <a:cxnLst/>
            <a:rect l="l" t="t" r="r" b="b"/>
            <a:pathLst>
              <a:path w="2856865" h="466089">
                <a:moveTo>
                  <a:pt x="2778828" y="465492"/>
                </a:moveTo>
                <a:lnTo>
                  <a:pt x="77583" y="465492"/>
                </a:lnTo>
                <a:lnTo>
                  <a:pt x="47384" y="459396"/>
                </a:lnTo>
                <a:lnTo>
                  <a:pt x="22723" y="442769"/>
                </a:lnTo>
                <a:lnTo>
                  <a:pt x="6096" y="418108"/>
                </a:lnTo>
                <a:lnTo>
                  <a:pt x="0" y="387908"/>
                </a:lnTo>
                <a:lnTo>
                  <a:pt x="0" y="77583"/>
                </a:lnTo>
                <a:lnTo>
                  <a:pt x="6096" y="47384"/>
                </a:lnTo>
                <a:lnTo>
                  <a:pt x="22723" y="22723"/>
                </a:lnTo>
                <a:lnTo>
                  <a:pt x="47384" y="6096"/>
                </a:lnTo>
                <a:lnTo>
                  <a:pt x="77583" y="0"/>
                </a:lnTo>
                <a:lnTo>
                  <a:pt x="2778828" y="0"/>
                </a:lnTo>
                <a:lnTo>
                  <a:pt x="2821871" y="13035"/>
                </a:lnTo>
                <a:lnTo>
                  <a:pt x="2850506" y="47893"/>
                </a:lnTo>
                <a:lnTo>
                  <a:pt x="2856411" y="77583"/>
                </a:lnTo>
                <a:lnTo>
                  <a:pt x="2856411" y="387908"/>
                </a:lnTo>
                <a:lnTo>
                  <a:pt x="2850315" y="418108"/>
                </a:lnTo>
                <a:lnTo>
                  <a:pt x="2833688" y="442769"/>
                </a:lnTo>
                <a:lnTo>
                  <a:pt x="2809027" y="459396"/>
                </a:lnTo>
                <a:lnTo>
                  <a:pt x="2778828" y="465492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22777" y="5089454"/>
            <a:ext cx="1543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93737"/>
                </a:solidFill>
                <a:latin typeface="Calibri"/>
                <a:cs typeface="Calibri"/>
              </a:rPr>
              <a:t>摘要</a:t>
            </a:r>
            <a:r>
              <a:rPr sz="1800" spc="-25" dirty="0">
                <a:solidFill>
                  <a:srgbClr val="393737"/>
                </a:solidFill>
                <a:latin typeface="Calibri"/>
                <a:cs typeface="Calibri"/>
              </a:rPr>
              <a:t>如下：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7354" y="5594586"/>
            <a:ext cx="2856865" cy="438150"/>
          </a:xfrm>
          <a:custGeom>
            <a:avLst/>
            <a:gdLst/>
            <a:ahLst/>
            <a:cxnLst/>
            <a:rect l="l" t="t" r="r" b="b"/>
            <a:pathLst>
              <a:path w="2856865" h="438150">
                <a:moveTo>
                  <a:pt x="2783390" y="438117"/>
                </a:moveTo>
                <a:lnTo>
                  <a:pt x="73021" y="438117"/>
                </a:lnTo>
                <a:lnTo>
                  <a:pt x="44598" y="432379"/>
                </a:lnTo>
                <a:lnTo>
                  <a:pt x="21387" y="416730"/>
                </a:lnTo>
                <a:lnTo>
                  <a:pt x="5738" y="393520"/>
                </a:lnTo>
                <a:lnTo>
                  <a:pt x="0" y="365096"/>
                </a:lnTo>
                <a:lnTo>
                  <a:pt x="0" y="73021"/>
                </a:lnTo>
                <a:lnTo>
                  <a:pt x="5738" y="44598"/>
                </a:lnTo>
                <a:lnTo>
                  <a:pt x="21387" y="21387"/>
                </a:lnTo>
                <a:lnTo>
                  <a:pt x="44598" y="5738"/>
                </a:lnTo>
                <a:lnTo>
                  <a:pt x="73021" y="0"/>
                </a:lnTo>
                <a:lnTo>
                  <a:pt x="2783390" y="0"/>
                </a:lnTo>
                <a:lnTo>
                  <a:pt x="2823903" y="12268"/>
                </a:lnTo>
                <a:lnTo>
                  <a:pt x="2850853" y="45077"/>
                </a:lnTo>
                <a:lnTo>
                  <a:pt x="2856411" y="73021"/>
                </a:lnTo>
                <a:lnTo>
                  <a:pt x="2856411" y="365096"/>
                </a:lnTo>
                <a:lnTo>
                  <a:pt x="2850673" y="393520"/>
                </a:lnTo>
                <a:lnTo>
                  <a:pt x="2835024" y="416730"/>
                </a:lnTo>
                <a:lnTo>
                  <a:pt x="2811814" y="432379"/>
                </a:lnTo>
                <a:lnTo>
                  <a:pt x="2783390" y="438117"/>
                </a:lnTo>
                <a:close/>
              </a:path>
            </a:pathLst>
          </a:custGeom>
          <a:solidFill>
            <a:srgbClr val="F4B0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522892" y="2851362"/>
            <a:ext cx="4337050" cy="466090"/>
          </a:xfrm>
          <a:custGeom>
            <a:avLst/>
            <a:gdLst/>
            <a:ahLst/>
            <a:cxnLst/>
            <a:rect l="l" t="t" r="r" b="b"/>
            <a:pathLst>
              <a:path w="4337050" h="466089">
                <a:moveTo>
                  <a:pt x="4258895" y="465492"/>
                </a:moveTo>
                <a:lnTo>
                  <a:pt x="77583" y="465492"/>
                </a:lnTo>
                <a:lnTo>
                  <a:pt x="47384" y="459396"/>
                </a:lnTo>
                <a:lnTo>
                  <a:pt x="22723" y="442769"/>
                </a:lnTo>
                <a:lnTo>
                  <a:pt x="6096" y="418108"/>
                </a:lnTo>
                <a:lnTo>
                  <a:pt x="0" y="387909"/>
                </a:lnTo>
                <a:lnTo>
                  <a:pt x="0" y="77583"/>
                </a:lnTo>
                <a:lnTo>
                  <a:pt x="6096" y="47384"/>
                </a:lnTo>
                <a:lnTo>
                  <a:pt x="22723" y="22723"/>
                </a:lnTo>
                <a:lnTo>
                  <a:pt x="47384" y="6096"/>
                </a:lnTo>
                <a:lnTo>
                  <a:pt x="77583" y="0"/>
                </a:lnTo>
                <a:lnTo>
                  <a:pt x="4258895" y="0"/>
                </a:lnTo>
                <a:lnTo>
                  <a:pt x="4301938" y="13034"/>
                </a:lnTo>
                <a:lnTo>
                  <a:pt x="4330572" y="47893"/>
                </a:lnTo>
                <a:lnTo>
                  <a:pt x="4336478" y="77583"/>
                </a:lnTo>
                <a:lnTo>
                  <a:pt x="4336478" y="387909"/>
                </a:lnTo>
                <a:lnTo>
                  <a:pt x="4330381" y="418108"/>
                </a:lnTo>
                <a:lnTo>
                  <a:pt x="4313755" y="442769"/>
                </a:lnTo>
                <a:lnTo>
                  <a:pt x="4289094" y="459396"/>
                </a:lnTo>
                <a:lnTo>
                  <a:pt x="4258895" y="465492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07941" y="1275553"/>
            <a:ext cx="7084059" cy="194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spc="-1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 微调：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355600" marR="220980" indent="-29781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将任务特定的文本按提示格式作为</a:t>
            </a:r>
            <a:r>
              <a:rPr sz="2400" spc="-10" dirty="0">
                <a:solidFill>
                  <a:srgbClr val="242424"/>
                </a:solidFill>
                <a:latin typeface="Arial MT"/>
                <a:cs typeface="Arial MT"/>
              </a:rPr>
              <a:t>连续</a:t>
            </a:r>
            <a:r>
              <a:rPr sz="2400" dirty="0">
                <a:solidFill>
                  <a:srgbClr val="242424"/>
                </a:solidFill>
                <a:latin typeface="Arial MT"/>
                <a:cs typeface="Arial MT"/>
              </a:rPr>
              <a:t>流提供给模型进行</a:t>
            </a: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拟合</a:t>
            </a:r>
            <a:endParaRPr sz="2400">
              <a:latin typeface="Arial MT"/>
              <a:cs typeface="Arial MT"/>
            </a:endParaRPr>
          </a:p>
          <a:p>
            <a:pPr marL="3081655" algn="ctr">
              <a:lnSpc>
                <a:spcPts val="1765"/>
              </a:lnSpc>
            </a:pPr>
            <a:r>
              <a:rPr sz="2000" b="1" spc="-25" dirty="0">
                <a:latin typeface="Calibri"/>
                <a:cs typeface="Calibri"/>
              </a:rPr>
              <a:t>问答</a:t>
            </a:r>
            <a:endParaRPr sz="2000">
              <a:latin typeface="Calibri"/>
              <a:cs typeface="Calibri"/>
            </a:endParaRPr>
          </a:p>
          <a:p>
            <a:pPr marL="435610">
              <a:lnSpc>
                <a:spcPts val="2195"/>
              </a:lnSpc>
              <a:spcBef>
                <a:spcPts val="590"/>
              </a:spcBef>
            </a:pPr>
            <a:r>
              <a:rPr sz="2000" b="1" spc="-10" dirty="0">
                <a:solidFill>
                  <a:srgbClr val="393737"/>
                </a:solidFill>
                <a:latin typeface="Calibri"/>
                <a:cs typeface="Calibri"/>
              </a:rPr>
              <a:t>摘要</a:t>
            </a:r>
            <a:endParaRPr sz="2000">
              <a:latin typeface="Calibri"/>
              <a:cs typeface="Calibri"/>
            </a:endParaRPr>
          </a:p>
          <a:p>
            <a:pPr marL="3079115" algn="ctr">
              <a:lnSpc>
                <a:spcPts val="1955"/>
              </a:lnSpc>
            </a:pPr>
            <a:r>
              <a:rPr sz="1800" dirty="0">
                <a:solidFill>
                  <a:srgbClr val="393737"/>
                </a:solidFill>
                <a:latin typeface="Calibri"/>
                <a:cs typeface="Calibri"/>
              </a:rPr>
              <a:t>根据</a:t>
            </a:r>
            <a:r>
              <a:rPr sz="1800" spc="-10" dirty="0">
                <a:solidFill>
                  <a:srgbClr val="393737"/>
                </a:solidFill>
                <a:latin typeface="Calibri"/>
                <a:cs typeface="Calibri"/>
              </a:rPr>
              <a:t>上下文</a:t>
            </a:r>
            <a:r>
              <a:rPr sz="1800" dirty="0">
                <a:solidFill>
                  <a:srgbClr val="393737"/>
                </a:solidFill>
                <a:latin typeface="Calibri"/>
                <a:cs typeface="Calibri"/>
              </a:rPr>
              <a:t>回答</a:t>
            </a:r>
            <a:r>
              <a:rPr sz="1800" spc="-10" dirty="0">
                <a:solidFill>
                  <a:srgbClr val="393737"/>
                </a:solidFill>
                <a:latin typeface="Calibri"/>
                <a:cs typeface="Calibri"/>
              </a:rPr>
              <a:t>问题。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22892" y="3902207"/>
            <a:ext cx="4337050" cy="1082040"/>
          </a:xfrm>
          <a:custGeom>
            <a:avLst/>
            <a:gdLst/>
            <a:ahLst/>
            <a:cxnLst/>
            <a:rect l="l" t="t" r="r" b="b"/>
            <a:pathLst>
              <a:path w="4337050" h="1082039">
                <a:moveTo>
                  <a:pt x="4233470" y="1081679"/>
                </a:moveTo>
                <a:lnTo>
                  <a:pt x="103008" y="1081679"/>
                </a:lnTo>
                <a:lnTo>
                  <a:pt x="62912" y="1073584"/>
                </a:lnTo>
                <a:lnTo>
                  <a:pt x="30170" y="1051508"/>
                </a:lnTo>
                <a:lnTo>
                  <a:pt x="8094" y="1018766"/>
                </a:lnTo>
                <a:lnTo>
                  <a:pt x="0" y="978670"/>
                </a:lnTo>
                <a:lnTo>
                  <a:pt x="0" y="103008"/>
                </a:lnTo>
                <a:lnTo>
                  <a:pt x="8094" y="62913"/>
                </a:lnTo>
                <a:lnTo>
                  <a:pt x="30170" y="30170"/>
                </a:lnTo>
                <a:lnTo>
                  <a:pt x="62912" y="8094"/>
                </a:lnTo>
                <a:lnTo>
                  <a:pt x="103008" y="0"/>
                </a:lnTo>
                <a:lnTo>
                  <a:pt x="4233470" y="0"/>
                </a:lnTo>
                <a:lnTo>
                  <a:pt x="4272889" y="7841"/>
                </a:lnTo>
                <a:lnTo>
                  <a:pt x="4306308" y="30170"/>
                </a:lnTo>
                <a:lnTo>
                  <a:pt x="4328637" y="63588"/>
                </a:lnTo>
                <a:lnTo>
                  <a:pt x="4336478" y="103008"/>
                </a:lnTo>
                <a:lnTo>
                  <a:pt x="4336478" y="978670"/>
                </a:lnTo>
                <a:lnTo>
                  <a:pt x="4328383" y="1018766"/>
                </a:lnTo>
                <a:lnTo>
                  <a:pt x="4306308" y="1051508"/>
                </a:lnTo>
                <a:lnTo>
                  <a:pt x="4273565" y="1073584"/>
                </a:lnTo>
                <a:lnTo>
                  <a:pt x="4233470" y="1081679"/>
                </a:lnTo>
                <a:close/>
              </a:path>
            </a:pathLst>
          </a:custGeom>
          <a:solidFill>
            <a:srgbClr val="8DA9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22892" y="5045033"/>
            <a:ext cx="4337050" cy="466090"/>
          </a:xfrm>
          <a:custGeom>
            <a:avLst/>
            <a:gdLst/>
            <a:ahLst/>
            <a:cxnLst/>
            <a:rect l="l" t="t" r="r" b="b"/>
            <a:pathLst>
              <a:path w="4337050" h="466089">
                <a:moveTo>
                  <a:pt x="4258893" y="465492"/>
                </a:moveTo>
                <a:lnTo>
                  <a:pt x="77583" y="465492"/>
                </a:lnTo>
                <a:lnTo>
                  <a:pt x="47384" y="459396"/>
                </a:lnTo>
                <a:lnTo>
                  <a:pt x="22723" y="442769"/>
                </a:lnTo>
                <a:lnTo>
                  <a:pt x="6096" y="418108"/>
                </a:lnTo>
                <a:lnTo>
                  <a:pt x="0" y="387909"/>
                </a:lnTo>
                <a:lnTo>
                  <a:pt x="0" y="77583"/>
                </a:lnTo>
                <a:lnTo>
                  <a:pt x="6096" y="47384"/>
                </a:lnTo>
                <a:lnTo>
                  <a:pt x="22723" y="22723"/>
                </a:lnTo>
                <a:lnTo>
                  <a:pt x="47384" y="6096"/>
                </a:lnTo>
                <a:lnTo>
                  <a:pt x="77583" y="0"/>
                </a:lnTo>
                <a:lnTo>
                  <a:pt x="4258893" y="0"/>
                </a:lnTo>
                <a:lnTo>
                  <a:pt x="4301937" y="13034"/>
                </a:lnTo>
                <a:lnTo>
                  <a:pt x="4330571" y="47893"/>
                </a:lnTo>
                <a:lnTo>
                  <a:pt x="4336477" y="77583"/>
                </a:lnTo>
                <a:lnTo>
                  <a:pt x="4336477" y="387909"/>
                </a:lnTo>
                <a:lnTo>
                  <a:pt x="4330380" y="418108"/>
                </a:lnTo>
                <a:lnTo>
                  <a:pt x="4313753" y="442769"/>
                </a:lnTo>
                <a:lnTo>
                  <a:pt x="4289092" y="459396"/>
                </a:lnTo>
                <a:lnTo>
                  <a:pt x="4258893" y="465492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225751" y="5118776"/>
            <a:ext cx="930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93737"/>
                </a:solidFill>
                <a:latin typeface="Calibri"/>
                <a:cs typeface="Calibri"/>
              </a:rPr>
              <a:t>问题：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22892" y="5570399"/>
            <a:ext cx="4337050" cy="438150"/>
          </a:xfrm>
          <a:custGeom>
            <a:avLst/>
            <a:gdLst/>
            <a:ahLst/>
            <a:cxnLst/>
            <a:rect l="l" t="t" r="r" b="b"/>
            <a:pathLst>
              <a:path w="4337050" h="438150">
                <a:moveTo>
                  <a:pt x="4263457" y="438117"/>
                </a:moveTo>
                <a:lnTo>
                  <a:pt x="73020" y="438117"/>
                </a:lnTo>
                <a:lnTo>
                  <a:pt x="44597" y="432379"/>
                </a:lnTo>
                <a:lnTo>
                  <a:pt x="21387" y="416730"/>
                </a:lnTo>
                <a:lnTo>
                  <a:pt x="5738" y="393520"/>
                </a:lnTo>
                <a:lnTo>
                  <a:pt x="0" y="365096"/>
                </a:lnTo>
                <a:lnTo>
                  <a:pt x="0" y="73020"/>
                </a:lnTo>
                <a:lnTo>
                  <a:pt x="5641" y="45077"/>
                </a:lnTo>
                <a:lnTo>
                  <a:pt x="5738" y="44597"/>
                </a:lnTo>
                <a:lnTo>
                  <a:pt x="21387" y="21387"/>
                </a:lnTo>
                <a:lnTo>
                  <a:pt x="44597" y="5738"/>
                </a:lnTo>
                <a:lnTo>
                  <a:pt x="73020" y="0"/>
                </a:lnTo>
                <a:lnTo>
                  <a:pt x="4263457" y="0"/>
                </a:lnTo>
                <a:lnTo>
                  <a:pt x="4303969" y="12268"/>
                </a:lnTo>
                <a:lnTo>
                  <a:pt x="4330920" y="45077"/>
                </a:lnTo>
                <a:lnTo>
                  <a:pt x="4336478" y="73020"/>
                </a:lnTo>
                <a:lnTo>
                  <a:pt x="4336478" y="365096"/>
                </a:lnTo>
                <a:lnTo>
                  <a:pt x="4330740" y="393520"/>
                </a:lnTo>
                <a:lnTo>
                  <a:pt x="4315091" y="416730"/>
                </a:lnTo>
                <a:lnTo>
                  <a:pt x="4291880" y="432379"/>
                </a:lnTo>
                <a:lnTo>
                  <a:pt x="4263457" y="438117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22891" y="3376784"/>
            <a:ext cx="4337050" cy="466090"/>
          </a:xfrm>
          <a:custGeom>
            <a:avLst/>
            <a:gdLst/>
            <a:ahLst/>
            <a:cxnLst/>
            <a:rect l="l" t="t" r="r" b="b"/>
            <a:pathLst>
              <a:path w="4337050" h="466089">
                <a:moveTo>
                  <a:pt x="4258894" y="465492"/>
                </a:moveTo>
                <a:lnTo>
                  <a:pt x="77583" y="465492"/>
                </a:lnTo>
                <a:lnTo>
                  <a:pt x="47384" y="459396"/>
                </a:lnTo>
                <a:lnTo>
                  <a:pt x="22723" y="442769"/>
                </a:lnTo>
                <a:lnTo>
                  <a:pt x="6096" y="418108"/>
                </a:lnTo>
                <a:lnTo>
                  <a:pt x="0" y="387909"/>
                </a:lnTo>
                <a:lnTo>
                  <a:pt x="0" y="77583"/>
                </a:lnTo>
                <a:lnTo>
                  <a:pt x="6096" y="47384"/>
                </a:lnTo>
                <a:lnTo>
                  <a:pt x="22723" y="22723"/>
                </a:lnTo>
                <a:lnTo>
                  <a:pt x="47384" y="6096"/>
                </a:lnTo>
                <a:lnTo>
                  <a:pt x="77583" y="0"/>
                </a:lnTo>
                <a:lnTo>
                  <a:pt x="4258894" y="0"/>
                </a:lnTo>
                <a:lnTo>
                  <a:pt x="4301938" y="13034"/>
                </a:lnTo>
                <a:lnTo>
                  <a:pt x="4330573" y="47893"/>
                </a:lnTo>
                <a:lnTo>
                  <a:pt x="4336478" y="77583"/>
                </a:lnTo>
                <a:lnTo>
                  <a:pt x="4336478" y="387909"/>
                </a:lnTo>
                <a:lnTo>
                  <a:pt x="4330382" y="418108"/>
                </a:lnTo>
                <a:lnTo>
                  <a:pt x="4313755" y="442769"/>
                </a:lnTo>
                <a:lnTo>
                  <a:pt x="4289094" y="459396"/>
                </a:lnTo>
                <a:lnTo>
                  <a:pt x="4258894" y="465492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287310" y="3450527"/>
            <a:ext cx="807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93737"/>
                </a:solidFill>
                <a:latin typeface="Calibri"/>
                <a:cs typeface="Calibri"/>
              </a:rPr>
              <a:t>上下文：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22892" y="6069664"/>
            <a:ext cx="4337050" cy="466090"/>
          </a:xfrm>
          <a:custGeom>
            <a:avLst/>
            <a:gdLst/>
            <a:ahLst/>
            <a:cxnLst/>
            <a:rect l="l" t="t" r="r" b="b"/>
            <a:pathLst>
              <a:path w="4337050" h="466090">
                <a:moveTo>
                  <a:pt x="4258893" y="465492"/>
                </a:moveTo>
                <a:lnTo>
                  <a:pt x="77583" y="465492"/>
                </a:lnTo>
                <a:lnTo>
                  <a:pt x="47384" y="459395"/>
                </a:lnTo>
                <a:lnTo>
                  <a:pt x="22723" y="442769"/>
                </a:lnTo>
                <a:lnTo>
                  <a:pt x="6096" y="418108"/>
                </a:lnTo>
                <a:lnTo>
                  <a:pt x="0" y="387909"/>
                </a:lnTo>
                <a:lnTo>
                  <a:pt x="0" y="77583"/>
                </a:lnTo>
                <a:lnTo>
                  <a:pt x="6096" y="47384"/>
                </a:lnTo>
                <a:lnTo>
                  <a:pt x="22723" y="22723"/>
                </a:lnTo>
                <a:lnTo>
                  <a:pt x="47384" y="6096"/>
                </a:lnTo>
                <a:lnTo>
                  <a:pt x="77583" y="0"/>
                </a:lnTo>
                <a:lnTo>
                  <a:pt x="4258893" y="0"/>
                </a:lnTo>
                <a:lnTo>
                  <a:pt x="4301937" y="13034"/>
                </a:lnTo>
                <a:lnTo>
                  <a:pt x="4330571" y="47893"/>
                </a:lnTo>
                <a:lnTo>
                  <a:pt x="4336477" y="77583"/>
                </a:lnTo>
                <a:lnTo>
                  <a:pt x="4336477" y="387909"/>
                </a:lnTo>
                <a:lnTo>
                  <a:pt x="4330380" y="418108"/>
                </a:lnTo>
                <a:lnTo>
                  <a:pt x="4313753" y="442769"/>
                </a:lnTo>
                <a:lnTo>
                  <a:pt x="4289092" y="459395"/>
                </a:lnTo>
                <a:lnTo>
                  <a:pt x="4258893" y="465492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300091" y="6143407"/>
            <a:ext cx="782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93737"/>
                </a:solidFill>
                <a:latin typeface="Calibri"/>
                <a:cs typeface="Calibri"/>
              </a:rPr>
              <a:t>答案：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7" name="object 6"/>
          <p:cNvSpPr txBox="1">
            <a:spLocks noGrp="1"/>
          </p:cNvSpPr>
          <p:nvPr>
            <p:ph type="title"/>
          </p:nvPr>
        </p:nvSpPr>
        <p:spPr>
          <a:xfrm>
            <a:off x="1663700" y="243089"/>
            <a:ext cx="163689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GPT </a:t>
            </a:r>
            <a:r>
              <a:rPr spc="-50" dirty="0">
                <a:solidFill>
                  <a:srgbClr val="000000"/>
                </a:solidFill>
              </a:rPr>
              <a:t>–</a:t>
            </a:r>
            <a:endParaRPr spc="-50" dirty="0">
              <a:solidFill>
                <a:srgbClr val="000000"/>
              </a:solidFill>
            </a:endParaRPr>
          </a:p>
        </p:txBody>
      </p:sp>
      <p:sp>
        <p:nvSpPr>
          <p:cNvPr id="28" name="object 7"/>
          <p:cNvSpPr txBox="1"/>
          <p:nvPr/>
        </p:nvSpPr>
        <p:spPr>
          <a:xfrm>
            <a:off x="3391086" y="332022"/>
            <a:ext cx="20840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30" dirty="0">
                <a:latin typeface="Calibri"/>
                <a:cs typeface="Calibri"/>
              </a:rPr>
              <a:t>生成式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29" name="object 8"/>
          <p:cNvSpPr txBox="1"/>
          <p:nvPr/>
        </p:nvSpPr>
        <p:spPr>
          <a:xfrm>
            <a:off x="5565679" y="301035"/>
            <a:ext cx="4438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 err="1">
                <a:latin typeface="Calibri"/>
                <a:cs typeface="Calibri"/>
              </a:rPr>
              <a:t>预</a:t>
            </a:r>
            <a:r>
              <a:rPr sz="3600" b="1" spc="-25" dirty="0" err="1">
                <a:latin typeface="Calibri"/>
                <a:cs typeface="Calibri"/>
              </a:rPr>
              <a:t>训练</a:t>
            </a:r>
            <a:r>
              <a:rPr lang="en-US" sz="3600" b="1" spc="-25" dirty="0" err="1">
                <a:latin typeface="Calibri"/>
                <a:cs typeface="Calibri"/>
              </a:rPr>
              <a:t>Transformer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72918" y="1025307"/>
            <a:ext cx="3902710" cy="5704840"/>
            <a:chOff x="8172918" y="1025307"/>
            <a:chExt cx="3902710" cy="57048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8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12900" y="243089"/>
            <a:ext cx="168769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GPT </a:t>
            </a:r>
            <a:r>
              <a:rPr spc="-50" dirty="0">
                <a:solidFill>
                  <a:srgbClr val="000000"/>
                </a:solidFill>
              </a:rPr>
              <a:t>–</a:t>
            </a:r>
            <a:endParaRPr spc="-50" dirty="0">
              <a:solidFill>
                <a:srgbClr val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391086" y="332022"/>
            <a:ext cx="20840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30" dirty="0">
                <a:latin typeface="Calibri"/>
                <a:cs typeface="Calibri"/>
              </a:rPr>
              <a:t>生成式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5679" y="301035"/>
            <a:ext cx="4438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 err="1">
                <a:latin typeface="Calibri"/>
                <a:cs typeface="Calibri"/>
              </a:rPr>
              <a:t>预</a:t>
            </a:r>
            <a:r>
              <a:rPr sz="3600" b="1" spc="-25" dirty="0" err="1">
                <a:latin typeface="Calibri"/>
                <a:cs typeface="Calibri"/>
              </a:rPr>
              <a:t>训练</a:t>
            </a:r>
            <a:r>
              <a:rPr lang="en-US" sz="3600" b="1" spc="-25" dirty="0" err="1">
                <a:latin typeface="Calibri"/>
                <a:cs typeface="Calibri"/>
              </a:rPr>
              <a:t>Transformer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941" y="1001046"/>
            <a:ext cx="7085330" cy="258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我们从</a:t>
            </a:r>
            <a:r>
              <a:rPr sz="2400" b="1" spc="-2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中获得了什么启示</a:t>
            </a:r>
            <a:r>
              <a:rPr sz="2400" b="1" spc="-2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自监督</a:t>
            </a:r>
            <a:r>
              <a:rPr sz="24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学习的有效性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812800" marR="474345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具体来说，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该模型似乎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Arial MT"/>
              </a:rPr>
              <a:t>能够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通过生成语言</a:t>
            </a:r>
            <a:r>
              <a:rPr sz="2400" i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本身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来学习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，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而非依赖我们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Arial MT"/>
              </a:rPr>
              <a:t>设计的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任何特定任务</a:t>
            </a:r>
            <a:r>
              <a:rPr sz="2400" spc="-25" dirty="0">
                <a:solidFill>
                  <a:srgbClr val="C00000"/>
                </a:solidFill>
                <a:latin typeface="Arial MT"/>
                <a:cs typeface="Arial MT"/>
              </a:rPr>
              <a:t>。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72918" y="1025307"/>
            <a:ext cx="3902710" cy="5704840"/>
            <a:chOff x="8172918" y="1025307"/>
            <a:chExt cx="3902710" cy="57048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8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38300" y="243089"/>
            <a:ext cx="166229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GPT </a:t>
            </a:r>
            <a:r>
              <a:rPr spc="-50" dirty="0">
                <a:solidFill>
                  <a:srgbClr val="000000"/>
                </a:solidFill>
              </a:rPr>
              <a:t>–</a:t>
            </a:r>
            <a:endParaRPr spc="-50" dirty="0">
              <a:solidFill>
                <a:srgbClr val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391086" y="332022"/>
            <a:ext cx="20840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30" dirty="0">
                <a:latin typeface="Calibri"/>
                <a:cs typeface="Calibri"/>
              </a:rPr>
              <a:t>生成式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5679" y="301035"/>
            <a:ext cx="4438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 err="1">
                <a:latin typeface="Calibri"/>
                <a:cs typeface="Calibri"/>
              </a:rPr>
              <a:t>预</a:t>
            </a:r>
            <a:r>
              <a:rPr sz="3600" b="1" spc="-25" dirty="0" err="1">
                <a:latin typeface="Calibri"/>
                <a:cs typeface="Calibri"/>
              </a:rPr>
              <a:t>训练</a:t>
            </a:r>
            <a:r>
              <a:rPr lang="en-US" sz="3600" b="1" spc="-25" dirty="0" err="1">
                <a:latin typeface="Calibri"/>
                <a:cs typeface="Calibri"/>
              </a:rPr>
              <a:t>Transformer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941" y="1001046"/>
            <a:ext cx="7085330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我们从</a:t>
            </a:r>
            <a:r>
              <a:rPr sz="2400" b="1" spc="-2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中获得了什么启示</a:t>
            </a:r>
            <a:r>
              <a:rPr sz="2400" b="1" spc="-2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自监督</a:t>
            </a:r>
            <a:r>
              <a:rPr sz="2400" b="1" spc="-10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学习的有效性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812800" marR="474345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spc="-20" dirty="0">
                <a:solidFill>
                  <a:srgbClr val="374151"/>
                </a:solidFill>
                <a:latin typeface="Arial MT"/>
                <a:cs typeface="Arial MT"/>
              </a:rPr>
              <a:t>具体来说，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该模型似乎</a:t>
            </a:r>
            <a:r>
              <a:rPr sz="2400" spc="-25" dirty="0">
                <a:solidFill>
                  <a:srgbClr val="374151"/>
                </a:solidFill>
                <a:latin typeface="Arial MT"/>
                <a:cs typeface="Arial MT"/>
              </a:rPr>
              <a:t>能够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通过生成语言</a:t>
            </a:r>
            <a:r>
              <a:rPr sz="2400" i="1" spc="-10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本身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来学习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，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而非依赖我们</a:t>
            </a:r>
            <a:r>
              <a:rPr sz="2400" spc="-25" dirty="0">
                <a:solidFill>
                  <a:srgbClr val="374151"/>
                </a:solidFill>
                <a:latin typeface="Arial MT"/>
                <a:cs typeface="Arial MT"/>
              </a:rPr>
              <a:t>设计的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任何特定任务</a:t>
            </a:r>
            <a:r>
              <a:rPr sz="2400" spc="-25" dirty="0">
                <a:solidFill>
                  <a:srgbClr val="374151"/>
                </a:solidFill>
                <a:latin typeface="Arial MT"/>
                <a:cs typeface="Arial MT"/>
              </a:rPr>
              <a:t>。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语言模型作为知识</a:t>
            </a:r>
            <a:r>
              <a:rPr sz="2400" b="1" spc="-2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库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812800" marR="325120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具体来说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，生成式预训练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模型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在多种自然语言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处理任务上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似乎表现出了不错的</a:t>
            </a:r>
            <a:r>
              <a:rPr sz="2400" spc="-20" dirty="0">
                <a:solidFill>
                  <a:srgbClr val="C00000"/>
                </a:solidFill>
                <a:latin typeface="Arial MT"/>
                <a:cs typeface="Arial MT"/>
              </a:rPr>
              <a:t>零</a:t>
            </a: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样本性能。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72918" y="1025307"/>
            <a:ext cx="3902710" cy="5704840"/>
            <a:chOff x="8172918" y="1025307"/>
            <a:chExt cx="3902710" cy="570484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72918" y="1083340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093428" y="103165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5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4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6" y="4715908"/>
                  </a:lnTo>
                  <a:lnTo>
                    <a:pt x="1961814" y="4762352"/>
                  </a:lnTo>
                  <a:lnTo>
                    <a:pt x="1945150" y="4806071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0" y="4965940"/>
                  </a:lnTo>
                  <a:lnTo>
                    <a:pt x="1741562" y="4982603"/>
                  </a:lnTo>
                  <a:lnTo>
                    <a:pt x="1695117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7" y="4992975"/>
                  </a:lnTo>
                  <a:lnTo>
                    <a:pt x="234193" y="4982603"/>
                  </a:lnTo>
                  <a:lnTo>
                    <a:pt x="190474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1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65300" y="243523"/>
            <a:ext cx="153479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GPT</a:t>
            </a:r>
            <a:r>
              <a:rPr spc="-50" dirty="0">
                <a:solidFill>
                  <a:srgbClr val="000000"/>
                </a:solidFill>
              </a:rPr>
              <a:t>–</a:t>
            </a:r>
            <a:endParaRPr spc="-50" dirty="0">
              <a:solidFill>
                <a:srgbClr val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391086" y="332022"/>
            <a:ext cx="2084070" cy="5486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175"/>
              </a:lnSpc>
            </a:pPr>
            <a:r>
              <a:rPr sz="3600" b="1" spc="-30" dirty="0">
                <a:latin typeface="Calibri"/>
                <a:cs typeface="Calibri"/>
              </a:rPr>
              <a:t>生成式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5679" y="301035"/>
            <a:ext cx="44386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 err="1">
                <a:latin typeface="Calibri"/>
                <a:cs typeface="Calibri"/>
              </a:rPr>
              <a:t>预</a:t>
            </a:r>
            <a:r>
              <a:rPr sz="3600" b="1" spc="-25" dirty="0" err="1">
                <a:latin typeface="Calibri"/>
                <a:cs typeface="Calibri"/>
              </a:rPr>
              <a:t>训练</a:t>
            </a:r>
            <a:r>
              <a:rPr lang="en-US" sz="3600" b="1" spc="-25" dirty="0" err="1">
                <a:latin typeface="Calibri"/>
                <a:cs typeface="Calibri"/>
              </a:rPr>
              <a:t>Transformer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941" y="1001046"/>
            <a:ext cx="7085330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我们从</a:t>
            </a:r>
            <a:r>
              <a:rPr sz="2400" b="1" spc="-2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中获得了什么启示</a:t>
            </a:r>
            <a:r>
              <a:rPr sz="2400" b="1" spc="-20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 panose="020B0604020202090204"/>
              <a:cs typeface="Arial" panose="020B0604020202090204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自监督</a:t>
            </a:r>
            <a:r>
              <a:rPr sz="2400" b="1" spc="-10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学习的有效性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812800" marR="474345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spc="-20" dirty="0">
                <a:solidFill>
                  <a:srgbClr val="374151"/>
                </a:solidFill>
                <a:latin typeface="Arial MT"/>
                <a:cs typeface="Arial MT"/>
              </a:rPr>
              <a:t>具体来说，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该模型似乎</a:t>
            </a:r>
            <a:r>
              <a:rPr sz="2400" spc="-25" dirty="0">
                <a:solidFill>
                  <a:srgbClr val="374151"/>
                </a:solidFill>
                <a:latin typeface="Arial MT"/>
                <a:cs typeface="Arial MT"/>
              </a:rPr>
              <a:t>能够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通过生成语言</a:t>
            </a:r>
            <a:r>
              <a:rPr sz="2400" i="1" spc="-10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本身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来学习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，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而非依赖我们</a:t>
            </a:r>
            <a:r>
              <a:rPr sz="2400" spc="-25" dirty="0">
                <a:solidFill>
                  <a:srgbClr val="374151"/>
                </a:solidFill>
                <a:latin typeface="Arial MT"/>
                <a:cs typeface="Arial MT"/>
              </a:rPr>
              <a:t>设计的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任何特定任务</a:t>
            </a:r>
            <a:r>
              <a:rPr sz="2400" spc="-25" dirty="0">
                <a:solidFill>
                  <a:srgbClr val="374151"/>
                </a:solidFill>
                <a:latin typeface="Arial MT"/>
                <a:cs typeface="Arial MT"/>
              </a:rPr>
              <a:t>。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Clr>
                <a:srgbClr val="37415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语言模型作为知识</a:t>
            </a:r>
            <a:r>
              <a:rPr sz="2400" b="1" spc="-20" dirty="0">
                <a:solidFill>
                  <a:srgbClr val="374151"/>
                </a:solidFill>
                <a:latin typeface="Arial" panose="020B0604020202090204"/>
                <a:cs typeface="Arial" panose="020B0604020202090204"/>
              </a:rPr>
              <a:t>库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812800" marR="325120" lvl="1" indent="-297815">
              <a:lnSpc>
                <a:spcPct val="100000"/>
              </a:lnSpc>
              <a:buChar char="•"/>
              <a:tabLst>
                <a:tab pos="812800" algn="l"/>
              </a:tabLst>
            </a:pPr>
            <a:r>
              <a:rPr sz="2400" spc="-20" dirty="0">
                <a:solidFill>
                  <a:srgbClr val="374151"/>
                </a:solidFill>
                <a:latin typeface="Arial MT"/>
                <a:cs typeface="Arial MT"/>
              </a:rPr>
              <a:t>具体来说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，生成式预训练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模型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在多种自然语言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处理任务上</a:t>
            </a:r>
            <a:r>
              <a:rPr sz="2400" dirty="0">
                <a:solidFill>
                  <a:srgbClr val="374151"/>
                </a:solidFill>
                <a:latin typeface="Arial MT"/>
                <a:cs typeface="Arial MT"/>
              </a:rPr>
              <a:t>似乎表现出了不错的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零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样本</a:t>
            </a:r>
            <a:r>
              <a:rPr sz="2400" spc="-10" dirty="0">
                <a:solidFill>
                  <a:srgbClr val="374151"/>
                </a:solidFill>
                <a:latin typeface="Arial MT"/>
                <a:cs typeface="Arial MT"/>
              </a:rPr>
              <a:t>性能。</a:t>
            </a:r>
            <a:endParaRPr sz="2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Clr>
                <a:srgbClr val="374151"/>
              </a:buClr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54965" indent="-29718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而且性能扩展</a:t>
            </a:r>
            <a:r>
              <a:rPr sz="24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效果显著！！！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0"/>
            <a:ext cx="673158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1623" y="132486"/>
            <a:ext cx="6107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 GPT-2 LLMs </a:t>
            </a:r>
            <a:r>
              <a:rPr lang="zh-CN" altLang="en-US" dirty="0"/>
              <a:t>包含多种模型大小</a:t>
            </a:r>
            <a:endParaRPr lang="ko-KR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1350" y="1874032"/>
            <a:ext cx="747839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原始 GPT 的参数数量最接近</a:t>
            </a:r>
            <a:r>
              <a:rPr sz="2400" b="1" spc="-25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 panose="020B0604020202090204"/>
              <a:cs typeface="Arial" panose="020B0604020202090204"/>
            </a:endParaRPr>
          </a:p>
          <a:p>
            <a:pPr marL="507365" indent="-47815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117</a:t>
            </a:r>
            <a:endParaRPr sz="2400">
              <a:latin typeface="Arial MT"/>
              <a:cs typeface="Arial MT"/>
            </a:endParaRPr>
          </a:p>
          <a:p>
            <a:pPr marL="507365" indent="-47815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11.7万</a:t>
            </a:r>
            <a:endParaRPr sz="2400">
              <a:latin typeface="Arial MT"/>
              <a:cs typeface="Arial MT"/>
            </a:endParaRPr>
          </a:p>
          <a:p>
            <a:pPr marL="507365" indent="-49466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1.17亿</a:t>
            </a:r>
            <a:endParaRPr sz="2400">
              <a:latin typeface="Arial MT"/>
              <a:cs typeface="Arial MT"/>
            </a:endParaRPr>
          </a:p>
          <a:p>
            <a:pPr marL="507365" indent="-49466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117B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2150" rIns="0" bIns="0" rtlCol="0">
            <a:spAutoFit/>
          </a:bodyPr>
          <a:lstStyle/>
          <a:p>
            <a:pPr marL="4015740">
              <a:lnSpc>
                <a:spcPct val="100000"/>
              </a:lnSpc>
              <a:spcBef>
                <a:spcPts val="100"/>
              </a:spcBef>
            </a:pPr>
            <a:r>
              <a:rPr dirty="0"/>
              <a:t>投票 3 - </a:t>
            </a:r>
            <a:r>
              <a:rPr spc="-10" dirty="0"/>
              <a:t>@1579</a:t>
            </a:r>
            <a:endParaRPr spc="-1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725" rIns="0" bIns="0" rtlCol="0">
            <a:spAutoFit/>
          </a:bodyPr>
          <a:lstStyle/>
          <a:p>
            <a:pPr marL="4015740">
              <a:lnSpc>
                <a:spcPct val="100000"/>
              </a:lnSpc>
              <a:spcBef>
                <a:spcPts val="100"/>
              </a:spcBef>
            </a:pPr>
            <a:r>
              <a:rPr dirty="0"/>
              <a:t>投票 3 - </a:t>
            </a:r>
            <a:r>
              <a:rPr spc="-10" dirty="0"/>
              <a:t>@1579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041350" y="1874032"/>
            <a:ext cx="747839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原始GPT的参数数量最接近</a:t>
            </a:r>
            <a:r>
              <a:rPr sz="2400" b="1" spc="-25" dirty="0">
                <a:solidFill>
                  <a:srgbClr val="242424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 panose="020B0604020202090204"/>
              <a:cs typeface="Arial" panose="020B0604020202090204"/>
            </a:endParaRPr>
          </a:p>
          <a:p>
            <a:pPr marL="507365" indent="-47815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spc="-25" dirty="0">
                <a:solidFill>
                  <a:srgbClr val="242424"/>
                </a:solidFill>
                <a:latin typeface="Arial MT"/>
                <a:cs typeface="Arial MT"/>
              </a:rPr>
              <a:t>117</a:t>
            </a:r>
            <a:endParaRPr sz="2400">
              <a:latin typeface="Arial MT"/>
              <a:cs typeface="Arial MT"/>
            </a:endParaRPr>
          </a:p>
          <a:p>
            <a:pPr marL="507365" indent="-47815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11.7万</a:t>
            </a:r>
            <a:endParaRPr sz="2400">
              <a:latin typeface="Arial MT"/>
              <a:cs typeface="Arial MT"/>
            </a:endParaRPr>
          </a:p>
          <a:p>
            <a:pPr marL="507365" indent="-49466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b="1" spc="-2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1.17亿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507365" indent="-494665">
              <a:lnSpc>
                <a:spcPct val="100000"/>
              </a:lnSpc>
              <a:buAutoNum type="alphaUcPeriod"/>
              <a:tabLst>
                <a:tab pos="507365" algn="l"/>
              </a:tabLst>
            </a:pPr>
            <a:r>
              <a:rPr sz="2400" spc="-20" dirty="0">
                <a:solidFill>
                  <a:srgbClr val="242424"/>
                </a:solidFill>
                <a:latin typeface="Arial MT"/>
                <a:cs typeface="Arial MT"/>
              </a:rPr>
              <a:t>1170亿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3848" y="1153795"/>
            <a:ext cx="3964304" cy="5704205"/>
            <a:chOff x="4113893" y="924377"/>
            <a:chExt cx="3964304" cy="570420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75488" y="981253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8" y="4992975"/>
                  </a:lnTo>
                  <a:lnTo>
                    <a:pt x="234193" y="4982603"/>
                  </a:lnTo>
                  <a:lnTo>
                    <a:pt x="190475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0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5" y="4715908"/>
                  </a:lnTo>
                  <a:lnTo>
                    <a:pt x="1961814" y="4762352"/>
                  </a:lnTo>
                  <a:lnTo>
                    <a:pt x="1945150" y="4806070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1" y="4965940"/>
                  </a:lnTo>
                  <a:lnTo>
                    <a:pt x="1741562" y="4982603"/>
                  </a:lnTo>
                  <a:lnTo>
                    <a:pt x="1695118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5" y="4715908"/>
                  </a:lnTo>
                  <a:lnTo>
                    <a:pt x="1961814" y="4762352"/>
                  </a:lnTo>
                  <a:lnTo>
                    <a:pt x="1945150" y="4806070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1" y="4965940"/>
                  </a:lnTo>
                  <a:lnTo>
                    <a:pt x="1741562" y="4982603"/>
                  </a:lnTo>
                  <a:lnTo>
                    <a:pt x="1695118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8" y="4992975"/>
                  </a:lnTo>
                  <a:lnTo>
                    <a:pt x="234193" y="4982603"/>
                  </a:lnTo>
                  <a:lnTo>
                    <a:pt x="190475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0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120243" y="2743199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6" y="3184072"/>
                  </a:moveTo>
                  <a:lnTo>
                    <a:pt x="329299" y="3184072"/>
                  </a:lnTo>
                  <a:lnTo>
                    <a:pt x="280637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7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2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4" y="179938"/>
                  </a:lnTo>
                  <a:lnTo>
                    <a:pt x="1959591" y="227392"/>
                  </a:lnTo>
                  <a:lnTo>
                    <a:pt x="1971653" y="277474"/>
                  </a:lnTo>
                  <a:lnTo>
                    <a:pt x="1975755" y="329299"/>
                  </a:lnTo>
                  <a:lnTo>
                    <a:pt x="1975755" y="2854773"/>
                  </a:lnTo>
                  <a:lnTo>
                    <a:pt x="1972185" y="2903435"/>
                  </a:lnTo>
                  <a:lnTo>
                    <a:pt x="1961813" y="2949879"/>
                  </a:lnTo>
                  <a:lnTo>
                    <a:pt x="1945149" y="2993597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1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20243" y="2743200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2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3" y="277474"/>
                  </a:lnTo>
                  <a:lnTo>
                    <a:pt x="1975755" y="329299"/>
                  </a:lnTo>
                  <a:lnTo>
                    <a:pt x="1975755" y="2854773"/>
                  </a:lnTo>
                  <a:lnTo>
                    <a:pt x="1972185" y="2903435"/>
                  </a:lnTo>
                  <a:lnTo>
                    <a:pt x="1961813" y="2949879"/>
                  </a:lnTo>
                  <a:lnTo>
                    <a:pt x="1945149" y="2993597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1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2"/>
                  </a:lnTo>
                  <a:lnTo>
                    <a:pt x="329299" y="3184072"/>
                  </a:lnTo>
                  <a:lnTo>
                    <a:pt x="280637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7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068986" y="4375300"/>
            <a:ext cx="184848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lang="ko-KR" altLang="en-US" sz="2000" b="1" spc="-10" dirty="0">
                <a:latin typeface="Arial" panose="020B0604020202090204"/>
                <a:cs typeface="Arial" panose="020B0604020202090204"/>
              </a:rPr>
              <a:t>表示</a:t>
            </a:r>
            <a:endParaRPr sz="20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8271638" y="4375300"/>
            <a:ext cx="1340485" cy="30480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生成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9300" y="3226035"/>
            <a:ext cx="1516364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3515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BERT </a:t>
            </a:r>
            <a:endParaRPr lang="en-US" sz="2000" b="1" spc="-20" dirty="0">
              <a:solidFill>
                <a:srgbClr val="FF0000"/>
              </a:solidFill>
              <a:latin typeface="Arial" panose="020B0604020202090204"/>
              <a:cs typeface="Arial" panose="020B0604020202090204"/>
            </a:endParaRPr>
          </a:p>
          <a:p>
            <a:pPr marL="12700" marR="5080" indent="183515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2018年</a:t>
            </a: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10月</a:t>
            </a:r>
            <a:endParaRPr sz="20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5088" y="3226035"/>
            <a:ext cx="12534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GPT</a:t>
            </a:r>
            <a:endParaRPr sz="200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2018年</a:t>
            </a: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6月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-273050" y="682940"/>
            <a:ext cx="1219835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3893" y="924377"/>
            <a:ext cx="3964304" cy="5704205"/>
            <a:chOff x="4113893" y="924377"/>
            <a:chExt cx="3964304" cy="570420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75488" y="981253"/>
              <a:ext cx="3841021" cy="564670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1646456" y="4996545"/>
                  </a:moveTo>
                  <a:lnTo>
                    <a:pt x="329299" y="4996545"/>
                  </a:lnTo>
                  <a:lnTo>
                    <a:pt x="280638" y="4992975"/>
                  </a:lnTo>
                  <a:lnTo>
                    <a:pt x="234193" y="4982603"/>
                  </a:lnTo>
                  <a:lnTo>
                    <a:pt x="190475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0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5" y="4715908"/>
                  </a:lnTo>
                  <a:lnTo>
                    <a:pt x="1961814" y="4762352"/>
                  </a:lnTo>
                  <a:lnTo>
                    <a:pt x="1945150" y="4806070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1" y="4965940"/>
                  </a:lnTo>
                  <a:lnTo>
                    <a:pt x="1741562" y="4982603"/>
                  </a:lnTo>
                  <a:lnTo>
                    <a:pt x="1695118" y="4992975"/>
                  </a:lnTo>
                  <a:lnTo>
                    <a:pt x="1646456" y="4996545"/>
                  </a:lnTo>
                  <a:close/>
                </a:path>
              </a:pathLst>
            </a:custGeom>
            <a:solidFill>
              <a:srgbClr val="BBD6EE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5998" y="930727"/>
              <a:ext cx="1976120" cy="4996815"/>
            </a:xfrm>
            <a:custGeom>
              <a:avLst/>
              <a:gdLst/>
              <a:ahLst/>
              <a:cxnLst/>
              <a:rect l="l" t="t" r="r" b="b"/>
              <a:pathLst>
                <a:path w="1976120" h="499681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8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3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4" y="277474"/>
                  </a:lnTo>
                  <a:lnTo>
                    <a:pt x="1975756" y="329299"/>
                  </a:lnTo>
                  <a:lnTo>
                    <a:pt x="1975756" y="4667246"/>
                  </a:lnTo>
                  <a:lnTo>
                    <a:pt x="1972185" y="4715908"/>
                  </a:lnTo>
                  <a:lnTo>
                    <a:pt x="1961814" y="4762352"/>
                  </a:lnTo>
                  <a:lnTo>
                    <a:pt x="1945150" y="4806070"/>
                  </a:lnTo>
                  <a:lnTo>
                    <a:pt x="1922704" y="4846553"/>
                  </a:lnTo>
                  <a:lnTo>
                    <a:pt x="1894984" y="4883291"/>
                  </a:lnTo>
                  <a:lnTo>
                    <a:pt x="1862501" y="4915774"/>
                  </a:lnTo>
                  <a:lnTo>
                    <a:pt x="1825763" y="4943493"/>
                  </a:lnTo>
                  <a:lnTo>
                    <a:pt x="1785281" y="4965940"/>
                  </a:lnTo>
                  <a:lnTo>
                    <a:pt x="1741562" y="4982603"/>
                  </a:lnTo>
                  <a:lnTo>
                    <a:pt x="1695118" y="4992975"/>
                  </a:lnTo>
                  <a:lnTo>
                    <a:pt x="1646456" y="4996545"/>
                  </a:lnTo>
                  <a:lnTo>
                    <a:pt x="329299" y="4996545"/>
                  </a:lnTo>
                  <a:lnTo>
                    <a:pt x="280638" y="4992975"/>
                  </a:lnTo>
                  <a:lnTo>
                    <a:pt x="234193" y="4982603"/>
                  </a:lnTo>
                  <a:lnTo>
                    <a:pt x="190475" y="4965940"/>
                  </a:lnTo>
                  <a:lnTo>
                    <a:pt x="149992" y="4943493"/>
                  </a:lnTo>
                  <a:lnTo>
                    <a:pt x="113254" y="4915774"/>
                  </a:lnTo>
                  <a:lnTo>
                    <a:pt x="80771" y="4883291"/>
                  </a:lnTo>
                  <a:lnTo>
                    <a:pt x="53052" y="4846553"/>
                  </a:lnTo>
                  <a:lnTo>
                    <a:pt x="30605" y="4806070"/>
                  </a:lnTo>
                  <a:lnTo>
                    <a:pt x="13942" y="4762352"/>
                  </a:lnTo>
                  <a:lnTo>
                    <a:pt x="3570" y="4715908"/>
                  </a:lnTo>
                  <a:lnTo>
                    <a:pt x="0" y="4667246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120243" y="2743199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1646456" y="3184072"/>
                  </a:moveTo>
                  <a:lnTo>
                    <a:pt x="329299" y="3184072"/>
                  </a:lnTo>
                  <a:lnTo>
                    <a:pt x="280637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7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2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4" y="179938"/>
                  </a:lnTo>
                  <a:lnTo>
                    <a:pt x="1959591" y="227392"/>
                  </a:lnTo>
                  <a:lnTo>
                    <a:pt x="1971653" y="277474"/>
                  </a:lnTo>
                  <a:lnTo>
                    <a:pt x="1975755" y="329299"/>
                  </a:lnTo>
                  <a:lnTo>
                    <a:pt x="1975755" y="2854773"/>
                  </a:lnTo>
                  <a:lnTo>
                    <a:pt x="1972185" y="2903435"/>
                  </a:lnTo>
                  <a:lnTo>
                    <a:pt x="1961813" y="2949879"/>
                  </a:lnTo>
                  <a:lnTo>
                    <a:pt x="1945149" y="2993597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1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2"/>
                  </a:lnTo>
                  <a:close/>
                </a:path>
              </a:pathLst>
            </a:custGeom>
            <a:solidFill>
              <a:srgbClr val="FDE499">
                <a:alpha val="3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20243" y="2743200"/>
              <a:ext cx="1976120" cy="3184525"/>
            </a:xfrm>
            <a:custGeom>
              <a:avLst/>
              <a:gdLst/>
              <a:ahLst/>
              <a:cxnLst/>
              <a:rect l="l" t="t" r="r" b="b"/>
              <a:pathLst>
                <a:path w="1976120" h="3184525">
                  <a:moveTo>
                    <a:pt x="0" y="329299"/>
                  </a:moveTo>
                  <a:lnTo>
                    <a:pt x="3570" y="280637"/>
                  </a:lnTo>
                  <a:lnTo>
                    <a:pt x="13942" y="234193"/>
                  </a:lnTo>
                  <a:lnTo>
                    <a:pt x="30605" y="190474"/>
                  </a:lnTo>
                  <a:lnTo>
                    <a:pt x="53052" y="149992"/>
                  </a:lnTo>
                  <a:lnTo>
                    <a:pt x="80771" y="113254"/>
                  </a:lnTo>
                  <a:lnTo>
                    <a:pt x="113254" y="80771"/>
                  </a:lnTo>
                  <a:lnTo>
                    <a:pt x="149992" y="53052"/>
                  </a:lnTo>
                  <a:lnTo>
                    <a:pt x="190475" y="30605"/>
                  </a:lnTo>
                  <a:lnTo>
                    <a:pt x="234193" y="13942"/>
                  </a:lnTo>
                  <a:lnTo>
                    <a:pt x="280637" y="3570"/>
                  </a:lnTo>
                  <a:lnTo>
                    <a:pt x="329299" y="0"/>
                  </a:lnTo>
                  <a:lnTo>
                    <a:pt x="1646456" y="0"/>
                  </a:lnTo>
                  <a:lnTo>
                    <a:pt x="1698281" y="4102"/>
                  </a:lnTo>
                  <a:lnTo>
                    <a:pt x="1748362" y="16164"/>
                  </a:lnTo>
                  <a:lnTo>
                    <a:pt x="1795817" y="35820"/>
                  </a:lnTo>
                  <a:lnTo>
                    <a:pt x="1839760" y="62704"/>
                  </a:lnTo>
                  <a:lnTo>
                    <a:pt x="1879306" y="96449"/>
                  </a:lnTo>
                  <a:lnTo>
                    <a:pt x="1913051" y="135995"/>
                  </a:lnTo>
                  <a:lnTo>
                    <a:pt x="1939935" y="179938"/>
                  </a:lnTo>
                  <a:lnTo>
                    <a:pt x="1959591" y="227392"/>
                  </a:lnTo>
                  <a:lnTo>
                    <a:pt x="1971653" y="277474"/>
                  </a:lnTo>
                  <a:lnTo>
                    <a:pt x="1975755" y="329299"/>
                  </a:lnTo>
                  <a:lnTo>
                    <a:pt x="1975755" y="2854773"/>
                  </a:lnTo>
                  <a:lnTo>
                    <a:pt x="1972185" y="2903435"/>
                  </a:lnTo>
                  <a:lnTo>
                    <a:pt x="1961813" y="2949879"/>
                  </a:lnTo>
                  <a:lnTo>
                    <a:pt x="1945149" y="2993597"/>
                  </a:lnTo>
                  <a:lnTo>
                    <a:pt x="1922703" y="3034080"/>
                  </a:lnTo>
                  <a:lnTo>
                    <a:pt x="1894984" y="3070818"/>
                  </a:lnTo>
                  <a:lnTo>
                    <a:pt x="1862501" y="3103301"/>
                  </a:lnTo>
                  <a:lnTo>
                    <a:pt x="1825763" y="3131020"/>
                  </a:lnTo>
                  <a:lnTo>
                    <a:pt x="1785280" y="3153467"/>
                  </a:lnTo>
                  <a:lnTo>
                    <a:pt x="1741562" y="3170130"/>
                  </a:lnTo>
                  <a:lnTo>
                    <a:pt x="1695117" y="3180502"/>
                  </a:lnTo>
                  <a:lnTo>
                    <a:pt x="1646456" y="3184072"/>
                  </a:lnTo>
                  <a:lnTo>
                    <a:pt x="329299" y="3184072"/>
                  </a:lnTo>
                  <a:lnTo>
                    <a:pt x="280637" y="3180502"/>
                  </a:lnTo>
                  <a:lnTo>
                    <a:pt x="234193" y="3170130"/>
                  </a:lnTo>
                  <a:lnTo>
                    <a:pt x="190475" y="3153467"/>
                  </a:lnTo>
                  <a:lnTo>
                    <a:pt x="149992" y="3131020"/>
                  </a:lnTo>
                  <a:lnTo>
                    <a:pt x="113254" y="3103301"/>
                  </a:lnTo>
                  <a:lnTo>
                    <a:pt x="80771" y="3070818"/>
                  </a:lnTo>
                  <a:lnTo>
                    <a:pt x="53052" y="3034080"/>
                  </a:lnTo>
                  <a:lnTo>
                    <a:pt x="30605" y="2993597"/>
                  </a:lnTo>
                  <a:lnTo>
                    <a:pt x="13942" y="2949879"/>
                  </a:lnTo>
                  <a:lnTo>
                    <a:pt x="3570" y="2903435"/>
                  </a:lnTo>
                  <a:lnTo>
                    <a:pt x="0" y="2854773"/>
                  </a:lnTo>
                  <a:lnTo>
                    <a:pt x="0" y="329299"/>
                  </a:lnTo>
                  <a:close/>
                </a:path>
              </a:pathLst>
            </a:custGeom>
            <a:ln w="12699">
              <a:solidFill>
                <a:srgbClr val="1B3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-241300" y="344386"/>
            <a:ext cx="115951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学习的范式</a:t>
            </a:r>
            <a:r>
              <a:rPr dirty="0"/>
              <a:t>转变</a:t>
            </a:r>
            <a:endParaRPr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1394666" y="4375300"/>
            <a:ext cx="184848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表示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77364" y="4375300"/>
            <a:ext cx="1340485" cy="304800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spc="-10" dirty="0">
                <a:latin typeface="Arial" panose="020B0604020202090204"/>
                <a:cs typeface="Arial" panose="020B0604020202090204"/>
              </a:rPr>
              <a:t>生成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9521" y="2013368"/>
            <a:ext cx="2185035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BERT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2018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DistilBERT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2019</a:t>
            </a:r>
            <a:endParaRPr sz="20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</a:pPr>
            <a:r>
              <a:rPr sz="2000" b="1" spc="-2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RoBERTa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2019</a:t>
            </a:r>
            <a:endParaRPr sz="2000">
              <a:latin typeface="Arial MT"/>
              <a:cs typeface="Arial MT"/>
            </a:endParaRPr>
          </a:p>
          <a:p>
            <a:pPr marL="15367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ALBERT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2019</a:t>
            </a:r>
            <a:endParaRPr sz="2000">
              <a:latin typeface="Arial MT"/>
              <a:cs typeface="Arial MT"/>
            </a:endParaRPr>
          </a:p>
          <a:p>
            <a:pPr marL="73660">
              <a:lnSpc>
                <a:spcPct val="100000"/>
              </a:lnSpc>
            </a:pPr>
            <a:r>
              <a:rPr sz="200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ELECTRA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2020</a:t>
            </a:r>
            <a:endParaRPr sz="2000">
              <a:latin typeface="Arial MT"/>
              <a:cs typeface="Arial MT"/>
            </a:endParaRPr>
          </a:p>
          <a:p>
            <a:pPr marL="99060">
              <a:lnSpc>
                <a:spcPct val="100000"/>
              </a:lnSpc>
            </a:pPr>
            <a:r>
              <a:rPr sz="2000" b="1" spc="-2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DeBERTa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2020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……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61211" y="1671234"/>
            <a:ext cx="3143885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GPT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2018</a:t>
            </a:r>
            <a:endParaRPr sz="2000">
              <a:latin typeface="Arial MT"/>
              <a:cs typeface="Arial MT"/>
            </a:endParaRPr>
          </a:p>
          <a:p>
            <a:pPr marL="78105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GPT-2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2019</a:t>
            </a:r>
            <a:endParaRPr sz="2000">
              <a:latin typeface="Arial MT"/>
              <a:cs typeface="Arial MT"/>
            </a:endParaRPr>
          </a:p>
          <a:p>
            <a:pPr marL="78105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GPT-3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2020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GPT-Neo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2021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GPT-3.5（ChatGPT）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2022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b="1" spc="-1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LLaMA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2023</a:t>
            </a:r>
            <a:endParaRPr sz="2000">
              <a:latin typeface="Arial MT"/>
              <a:cs typeface="Arial MT"/>
            </a:endParaRPr>
          </a:p>
          <a:p>
            <a:pPr marL="78105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GPT-4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2023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…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7489" y="3472723"/>
            <a:ext cx="3477260" cy="1416050"/>
          </a:xfrm>
          <a:prstGeom prst="rect">
            <a:avLst/>
          </a:prstGeom>
          <a:solidFill>
            <a:srgbClr val="FFFFFF"/>
          </a:solidFill>
          <a:ln w="31749">
            <a:solidFill>
              <a:srgbClr val="1B3052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T5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2019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BART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2019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mT5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2021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2000" b="1" spc="-5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…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23545" y="1661446"/>
            <a:ext cx="11344910" cy="2657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从 BERT 和 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 两者的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研究中，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我们了解到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525780" marR="5080" indent="-297815">
              <a:lnSpc>
                <a:spcPct val="100000"/>
              </a:lnSpc>
              <a:buChar char="•"/>
              <a:tabLst>
                <a:tab pos="525780" algn="l"/>
              </a:tabLst>
            </a:pP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Transformer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 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似乎提供了一种新型的通用模型，能够掌握比特定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任务能力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更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基础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的知识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。</a:t>
            </a:r>
            <a:endParaRPr lang="en-US" sz="2400" spc="-10" dirty="0">
              <a:solidFill>
                <a:srgbClr val="393737"/>
              </a:solidFill>
              <a:latin typeface="Arial MT"/>
              <a:cs typeface="Arial MT"/>
            </a:endParaRPr>
          </a:p>
          <a:p>
            <a:pPr marL="227965" marR="5080">
              <a:lnSpc>
                <a:spcPct val="100000"/>
              </a:lnSpc>
              <a:tabLst>
                <a:tab pos="525780" algn="l"/>
              </a:tabLst>
            </a:pPr>
            <a:endParaRPr sz="24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1935"/>
              </a:spcBef>
              <a:buChar char="•"/>
              <a:tabLst>
                <a:tab pos="316865" algn="l"/>
              </a:tabLst>
            </a:pPr>
            <a:r>
              <a:rPr sz="2000" b="1" dirty="0" err="1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特征</a:t>
            </a:r>
            <a:r>
              <a:rPr sz="2000" b="1" spc="-10" dirty="0" err="1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工程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648589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 err="1">
                <a:solidFill>
                  <a:srgbClr val="C00000"/>
                </a:solidFill>
                <a:latin typeface="Arial MT"/>
                <a:cs typeface="Arial MT"/>
              </a:rPr>
              <a:t>如何为某项</a:t>
            </a:r>
            <a:r>
              <a:rPr sz="2000" spc="-10" dirty="0" err="1">
                <a:solidFill>
                  <a:srgbClr val="C00000"/>
                </a:solidFill>
                <a:latin typeface="Arial MT"/>
                <a:cs typeface="Arial MT"/>
              </a:rPr>
              <a:t>任务</a:t>
            </a:r>
            <a:r>
              <a:rPr sz="2000" dirty="0" err="1">
                <a:solidFill>
                  <a:srgbClr val="C00000"/>
                </a:solidFill>
                <a:latin typeface="Arial MT"/>
                <a:cs typeface="Arial MT"/>
              </a:rPr>
              <a:t>设计或选择</a:t>
            </a:r>
            <a:r>
              <a:rPr sz="2000" spc="-20" dirty="0" err="1">
                <a:solidFill>
                  <a:srgbClr val="C00000"/>
                </a:solidFill>
                <a:latin typeface="Arial MT"/>
                <a:cs typeface="Arial MT"/>
              </a:rPr>
              <a:t>最佳</a:t>
            </a:r>
            <a:r>
              <a:rPr sz="2000" dirty="0" err="1">
                <a:solidFill>
                  <a:srgbClr val="C00000"/>
                </a:solidFill>
                <a:latin typeface="Arial MT"/>
                <a:cs typeface="Arial MT"/>
              </a:rPr>
              <a:t>特</a:t>
            </a:r>
            <a:r>
              <a:rPr lang="zh-CN" altLang="en-US" sz="2000" dirty="0">
                <a:solidFill>
                  <a:srgbClr val="C00000"/>
                </a:solidFill>
                <a:latin typeface="Arial MT"/>
                <a:cs typeface="Arial MT"/>
              </a:rPr>
              <a:t>征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？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650" y="294405"/>
            <a:ext cx="10088609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5672455" y="28438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89890" algn="ctr">
              <a:lnSpc>
                <a:spcPct val="100000"/>
              </a:lnSpc>
              <a:spcBef>
                <a:spcPts val="785"/>
              </a:spcBef>
              <a:tabLst>
                <a:tab pos="4839970" algn="l"/>
              </a:tabLst>
            </a:pP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自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</a:t>
            </a:r>
            <a:r>
              <a:rPr lang="zh-CN" altLang="en-US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之后</a:t>
            </a:r>
            <a:endParaRPr lang="zh-CN" altLang="en-US" sz="1800" dirty="0">
              <a:latin typeface="Calibri"/>
              <a:cs typeface="Calibri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1850" y="28438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在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出现之前 </a:t>
            </a:r>
            <a:endParaRPr lang="ko-KR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20734" y="2150396"/>
            <a:ext cx="11344910" cy="32726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从 BERT 和 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 两者的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研究中，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我们了解到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525780" marR="5080" indent="-297815">
              <a:lnSpc>
                <a:spcPct val="100000"/>
              </a:lnSpc>
              <a:buChar char="•"/>
              <a:tabLst>
                <a:tab pos="525780" algn="l"/>
              </a:tabLst>
            </a:pP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Transformer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 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似乎提供了一种新型的通用模型，能够掌握比特定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任务能力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更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基础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的知识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。</a:t>
            </a:r>
            <a:endParaRPr lang="en-US" sz="2400" spc="-10" dirty="0">
              <a:solidFill>
                <a:srgbClr val="393737"/>
              </a:solidFill>
              <a:latin typeface="Arial MT"/>
              <a:cs typeface="Arial MT"/>
            </a:endParaRPr>
          </a:p>
          <a:p>
            <a:pPr marL="227965" marR="5080">
              <a:lnSpc>
                <a:spcPct val="100000"/>
              </a:lnSpc>
              <a:tabLst>
                <a:tab pos="525780" algn="l"/>
              </a:tabLst>
            </a:pPr>
            <a:endParaRPr sz="24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1935"/>
              </a:spcBef>
              <a:buChar char="•"/>
              <a:tabLst>
                <a:tab pos="316865" algn="l"/>
              </a:tabLst>
            </a:pPr>
            <a:r>
              <a:rPr sz="2000" b="1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特征</a:t>
            </a:r>
            <a:r>
              <a:rPr sz="2000" b="1" spc="-10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工程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648589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如何为某项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设计或选择</a:t>
            </a:r>
            <a:r>
              <a:rPr sz="2000" spc="-20" dirty="0">
                <a:solidFill>
                  <a:srgbClr val="393737"/>
                </a:solidFill>
                <a:latin typeface="Arial MT"/>
                <a:cs typeface="Arial MT"/>
              </a:rPr>
              <a:t>最佳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特征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模型</a:t>
            </a:r>
            <a:r>
              <a:rPr sz="20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选择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637286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哪种模型最适合哪种</a:t>
            </a:r>
            <a:r>
              <a:rPr sz="2000" spc="-25" dirty="0">
                <a:solidFill>
                  <a:srgbClr val="C00000"/>
                </a:solidFill>
                <a:latin typeface="Arial MT"/>
                <a:cs typeface="Arial MT"/>
              </a:rPr>
              <a:t>类型的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任务？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1500" y="669628"/>
            <a:ext cx="102092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5621655" y="33581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89890" algn="ctr">
              <a:lnSpc>
                <a:spcPct val="100000"/>
              </a:lnSpc>
              <a:spcBef>
                <a:spcPts val="785"/>
              </a:spcBef>
              <a:tabLst>
                <a:tab pos="4839970" algn="l"/>
              </a:tabLst>
            </a:pP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自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</a:t>
            </a:r>
            <a:r>
              <a:rPr lang="zh-CN" altLang="en-US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之后</a:t>
            </a:r>
            <a:endParaRPr lang="zh-CN" altLang="en-US" sz="1800" dirty="0">
              <a:latin typeface="Calibri"/>
              <a:cs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1050" y="33581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在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出现之前 </a:t>
            </a:r>
            <a:endParaRPr lang="ko-KR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420734" y="1891082"/>
            <a:ext cx="11344910" cy="419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从 BERT 和 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 两者的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研究中，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我们了解到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525780" marR="5080" indent="-297815">
              <a:lnSpc>
                <a:spcPct val="100000"/>
              </a:lnSpc>
              <a:buChar char="•"/>
              <a:tabLst>
                <a:tab pos="525780" algn="l"/>
              </a:tabLst>
            </a:pP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Transformer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 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似乎提供了一种新型的通用模型，能够掌握比特定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任务能力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更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基础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的知识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。</a:t>
            </a:r>
            <a:endParaRPr lang="en-US" sz="2400" spc="-10" dirty="0">
              <a:solidFill>
                <a:srgbClr val="393737"/>
              </a:solidFill>
              <a:latin typeface="Arial MT"/>
              <a:cs typeface="Arial MT"/>
            </a:endParaRPr>
          </a:p>
          <a:p>
            <a:pPr marL="227965" marR="5080">
              <a:lnSpc>
                <a:spcPct val="100000"/>
              </a:lnSpc>
              <a:tabLst>
                <a:tab pos="525780" algn="l"/>
              </a:tabLst>
            </a:pPr>
            <a:endParaRPr sz="24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1935"/>
              </a:spcBef>
              <a:buChar char="•"/>
              <a:tabLst>
                <a:tab pos="316865" algn="l"/>
              </a:tabLst>
            </a:pPr>
            <a:r>
              <a:rPr sz="2000" b="1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特征</a:t>
            </a:r>
            <a:r>
              <a:rPr sz="2000" b="1" spc="-10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工程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648589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如何为某项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设计或选择</a:t>
            </a:r>
            <a:r>
              <a:rPr sz="2000" spc="-20" dirty="0">
                <a:solidFill>
                  <a:srgbClr val="393737"/>
                </a:solidFill>
                <a:latin typeface="Arial MT"/>
                <a:cs typeface="Arial MT"/>
              </a:rPr>
              <a:t>最佳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特征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模型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选择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637286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哪种模型最适合哪种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类型的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任务？</a:t>
            </a:r>
            <a:endParaRPr sz="20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sz="20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迁移学习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601726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在标注数据稀缺的情况下，</a:t>
            </a:r>
            <a:r>
              <a:rPr sz="2000" spc="-25" dirty="0">
                <a:solidFill>
                  <a:srgbClr val="C00000"/>
                </a:solidFill>
                <a:latin typeface="Arial MT"/>
                <a:cs typeface="Arial MT"/>
              </a:rPr>
              <a:t>我们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如何从其他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领域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迁移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知识？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0400" y="612478"/>
            <a:ext cx="1013940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  <p:sp>
        <p:nvSpPr>
          <p:cNvPr id="5" name="文本框 4"/>
          <p:cNvSpPr txBox="1"/>
          <p:nvPr/>
        </p:nvSpPr>
        <p:spPr>
          <a:xfrm>
            <a:off x="5669644" y="31232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89890" algn="ctr">
              <a:lnSpc>
                <a:spcPct val="100000"/>
              </a:lnSpc>
              <a:spcBef>
                <a:spcPts val="785"/>
              </a:spcBef>
              <a:tabLst>
                <a:tab pos="4839970" algn="l"/>
              </a:tabLst>
            </a:pP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自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</a:t>
            </a:r>
            <a:r>
              <a:rPr lang="zh-CN" altLang="en-US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之后</a:t>
            </a:r>
            <a:endParaRPr lang="zh-CN" altLang="en-US" sz="1800" dirty="0">
              <a:latin typeface="Calibri"/>
              <a:cs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9039" y="31232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在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出现之前 </a:t>
            </a:r>
            <a:endParaRPr lang="ko-KR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8059" y="6369787"/>
            <a:ext cx="257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171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6606" y="1712632"/>
            <a:ext cx="11532044" cy="5427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从 BERT 和 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 两者的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研究中，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我们了解到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525780" marR="5080" indent="-297815">
              <a:lnSpc>
                <a:spcPct val="100000"/>
              </a:lnSpc>
              <a:buChar char="•"/>
              <a:tabLst>
                <a:tab pos="525780" algn="l"/>
              </a:tabLst>
            </a:pP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Transformer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 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似乎提供了一种新型的通用模型，能够掌握比特定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任务能力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更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基础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的知识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。</a:t>
            </a:r>
            <a:endParaRPr lang="en-US" sz="2400" spc="-10" dirty="0">
              <a:solidFill>
                <a:srgbClr val="393737"/>
              </a:solidFill>
              <a:latin typeface="Arial MT"/>
              <a:cs typeface="Arial MT"/>
            </a:endParaRPr>
          </a:p>
          <a:p>
            <a:pPr marL="525780" marR="5080" indent="-297815">
              <a:lnSpc>
                <a:spcPct val="100000"/>
              </a:lnSpc>
              <a:buChar char="•"/>
              <a:tabLst>
                <a:tab pos="525780" algn="l"/>
              </a:tabLst>
            </a:pPr>
            <a:endParaRPr sz="24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1935"/>
              </a:spcBef>
              <a:buChar char="•"/>
              <a:tabLst>
                <a:tab pos="316865" algn="l"/>
              </a:tabLst>
            </a:pPr>
            <a:r>
              <a:rPr sz="2000" b="1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特征</a:t>
            </a:r>
            <a:r>
              <a:rPr sz="2000" b="1" spc="-10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工程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648589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 err="1">
                <a:solidFill>
                  <a:srgbClr val="393737"/>
                </a:solidFill>
                <a:latin typeface="Arial MT"/>
                <a:cs typeface="Arial MT"/>
              </a:rPr>
              <a:t>如何为某项</a:t>
            </a:r>
            <a:r>
              <a:rPr sz="2000" spc="-10" dirty="0" err="1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dirty="0" err="1">
                <a:solidFill>
                  <a:srgbClr val="393737"/>
                </a:solidFill>
                <a:latin typeface="Arial MT"/>
                <a:cs typeface="Arial MT"/>
              </a:rPr>
              <a:t>设计或选择</a:t>
            </a:r>
            <a:r>
              <a:rPr sz="2000" spc="-20" dirty="0" err="1">
                <a:solidFill>
                  <a:srgbClr val="393737"/>
                </a:solidFill>
                <a:latin typeface="Arial MT"/>
                <a:cs typeface="Arial MT"/>
              </a:rPr>
              <a:t>最佳</a:t>
            </a:r>
            <a:r>
              <a:rPr sz="2000" dirty="0" err="1">
                <a:solidFill>
                  <a:srgbClr val="393737"/>
                </a:solidFill>
                <a:latin typeface="Arial MT"/>
                <a:cs typeface="Arial MT"/>
              </a:rPr>
              <a:t>特</a:t>
            </a:r>
            <a:r>
              <a:rPr lang="zh-CN" altLang="en-US" sz="2000" dirty="0">
                <a:solidFill>
                  <a:srgbClr val="393737"/>
                </a:solidFill>
                <a:latin typeface="Arial MT"/>
                <a:cs typeface="Arial MT"/>
              </a:rPr>
              <a:t>征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模型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选择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637286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哪种模型最适合哪种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类型的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任务？</a:t>
            </a:r>
            <a:endParaRPr sz="20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迁移学习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601726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在标注数据稀缺的情况下，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我们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如何从其他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领域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迁移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知识？</a:t>
            </a:r>
            <a:endParaRPr sz="20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sz="2000" b="1" dirty="0" err="1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过拟合与</a:t>
            </a:r>
            <a:r>
              <a:rPr sz="2000" b="1" spc="-10" dirty="0" err="1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泛化</a:t>
            </a:r>
            <a:endParaRPr lang="en-US" sz="2000" b="1" spc="-10" dirty="0">
              <a:solidFill>
                <a:srgbClr val="C00000"/>
              </a:solidFill>
              <a:latin typeface="Arial" panose="020B0604020202090204"/>
              <a:cs typeface="Arial" panose="020B0604020202090204"/>
            </a:endParaRPr>
          </a:p>
          <a:p>
            <a:pPr marL="774065" lvl="1" indent="-304165">
              <a:buFontTx/>
              <a:buChar char="•"/>
              <a:tabLst>
                <a:tab pos="316865" algn="l"/>
              </a:tabLst>
            </a:pPr>
            <a:r>
              <a:rPr lang="zh-CN" altLang="en-US" sz="2000" dirty="0">
                <a:solidFill>
                  <a:srgbClr val="C00000"/>
                </a:solidFill>
                <a:latin typeface="Arial MT"/>
                <a:cs typeface="Arial MT"/>
              </a:rPr>
              <a:t>我们该如何</a:t>
            </a:r>
            <a:r>
              <a:rPr lang="zh-CN" altLang="en-US" sz="2000" spc="-25" dirty="0">
                <a:solidFill>
                  <a:srgbClr val="C00000"/>
                </a:solidFill>
                <a:latin typeface="Arial MT"/>
                <a:cs typeface="Arial MT"/>
              </a:rPr>
              <a:t>在</a:t>
            </a:r>
            <a:r>
              <a:rPr lang="zh-CN" altLang="en-US" sz="2000" dirty="0">
                <a:solidFill>
                  <a:srgbClr val="C00000"/>
                </a:solidFill>
                <a:latin typeface="Arial MT"/>
                <a:cs typeface="Arial MT"/>
              </a:rPr>
              <a:t>复杂度</a:t>
            </a:r>
            <a:r>
              <a:rPr lang="zh-CN" altLang="en-US" sz="2000" spc="-25" dirty="0">
                <a:solidFill>
                  <a:srgbClr val="C00000"/>
                </a:solidFill>
                <a:latin typeface="Arial MT"/>
                <a:cs typeface="Arial MT"/>
              </a:rPr>
              <a:t>与</a:t>
            </a:r>
            <a:r>
              <a:rPr lang="zh-CN" altLang="en-US" sz="2000" dirty="0">
                <a:solidFill>
                  <a:srgbClr val="C00000"/>
                </a:solidFill>
                <a:latin typeface="Arial MT"/>
                <a:cs typeface="Arial MT"/>
              </a:rPr>
              <a:t>容纳能力</a:t>
            </a:r>
            <a:r>
              <a:rPr lang="zh-CN" altLang="en-US" sz="2000" spc="-25" dirty="0">
                <a:solidFill>
                  <a:srgbClr val="C00000"/>
                </a:solidFill>
                <a:latin typeface="Arial MT"/>
                <a:cs typeface="Arial MT"/>
              </a:rPr>
              <a:t>之间</a:t>
            </a:r>
            <a:r>
              <a:rPr lang="zh-CN" altLang="en-US" sz="2000" dirty="0">
                <a:solidFill>
                  <a:srgbClr val="C00000"/>
                </a:solidFill>
                <a:latin typeface="Arial MT"/>
                <a:cs typeface="Arial MT"/>
              </a:rPr>
              <a:t>取得平衡，</a:t>
            </a:r>
            <a:endParaRPr lang="en-US" altLang="zh-CN" sz="2000" dirty="0">
              <a:solidFill>
                <a:srgbClr val="C00000"/>
              </a:solidFill>
              <a:latin typeface="Arial MT"/>
              <a:cs typeface="Arial MT"/>
            </a:endParaRPr>
          </a:p>
          <a:p>
            <a:pPr marL="469900" lvl="1">
              <a:tabLst>
                <a:tab pos="316865" algn="l"/>
              </a:tabLst>
            </a:pPr>
            <a:r>
              <a:rPr lang="en-US" altLang="zh-CN" sz="2000" spc="-10" dirty="0">
                <a:solidFill>
                  <a:srgbClr val="C00000"/>
                </a:solidFill>
                <a:latin typeface="Arial MT"/>
                <a:cs typeface="Arial MT"/>
              </a:rPr>
              <a:t>     </a:t>
            </a:r>
            <a:r>
              <a:rPr lang="zh-CN" altLang="en-US" sz="2000" spc="-10" dirty="0">
                <a:solidFill>
                  <a:srgbClr val="C00000"/>
                </a:solidFill>
                <a:latin typeface="Arial MT"/>
                <a:cs typeface="Arial MT"/>
              </a:rPr>
              <a:t>既能</a:t>
            </a:r>
            <a:r>
              <a:rPr lang="zh-CN" altLang="en-US" sz="2000" dirty="0">
                <a:solidFill>
                  <a:srgbClr val="C00000"/>
                </a:solidFill>
                <a:latin typeface="Arial MT"/>
                <a:cs typeface="Arial MT"/>
              </a:rPr>
              <a:t>避免过拟合</a:t>
            </a:r>
            <a:r>
              <a:rPr lang="zh-CN" altLang="en-US" sz="2000" spc="-10" dirty="0">
                <a:solidFill>
                  <a:srgbClr val="C00000"/>
                </a:solidFill>
                <a:latin typeface="Arial MT"/>
                <a:cs typeface="Arial MT"/>
              </a:rPr>
              <a:t>，又能保持</a:t>
            </a:r>
            <a:r>
              <a:rPr lang="zh-CN" altLang="en-US" sz="2000" dirty="0">
                <a:solidFill>
                  <a:srgbClr val="C00000"/>
                </a:solidFill>
                <a:latin typeface="Arial MT"/>
                <a:cs typeface="Arial MT"/>
              </a:rPr>
              <a:t>良好的</a:t>
            </a:r>
            <a:r>
              <a:rPr lang="zh-CN" altLang="en-US" sz="2000" spc="-10" dirty="0">
                <a:solidFill>
                  <a:srgbClr val="C00000"/>
                </a:solidFill>
                <a:latin typeface="Arial MT"/>
                <a:cs typeface="Arial MT"/>
              </a:rPr>
              <a:t>性能？</a:t>
            </a:r>
            <a:endParaRPr lang="zh-CN" altLang="en-US" sz="2000" dirty="0">
              <a:latin typeface="Arial MT"/>
              <a:cs typeface="Arial MT"/>
            </a:endParaRPr>
          </a:p>
          <a:p>
            <a:pPr marL="774065" lvl="1" indent="-304165">
              <a:buChar char="•"/>
              <a:tabLst>
                <a:tab pos="316865" algn="l"/>
              </a:tabLst>
            </a:pPr>
            <a:endParaRPr sz="20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466428"/>
            <a:ext cx="1038070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5672455" y="28438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89890" algn="ctr">
              <a:lnSpc>
                <a:spcPct val="100000"/>
              </a:lnSpc>
              <a:spcBef>
                <a:spcPts val="785"/>
              </a:spcBef>
              <a:tabLst>
                <a:tab pos="4839970" algn="l"/>
              </a:tabLst>
            </a:pP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自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</a:t>
            </a:r>
            <a:r>
              <a:rPr lang="zh-CN" altLang="en-US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之后</a:t>
            </a:r>
            <a:endParaRPr lang="zh-CN" altLang="en-US" sz="1800" dirty="0">
              <a:latin typeface="Calibri"/>
              <a:cs typeface="Calibr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1850" y="28438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在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出现之前 </a:t>
            </a:r>
            <a:endParaRPr lang="ko-KR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8059" y="6369787"/>
            <a:ext cx="257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172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940" y="1001046"/>
            <a:ext cx="1117473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从 BERT 和 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 两者的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研究中，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我们了解到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5600" marR="5080" indent="-29781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Transformer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 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似乎提供了一种新型的通用模型，能够掌握比特定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任务能力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更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基础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的知识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。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6921" y="254936"/>
            <a:ext cx="101457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37706" y="2749044"/>
            <a:ext cx="27832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特征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工程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906" y="3053844"/>
            <a:ext cx="4406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如何为某项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设计或选择</a:t>
            </a:r>
            <a:r>
              <a:rPr sz="2000" spc="-20" dirty="0">
                <a:solidFill>
                  <a:srgbClr val="393737"/>
                </a:solidFill>
                <a:latin typeface="Arial MT"/>
                <a:cs typeface="Arial MT"/>
              </a:rPr>
              <a:t>最佳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特征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706" y="3663444"/>
            <a:ext cx="22606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模型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选择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706" y="3968244"/>
            <a:ext cx="533209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065" marR="360045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哪种模型最适合哪种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类型的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任务？</a:t>
            </a:r>
            <a:endParaRPr sz="20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迁移学习</a:t>
            </a:r>
            <a:endParaRPr sz="2000" dirty="0">
              <a:latin typeface="Arial" panose="020B0604020202090204"/>
              <a:cs typeface="Arial" panose="020B0604020202090204"/>
            </a:endParaRPr>
          </a:p>
          <a:p>
            <a:pPr marL="774065" marR="5080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在标注数据稀缺的情况下，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我们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如何从其他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领域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迁移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知识？</a:t>
            </a:r>
            <a:endParaRPr sz="20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过拟合与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泛化</a:t>
            </a:r>
            <a:endParaRPr sz="20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906" y="5797044"/>
            <a:ext cx="43103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5080" indent="-30226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在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复杂度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与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容纳能力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之间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取得平衡，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既能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防止过拟合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，又能保持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良好的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性能？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7135" y="2773668"/>
            <a:ext cx="479488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预训练与</a:t>
            </a:r>
            <a:r>
              <a:rPr sz="20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微调</a:t>
            </a:r>
            <a:endParaRPr sz="2000">
              <a:latin typeface="Arial" panose="020B0604020202090204"/>
              <a:cs typeface="Arial" panose="020B0604020202090204"/>
            </a:endParaRPr>
          </a:p>
          <a:p>
            <a:pPr marL="771525" marR="5080" lvl="1" indent="-302260" algn="just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我们如何利用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此前未被充分利用</a:t>
            </a:r>
            <a:r>
              <a:rPr sz="2000" spc="-25" dirty="0">
                <a:solidFill>
                  <a:srgbClr val="C00000"/>
                </a:solidFill>
                <a:latin typeface="Arial MT"/>
                <a:cs typeface="Arial MT"/>
              </a:rPr>
              <a:t>的大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规模无标签数据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78311" y="2216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89890" algn="ctr">
              <a:lnSpc>
                <a:spcPct val="100000"/>
              </a:lnSpc>
              <a:spcBef>
                <a:spcPts val="785"/>
              </a:spcBef>
              <a:tabLst>
                <a:tab pos="4839970" algn="l"/>
              </a:tabLst>
            </a:pP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自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</a:t>
            </a:r>
            <a:r>
              <a:rPr lang="zh-CN" altLang="en-US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之后</a:t>
            </a:r>
            <a:endParaRPr lang="zh-CN" altLang="en-US" sz="1800" dirty="0">
              <a:latin typeface="Calibri"/>
              <a:cs typeface="Calibri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7706" y="2216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在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出现之前 </a:t>
            </a:r>
            <a:endParaRPr lang="ko-KR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199697" y="6125905"/>
            <a:ext cx="3975735" cy="614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在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保持良好性能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的同时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同时保持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良好的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性能？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07940" y="1001046"/>
            <a:ext cx="1117473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从 BERT 和 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 两者的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研究中，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我们了解到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5600" marR="5080" indent="-29781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Transformer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似乎提供了一种新型的通用模型，能够捕捉比特定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任务能力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更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基础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的知识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。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940" y="211580"/>
            <a:ext cx="1021726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学习的范式</a:t>
            </a:r>
            <a:r>
              <a:rPr dirty="0"/>
              <a:t>转变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37706" y="2749044"/>
            <a:ext cx="27832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特征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工程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906" y="3053844"/>
            <a:ext cx="4406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如何为特定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设计或选择</a:t>
            </a:r>
            <a:r>
              <a:rPr sz="2000" spc="-20" dirty="0">
                <a:solidFill>
                  <a:srgbClr val="393737"/>
                </a:solidFill>
                <a:latin typeface="Arial MT"/>
                <a:cs typeface="Arial MT"/>
              </a:rPr>
              <a:t>最佳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特征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706" y="3663444"/>
            <a:ext cx="22606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模型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选择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4906" y="3968244"/>
            <a:ext cx="45199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哪种模型最适合哪种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类型的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706" y="4577844"/>
            <a:ext cx="24733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迁移学习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706" y="4882644"/>
            <a:ext cx="533209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0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在标注数据稀缺的情况下，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我们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如何从其他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领域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迁移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知识？</a:t>
            </a:r>
            <a:endParaRPr sz="200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过拟合与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泛化</a:t>
            </a:r>
            <a:endParaRPr sz="2000">
              <a:latin typeface="Arial" panose="020B0604020202090204"/>
              <a:cs typeface="Arial" panose="020B0604020202090204"/>
            </a:endParaRPr>
          </a:p>
          <a:p>
            <a:pPr marL="774065" lvl="1" indent="-304800">
              <a:lnSpc>
                <a:spcPct val="100000"/>
              </a:lnSpc>
              <a:buChar char="•"/>
              <a:tabLst>
                <a:tab pos="7740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我们如何在复杂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性和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7135" y="2773668"/>
            <a:ext cx="3724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预训练与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微调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64335" y="3078468"/>
            <a:ext cx="43376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5080" indent="-30226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我们如何利用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此前未被充分利用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的大量 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    无标签数据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7135" y="3992868"/>
            <a:ext cx="42646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零样本与少样本</a:t>
            </a:r>
            <a:r>
              <a:rPr sz="20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学习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64335" y="4297668"/>
            <a:ext cx="52552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如何让模型在</a:t>
            </a:r>
            <a:r>
              <a:rPr sz="2000" i="1" u="heavy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 panose="020B0604020202090204"/>
                <a:cs typeface="Arial" panose="020B0604020202090204"/>
              </a:rPr>
              <a:t>未经过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训练</a:t>
            </a:r>
            <a:r>
              <a:rPr sz="2000" spc="-25" dirty="0">
                <a:solidFill>
                  <a:srgbClr val="C00000"/>
                </a:solidFill>
                <a:latin typeface="Arial MT"/>
                <a:cs typeface="Arial MT"/>
              </a:rPr>
              <a:t>的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任务</a:t>
            </a:r>
            <a:r>
              <a:rPr sz="2000" spc="-25" dirty="0">
                <a:solidFill>
                  <a:srgbClr val="C00000"/>
                </a:solidFill>
                <a:latin typeface="Arial MT"/>
                <a:cs typeface="Arial MT"/>
              </a:rPr>
              <a:t>上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表现良好</a:t>
            </a:r>
            <a:r>
              <a:rPr sz="2000" spc="-25" dirty="0">
                <a:solidFill>
                  <a:srgbClr val="C00000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15255" y="22273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89890" algn="ctr">
              <a:lnSpc>
                <a:spcPct val="100000"/>
              </a:lnSpc>
              <a:spcBef>
                <a:spcPts val="785"/>
              </a:spcBef>
              <a:tabLst>
                <a:tab pos="4839970" algn="l"/>
              </a:tabLst>
            </a:pP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自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</a:t>
            </a:r>
            <a:r>
              <a:rPr lang="zh-CN" altLang="en-US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之后</a:t>
            </a:r>
            <a:endParaRPr lang="zh-CN" altLang="en-US" sz="1800" dirty="0">
              <a:latin typeface="Calibri"/>
              <a:cs typeface="Calibri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74650" y="22273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在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出现之前 </a:t>
            </a:r>
            <a:endParaRPr lang="ko-KR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1199697" y="6125905"/>
            <a:ext cx="3975735" cy="614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在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保持良好性能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的同时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同时保持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良好的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性能？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07940" y="1001046"/>
            <a:ext cx="1117473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从 BERT 和 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 两者的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研究中，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我们了解到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355600" marR="5080" indent="-29781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Transformer似乎提供了一种新型的通才模型，能够捕捉比任务特定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能力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更</a:t>
            </a:r>
            <a:r>
              <a:rPr sz="2400" spc="-10" dirty="0" err="1">
                <a:solidFill>
                  <a:srgbClr val="393737"/>
                </a:solidFill>
                <a:latin typeface="Arial MT"/>
                <a:cs typeface="Arial MT"/>
              </a:rPr>
              <a:t>基础</a:t>
            </a:r>
            <a:r>
              <a:rPr sz="2400" dirty="0" err="1">
                <a:solidFill>
                  <a:srgbClr val="393737"/>
                </a:solidFill>
                <a:latin typeface="Arial MT"/>
                <a:cs typeface="Arial MT"/>
              </a:rPr>
              <a:t>的知识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。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4221" y="188708"/>
            <a:ext cx="101711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学习的范式</a:t>
            </a:r>
            <a:r>
              <a:rPr dirty="0"/>
              <a:t>转变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37706" y="2749044"/>
            <a:ext cx="27832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特征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工程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906" y="3053844"/>
            <a:ext cx="4406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如何为特定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设计或选择</a:t>
            </a:r>
            <a:r>
              <a:rPr sz="2000" spc="-20" dirty="0">
                <a:solidFill>
                  <a:srgbClr val="393737"/>
                </a:solidFill>
                <a:latin typeface="Arial MT"/>
                <a:cs typeface="Arial MT"/>
              </a:rPr>
              <a:t>最佳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特征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706" y="3663444"/>
            <a:ext cx="22606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模型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选择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4906" y="3968244"/>
            <a:ext cx="45199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哪种模型最适合哪种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类型的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706" y="4577844"/>
            <a:ext cx="24733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迁移学习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906" y="4882644"/>
            <a:ext cx="48748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在标注数据稀缺的情况下，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我们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如何从其他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领域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迁移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知识？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706" y="5492244"/>
            <a:ext cx="3782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过拟合与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泛化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4906" y="5797044"/>
            <a:ext cx="43103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我们如何在复杂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性和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7135" y="2773668"/>
            <a:ext cx="37249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预训练与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微调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64335" y="3078468"/>
            <a:ext cx="43376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5080" indent="-30226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我们如何利用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此前未被充分利用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的大量 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    无标签数据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07135" y="3992868"/>
            <a:ext cx="42646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零样本与少样本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学习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64335" y="4297668"/>
            <a:ext cx="52552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如何让模型在</a:t>
            </a:r>
            <a:r>
              <a:rPr sz="2000" i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Arial" panose="020B0604020202090204"/>
                <a:cs typeface="Arial" panose="020B0604020202090204"/>
              </a:rPr>
              <a:t>未经过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训练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上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表现出色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07135" y="4907268"/>
            <a:ext cx="1598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提示词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64335" y="5212068"/>
            <a:ext cx="50723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我们如何仅通过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自然语言描述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任务，就能让模型理解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其</a:t>
            </a:r>
            <a:r>
              <a:rPr sz="2000" dirty="0">
                <a:solidFill>
                  <a:srgbClr val="C00000"/>
                </a:solidFill>
                <a:latin typeface="Arial MT"/>
                <a:cs typeface="Arial MT"/>
              </a:rPr>
              <a:t>任务</a:t>
            </a:r>
            <a:r>
              <a:rPr sz="2000" spc="-10" dirty="0">
                <a:solidFill>
                  <a:srgbClr val="C00000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158105" y="22077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89890" algn="ctr">
              <a:lnSpc>
                <a:spcPct val="100000"/>
              </a:lnSpc>
              <a:spcBef>
                <a:spcPts val="785"/>
              </a:spcBef>
              <a:tabLst>
                <a:tab pos="4839970" algn="l"/>
              </a:tabLst>
            </a:pP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自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</a:t>
            </a:r>
            <a:r>
              <a:rPr lang="zh-CN" altLang="en-US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之后</a:t>
            </a:r>
            <a:endParaRPr lang="zh-CN" altLang="en-US" sz="1800" dirty="0">
              <a:latin typeface="Calibri"/>
              <a:cs typeface="Calibri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17500" y="22077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在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出现之前 </a:t>
            </a:r>
            <a:endParaRPr lang="ko-KR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98059" y="6369787"/>
            <a:ext cx="257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175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940" y="837620"/>
            <a:ext cx="111747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从 BERT 和 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GPT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 两者的</a:t>
            </a:r>
            <a:r>
              <a:rPr sz="2400" b="1" spc="-4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研究中，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我们了解到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355600" marR="5080" indent="-29781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Transformer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 似乎提供了一种新型的通用模型，能够掌握比特定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任务能力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更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基础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的知识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。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66750" y="98128"/>
            <a:ext cx="101584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437706" y="1874979"/>
            <a:ext cx="6226629" cy="8649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945"/>
              </a:spcBef>
              <a:buChar char="•"/>
              <a:tabLst>
                <a:tab pos="316865" algn="l"/>
              </a:tabLst>
            </a:pPr>
            <a:endParaRPr lang="en-US" sz="2000" b="1" dirty="0">
              <a:solidFill>
                <a:srgbClr val="393737"/>
              </a:solidFill>
              <a:latin typeface="Arial" panose="020B0604020202090204"/>
              <a:cs typeface="Arial" panose="020B0604020202090204"/>
            </a:endParaRPr>
          </a:p>
          <a:p>
            <a:pPr marL="316865" indent="-304165">
              <a:lnSpc>
                <a:spcPct val="100000"/>
              </a:lnSpc>
              <a:spcBef>
                <a:spcPts val="945"/>
              </a:spcBef>
              <a:buChar char="•"/>
              <a:tabLst>
                <a:tab pos="316865" algn="l"/>
              </a:tabLst>
            </a:pPr>
            <a:r>
              <a:rPr sz="2000" b="1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特征</a:t>
            </a:r>
            <a:r>
              <a:rPr sz="2000" b="1" spc="-10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工程</a:t>
            </a:r>
            <a:endParaRPr sz="20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906" y="2724820"/>
            <a:ext cx="485185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如何为某项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设计或选择</a:t>
            </a:r>
            <a:r>
              <a:rPr sz="2000" spc="-20" dirty="0">
                <a:solidFill>
                  <a:srgbClr val="393737"/>
                </a:solidFill>
                <a:latin typeface="Arial MT"/>
                <a:cs typeface="Arial MT"/>
              </a:rPr>
              <a:t>最佳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特征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7706" y="3334420"/>
            <a:ext cx="22606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模型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选择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4906" y="3639220"/>
            <a:ext cx="45199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哪种模型最适合哪种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类型的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7706" y="4248820"/>
            <a:ext cx="24733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迁移学习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4906" y="4553620"/>
            <a:ext cx="48748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在标注数据稀缺的情况下，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我们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如何从其他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领域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迁移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知识？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7706" y="5163220"/>
            <a:ext cx="37826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过拟合与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泛化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4906" y="5468020"/>
            <a:ext cx="43103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5080" indent="-30226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我们该如何平衡复杂度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与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容量，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既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能防止过拟合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，又能保持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良好的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性能？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95305" y="2497683"/>
            <a:ext cx="3724910" cy="423834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810"/>
              </a:spcBef>
              <a:buChar char="•"/>
              <a:tabLst>
                <a:tab pos="316865" algn="l"/>
              </a:tabLst>
            </a:pPr>
            <a:r>
              <a:rPr sz="2000" b="1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预训练与</a:t>
            </a:r>
            <a:r>
              <a:rPr sz="2000" b="1" spc="-10" dirty="0" err="1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微调</a:t>
            </a:r>
            <a:endParaRPr sz="20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64335" y="3025094"/>
            <a:ext cx="43376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marR="5080" indent="-30226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我们如何利用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此前未被充分利用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的大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量无标注数据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07135" y="3621592"/>
            <a:ext cx="42646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零样本与少样本</a:t>
            </a: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学习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64335" y="3926392"/>
            <a:ext cx="52552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如何让模型在</a:t>
            </a:r>
            <a:r>
              <a:rPr sz="2000" i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Arial" panose="020B0604020202090204"/>
                <a:cs typeface="Arial" panose="020B0604020202090204"/>
              </a:rPr>
              <a:t>未经过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训练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的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上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表现良好</a:t>
            </a:r>
            <a:r>
              <a:rPr sz="2000" spc="-25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07135" y="4535992"/>
            <a:ext cx="15982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提示词设计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64335" y="4840793"/>
            <a:ext cx="50723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我们如何仅通过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自然语言描述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任务，就能让模型理解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其</a:t>
            </a:r>
            <a:r>
              <a:rPr sz="2000" dirty="0">
                <a:solidFill>
                  <a:srgbClr val="393737"/>
                </a:solidFill>
                <a:latin typeface="Arial MT"/>
                <a:cs typeface="Arial MT"/>
              </a:rPr>
              <a:t>任务</a:t>
            </a:r>
            <a:r>
              <a:rPr sz="2000" spc="-10" dirty="0">
                <a:solidFill>
                  <a:srgbClr val="393737"/>
                </a:solidFill>
                <a:latin typeface="Arial MT"/>
                <a:cs typeface="Arial MT"/>
              </a:rPr>
              <a:t>？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07135" y="5755193"/>
            <a:ext cx="43224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r>
              <a:rPr sz="2000" b="1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可解释性与</a:t>
            </a:r>
            <a:r>
              <a:rPr sz="2000" b="1" spc="-10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可说明性</a:t>
            </a:r>
            <a:endParaRPr sz="2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64335" y="6059993"/>
            <a:ext cx="518541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spcBef>
                <a:spcPts val="100"/>
              </a:spcBef>
              <a:buFontTx/>
              <a:buChar char="•"/>
              <a:tabLst>
                <a:tab pos="316865" algn="l"/>
              </a:tabLst>
            </a:pPr>
            <a:r>
              <a:rPr sz="2000" dirty="0" err="1">
                <a:solidFill>
                  <a:srgbClr val="C00000"/>
                </a:solidFill>
                <a:latin typeface="Arial MT"/>
                <a:cs typeface="Arial MT"/>
              </a:rPr>
              <a:t>我们</a:t>
            </a:r>
            <a:r>
              <a:rPr sz="2000" spc="-10" dirty="0" err="1">
                <a:solidFill>
                  <a:srgbClr val="C00000"/>
                </a:solidFill>
                <a:latin typeface="Arial MT"/>
                <a:cs typeface="Arial MT"/>
              </a:rPr>
              <a:t>如何</a:t>
            </a:r>
            <a:r>
              <a:rPr sz="2000" i="1" u="heavy" dirty="0" err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 panose="020B0604020202090204"/>
                <a:cs typeface="Arial" panose="020B0604020202090204"/>
              </a:rPr>
              <a:t>理解</a:t>
            </a:r>
            <a:r>
              <a:rPr lang="ko-KR" altLang="en-US" sz="2000" spc="-10" dirty="0">
                <a:solidFill>
                  <a:srgbClr val="C00000"/>
                </a:solidFill>
                <a:latin typeface="Arial MT"/>
                <a:cs typeface="Arial MT"/>
              </a:rPr>
              <a:t>？</a:t>
            </a:r>
            <a:endParaRPr lang="ko-KR" altLang="en-US" sz="2000" dirty="0">
              <a:latin typeface="Arial MT"/>
              <a:cs typeface="Arial MT"/>
            </a:endParaRPr>
          </a:p>
          <a:p>
            <a:pPr marL="316865" indent="-304165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</a:tabLst>
            </a:pPr>
            <a:endParaRPr sz="2000" dirty="0">
              <a:latin typeface="Arial MT"/>
              <a:cs typeface="Arial M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208905" y="19759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89890" algn="ctr">
              <a:lnSpc>
                <a:spcPct val="100000"/>
              </a:lnSpc>
              <a:spcBef>
                <a:spcPts val="785"/>
              </a:spcBef>
              <a:tabLst>
                <a:tab pos="4839970" algn="l"/>
              </a:tabLst>
            </a:pP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自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</a:t>
            </a:r>
            <a:r>
              <a:rPr lang="zh-CN" altLang="en-US" b="1" u="heavy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之后</a:t>
            </a:r>
            <a:endParaRPr lang="zh-CN" altLang="en-US" sz="1800" dirty="0">
              <a:latin typeface="Calibri"/>
              <a:cs typeface="Calibri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8300" y="19759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在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大型语言模型（</a:t>
            </a:r>
            <a:r>
              <a:rPr lang="en-US" altLang="zh-CN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LLMs</a:t>
            </a:r>
            <a:r>
              <a:rPr lang="zh-CN" altLang="en-US" sz="1800" b="1" u="heavy" spc="-2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）</a:t>
            </a:r>
            <a:r>
              <a:rPr lang="zh-CN" altLang="en-US" sz="1800" b="1" u="heavy" spc="-10" dirty="0">
                <a:solidFill>
                  <a:srgbClr val="393737"/>
                </a:solidFill>
                <a:uFill>
                  <a:solidFill>
                    <a:srgbClr val="393737"/>
                  </a:solidFill>
                </a:uFill>
                <a:latin typeface="Calibri"/>
                <a:cs typeface="Calibri"/>
              </a:rPr>
              <a:t>出现之前 </a:t>
            </a:r>
            <a:endParaRPr lang="ko-KR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704430" y="2048796"/>
            <a:ext cx="5805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Char char="•"/>
              <a:tabLst>
                <a:tab pos="3092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是什么导致了这一范式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转变？</a:t>
            </a:r>
            <a:endParaRPr sz="24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4430" y="445374"/>
            <a:ext cx="10037809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领域的</a:t>
            </a:r>
            <a:r>
              <a:rPr spc="-10" dirty="0"/>
              <a:t>范式</a:t>
            </a:r>
            <a:r>
              <a:rPr dirty="0"/>
              <a:t>转变</a:t>
            </a:r>
            <a:endParaRPr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37361" y="1890046"/>
            <a:ext cx="1119568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Char char="•"/>
              <a:tabLst>
                <a:tab pos="3092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是什么导致了这种范式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转变？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93737"/>
              </a:buClr>
              <a:buFont typeface="Arial" panose="020B0604020202090204"/>
              <a:buChar char="•"/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766445" lvl="1" indent="-296545">
              <a:lnSpc>
                <a:spcPct val="100000"/>
              </a:lnSpc>
              <a:buChar char="•"/>
              <a:tabLst>
                <a:tab pos="7664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回顾：循环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神经网络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中的问题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23645" lvl="2" indent="-296545">
              <a:lnSpc>
                <a:spcPct val="100000"/>
              </a:lnSpc>
              <a:buChar char="•"/>
              <a:tabLst>
                <a:tab pos="1223645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在编码长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序列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时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，信息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会实际丢失</a:t>
            </a:r>
            <a:endParaRPr sz="2400" dirty="0">
              <a:latin typeface="Arial MT"/>
              <a:cs typeface="Arial MT"/>
            </a:endParaRPr>
          </a:p>
          <a:p>
            <a:pPr marL="1223645" lvl="2" indent="-296545">
              <a:lnSpc>
                <a:spcPct val="100000"/>
              </a:lnSpc>
              <a:buChar char="•"/>
              <a:tabLst>
                <a:tab pos="1223645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序列特性阻碍了并行训练，且更青睐后期时间步的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输入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7361" y="530724"/>
            <a:ext cx="94640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学习范式</a:t>
            </a:r>
            <a:r>
              <a:rPr dirty="0"/>
              <a:t>转变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37361" y="1877346"/>
            <a:ext cx="11195685" cy="3731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Char char="•"/>
              <a:tabLst>
                <a:tab pos="3092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是什么导致了这种范式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转变？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93737"/>
              </a:buClr>
              <a:buFont typeface="Arial" panose="020B0604020202090204"/>
              <a:buChar char="•"/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766445" lvl="1" indent="-296545">
              <a:lnSpc>
                <a:spcPct val="100000"/>
              </a:lnSpc>
              <a:buChar char="•"/>
              <a:tabLst>
                <a:tab pos="7664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回顾：循环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神经网络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中的问题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23645" lvl="2" indent="-296545">
              <a:lnSpc>
                <a:spcPct val="100000"/>
              </a:lnSpc>
              <a:buChar char="•"/>
              <a:tabLst>
                <a:tab pos="1223645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在编码长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序列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时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，信息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会实际丢失</a:t>
            </a:r>
            <a:endParaRPr sz="2400" dirty="0">
              <a:latin typeface="Arial MT"/>
              <a:cs typeface="Arial MT"/>
            </a:endParaRPr>
          </a:p>
          <a:p>
            <a:pPr marL="1223645" lvl="2" indent="-296545">
              <a:lnSpc>
                <a:spcPct val="100000"/>
              </a:lnSpc>
              <a:buChar char="•"/>
              <a:tabLst>
                <a:tab pos="1223645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序列特性阻碍了并行训练，且更青睐后期时间步的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输入</a:t>
            </a:r>
            <a:endParaRPr sz="2400" dirty="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120"/>
              </a:spcBef>
              <a:buClr>
                <a:srgbClr val="393737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766445" lvl="1" indent="-296545">
              <a:lnSpc>
                <a:spcPct val="100000"/>
              </a:lnSpc>
              <a:buChar char="•"/>
              <a:tabLst>
                <a:tab pos="7664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解决方案：</a:t>
            </a:r>
            <a:r>
              <a:rPr lang="ko-KR" altLang="en-US"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注意力机制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就是你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所需要的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全部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！！！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23645" lvl="2" indent="-296545">
              <a:lnSpc>
                <a:spcPct val="100000"/>
              </a:lnSpc>
              <a:buChar char="•"/>
              <a:tabLst>
                <a:tab pos="1223645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处理长程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依赖</a:t>
            </a:r>
            <a:endParaRPr sz="2400" dirty="0">
              <a:latin typeface="Arial MT"/>
              <a:cs typeface="Arial MT"/>
            </a:endParaRPr>
          </a:p>
          <a:p>
            <a:pPr marL="1223645" lvl="2" indent="-296545">
              <a:lnSpc>
                <a:spcPct val="100000"/>
              </a:lnSpc>
              <a:buChar char="•"/>
              <a:tabLst>
                <a:tab pos="1223645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并行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训练</a:t>
            </a:r>
            <a:endParaRPr sz="2400" dirty="0">
              <a:latin typeface="Arial MT"/>
              <a:cs typeface="Arial MT"/>
            </a:endParaRPr>
          </a:p>
          <a:p>
            <a:pPr marL="1223645" lvl="2" indent="-296545">
              <a:lnSpc>
                <a:spcPct val="100000"/>
              </a:lnSpc>
              <a:buChar char="•"/>
              <a:tabLst>
                <a:tab pos="1223645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基于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输入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的动态</a:t>
            </a:r>
            <a:r>
              <a:rPr lang="ko-KR" altLang="en-US" sz="2400" dirty="0">
                <a:solidFill>
                  <a:srgbClr val="393737"/>
                </a:solidFill>
                <a:latin typeface="Arial MT"/>
                <a:cs typeface="Arial MT"/>
              </a:rPr>
              <a:t>注意力机制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权重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1500" y="447378"/>
            <a:ext cx="102600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学习的范式</a:t>
            </a:r>
            <a:r>
              <a:rPr dirty="0"/>
              <a:t>转变</a:t>
            </a:r>
            <a:endParaRPr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79030" y="1890046"/>
            <a:ext cx="671766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Char char="•"/>
              <a:tabLst>
                <a:tab pos="309245" algn="l"/>
              </a:tabLst>
            </a:pPr>
            <a:r>
              <a:rPr lang="ko-KR" altLang="en-US"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注意力机制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与</a:t>
            </a:r>
            <a:r>
              <a:rPr sz="2400" b="1" spc="-2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Transformer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——这是</a:t>
            </a:r>
            <a:r>
              <a:rPr sz="2400" b="1" spc="-3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终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点吗</a:t>
            </a:r>
            <a:r>
              <a:rPr sz="2400" b="1" spc="-2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7850" y="421978"/>
            <a:ext cx="1026640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882230" y="1585246"/>
            <a:ext cx="86491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Char char="•"/>
              <a:tabLst>
                <a:tab pos="309245" algn="l"/>
              </a:tabLst>
            </a:pPr>
            <a:r>
              <a:rPr lang="ko-KR" altLang="en-US"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注意力机制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与</a:t>
            </a:r>
            <a:r>
              <a:rPr sz="2400" b="1" spc="-2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Transformer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——这是</a:t>
            </a:r>
            <a:r>
              <a:rPr sz="2400" b="1" spc="-3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终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点吗</a:t>
            </a:r>
            <a:r>
              <a:rPr sz="2400" b="1" spc="-2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93737"/>
              </a:buClr>
              <a:buFont typeface="Arial" panose="020B0604020202090204"/>
              <a:buChar char="•"/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766445" lvl="1" indent="-296545">
              <a:lnSpc>
                <a:spcPct val="100000"/>
              </a:lnSpc>
              <a:buChar char="•"/>
              <a:tabLst>
                <a:tab pos="7664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当前基于Transformer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的大语言模型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存在什么问题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？？</a:t>
            </a:r>
            <a:endParaRPr sz="24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428328"/>
            <a:ext cx="101076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71080" y="1902746"/>
            <a:ext cx="1089406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Char char="•"/>
              <a:tabLst>
                <a:tab pos="309245" algn="l"/>
              </a:tabLst>
            </a:pPr>
            <a:r>
              <a:rPr lang="ko-KR" altLang="en-US"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注意力机制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与</a:t>
            </a:r>
            <a:r>
              <a:rPr sz="2400" b="1" spc="-2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Transformer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——这是</a:t>
            </a:r>
            <a:r>
              <a:rPr sz="2400" b="1" spc="-3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终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点吗</a:t>
            </a:r>
            <a:r>
              <a:rPr sz="2400" b="1" spc="-2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93737"/>
              </a:buClr>
              <a:buFont typeface="Arial" panose="020B0604020202090204"/>
              <a:buChar char="•"/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766445" lvl="1" indent="-296545">
              <a:lnSpc>
                <a:spcPct val="100000"/>
              </a:lnSpc>
              <a:buChar char="•"/>
              <a:tabLst>
                <a:tab pos="7664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当前基于Transformer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的LLM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存在什么问题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？？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23645" lvl="2" indent="-296545">
              <a:lnSpc>
                <a:spcPct val="100000"/>
              </a:lnSpc>
              <a:buChar char="•"/>
              <a:tabLst>
                <a:tab pos="1223645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对内容的真正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理解 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vs.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 死记硬背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与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模式匹配</a:t>
            </a:r>
            <a:endParaRPr sz="2400" dirty="0">
              <a:latin typeface="Arial MT"/>
              <a:cs typeface="Arial MT"/>
            </a:endParaRPr>
          </a:p>
          <a:p>
            <a:pPr marL="1224280" marR="993140" lvl="2" indent="-297815">
              <a:lnSpc>
                <a:spcPct val="100000"/>
              </a:lnSpc>
              <a:buChar char="•"/>
              <a:tabLst>
                <a:tab pos="1224280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无法可靠地遵循规则——事实性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幻觉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，例如无法</a:t>
            </a:r>
            <a:r>
              <a:rPr sz="2400" spc="-25" dirty="0">
                <a:solidFill>
                  <a:srgbClr val="393737"/>
                </a:solidFill>
                <a:latin typeface="Arial MT"/>
                <a:cs typeface="Arial MT"/>
              </a:rPr>
              <a:t>进行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算术运算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548978"/>
            <a:ext cx="103489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46159" y="2334546"/>
            <a:ext cx="10894060" cy="2993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00"/>
              </a:spcBef>
              <a:buChar char="•"/>
              <a:tabLst>
                <a:tab pos="309245" algn="l"/>
              </a:tabLst>
            </a:pPr>
            <a:r>
              <a:rPr lang="ko-KR" altLang="en-US"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注意力机制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与</a:t>
            </a:r>
            <a:r>
              <a:rPr sz="2400" b="1" spc="-2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Transformer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——这是</a:t>
            </a:r>
            <a:r>
              <a:rPr sz="2400" b="1" spc="-3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终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点吗</a:t>
            </a:r>
            <a:r>
              <a:rPr sz="2400" b="1" spc="-2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93737"/>
              </a:buClr>
              <a:buFont typeface="Arial" panose="020B0604020202090204"/>
              <a:buChar char="•"/>
            </a:pPr>
            <a:endParaRPr sz="2400" dirty="0">
              <a:latin typeface="Arial" panose="020B0604020202090204"/>
              <a:cs typeface="Arial" panose="020B0604020202090204"/>
            </a:endParaRPr>
          </a:p>
          <a:p>
            <a:pPr marL="766445" lvl="1" indent="-296545">
              <a:lnSpc>
                <a:spcPct val="100000"/>
              </a:lnSpc>
              <a:buChar char="•"/>
              <a:tabLst>
                <a:tab pos="7664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当前基于Transformer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的LLM</a:t>
            </a: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存在什么问题</a:t>
            </a:r>
            <a:r>
              <a:rPr sz="2400" b="1" spc="-10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？？</a:t>
            </a:r>
            <a:endParaRPr sz="2400" dirty="0">
              <a:latin typeface="Arial" panose="020B0604020202090204"/>
              <a:cs typeface="Arial" panose="020B0604020202090204"/>
            </a:endParaRPr>
          </a:p>
          <a:p>
            <a:pPr marL="1223645" lvl="2" indent="-296545">
              <a:lnSpc>
                <a:spcPct val="100000"/>
              </a:lnSpc>
              <a:buChar char="•"/>
              <a:tabLst>
                <a:tab pos="1223645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对内容的真正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理解 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vs.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 死记硬背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与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模式匹配</a:t>
            </a:r>
            <a:endParaRPr sz="2400" dirty="0">
              <a:latin typeface="Arial MT"/>
              <a:cs typeface="Arial MT"/>
            </a:endParaRPr>
          </a:p>
          <a:p>
            <a:pPr marL="1224280" marR="993140" lvl="2" indent="-297815">
              <a:lnSpc>
                <a:spcPct val="100000"/>
              </a:lnSpc>
              <a:buChar char="•"/>
              <a:tabLst>
                <a:tab pos="1224280" algn="l"/>
              </a:tabLst>
            </a:pP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无法可靠地遵循规则——事实性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幻觉</a:t>
            </a:r>
            <a:r>
              <a:rPr sz="2400" dirty="0">
                <a:solidFill>
                  <a:srgbClr val="393737"/>
                </a:solidFill>
                <a:latin typeface="Arial MT"/>
                <a:cs typeface="Arial MT"/>
              </a:rPr>
              <a:t>，例如无法</a:t>
            </a:r>
            <a:r>
              <a:rPr sz="2400" spc="-25" dirty="0">
                <a:solidFill>
                  <a:srgbClr val="393737"/>
                </a:solidFill>
                <a:latin typeface="Arial MT"/>
                <a:cs typeface="Arial MT"/>
              </a:rPr>
              <a:t>进行</a:t>
            </a:r>
            <a:r>
              <a:rPr sz="2400" spc="-10" dirty="0">
                <a:solidFill>
                  <a:srgbClr val="393737"/>
                </a:solidFill>
                <a:latin typeface="Arial MT"/>
                <a:cs typeface="Arial MT"/>
              </a:rPr>
              <a:t>算术运算</a:t>
            </a:r>
            <a:endParaRPr sz="2400" dirty="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120"/>
              </a:spcBef>
              <a:buClr>
                <a:srgbClr val="393737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766445" lvl="1" indent="-296545">
              <a:lnSpc>
                <a:spcPct val="100000"/>
              </a:lnSpc>
              <a:buChar char="•"/>
              <a:tabLst>
                <a:tab pos="766445" algn="l"/>
              </a:tabLst>
            </a:pPr>
            <a:r>
              <a:rPr sz="2400" b="1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解决方案：</a:t>
            </a:r>
            <a:r>
              <a:rPr sz="2400" b="1" spc="-25" dirty="0">
                <a:solidFill>
                  <a:srgbClr val="393737"/>
                </a:solidFill>
                <a:latin typeface="Arial" panose="020B0604020202090204"/>
                <a:cs typeface="Arial" panose="020B0604020202090204"/>
              </a:rPr>
              <a:t>？？？</a:t>
            </a:r>
            <a:endParaRPr sz="2400" dirty="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900" y="580728"/>
            <a:ext cx="1044420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大语言模型时代——机器</a:t>
            </a:r>
            <a:r>
              <a:rPr spc="-10" dirty="0"/>
              <a:t>学习</a:t>
            </a:r>
            <a:r>
              <a:rPr dirty="0"/>
              <a:t>范式的转变</a:t>
            </a:r>
            <a:endParaRPr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72659" y="6407837"/>
            <a:ext cx="320774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altLang="ko-KR" spc="-25" smtClean="0"/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4277" rIns="0" bIns="0" rtlCol="0">
            <a:spAutoFit/>
          </a:bodyPr>
          <a:lstStyle/>
          <a:p>
            <a:pPr marL="414083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回顾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647751" y="1766764"/>
            <a:ext cx="10895965" cy="243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F1419"/>
                </a:solidFill>
                <a:latin typeface="Arial MT"/>
                <a:cs typeface="Arial MT"/>
              </a:rPr>
              <a:t>诚然，语言模型只是被</a:t>
            </a:r>
            <a:r>
              <a:rPr sz="2400" spc="-10" dirty="0">
                <a:solidFill>
                  <a:srgbClr val="0F1419"/>
                </a:solidFill>
                <a:latin typeface="Arial MT"/>
                <a:cs typeface="Arial MT"/>
              </a:rPr>
              <a:t>编程</a:t>
            </a:r>
            <a:r>
              <a:rPr sz="2400" dirty="0">
                <a:solidFill>
                  <a:srgbClr val="0F1419"/>
                </a:solidFill>
                <a:latin typeface="Arial MT"/>
                <a:cs typeface="Arial MT"/>
              </a:rPr>
              <a:t>用来预测下一个</a:t>
            </a:r>
            <a:r>
              <a:rPr sz="2400" spc="-10" dirty="0">
                <a:solidFill>
                  <a:srgbClr val="0F1419"/>
                </a:solidFill>
                <a:latin typeface="Arial MT"/>
                <a:cs typeface="Arial MT"/>
              </a:rPr>
              <a:t>词……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163195">
              <a:lnSpc>
                <a:spcPct val="100000"/>
              </a:lnSpc>
            </a:pPr>
            <a:r>
              <a:rPr sz="2400" dirty="0">
                <a:solidFill>
                  <a:srgbClr val="0F1419"/>
                </a:solidFill>
                <a:latin typeface="Arial MT"/>
                <a:cs typeface="Arial MT"/>
              </a:rPr>
              <a:t>事实上，包括我们在内的所有动物，本质上都是为了生存和</a:t>
            </a:r>
            <a:r>
              <a:rPr sz="2400" spc="-10" dirty="0">
                <a:solidFill>
                  <a:srgbClr val="0F1419"/>
                </a:solidFill>
                <a:latin typeface="Arial MT"/>
                <a:cs typeface="Arial MT"/>
              </a:rPr>
              <a:t>繁衍</a:t>
            </a:r>
            <a:r>
              <a:rPr sz="2400" dirty="0">
                <a:solidFill>
                  <a:srgbClr val="0F1419"/>
                </a:solidFill>
                <a:latin typeface="Arial MT"/>
                <a:cs typeface="Arial MT"/>
              </a:rPr>
              <a:t>而</a:t>
            </a:r>
            <a:r>
              <a:rPr sz="2400" spc="-10" dirty="0">
                <a:solidFill>
                  <a:srgbClr val="0F1419"/>
                </a:solidFill>
                <a:latin typeface="Arial MT"/>
                <a:cs typeface="Arial MT"/>
              </a:rPr>
              <a:t>存在的，</a:t>
            </a:r>
            <a:r>
              <a:rPr sz="2400" dirty="0">
                <a:solidFill>
                  <a:srgbClr val="0F1419"/>
                </a:solidFill>
                <a:latin typeface="Arial MT"/>
                <a:cs typeface="Arial MT"/>
              </a:rPr>
              <a:t>然而，</a:t>
            </a:r>
            <a:r>
              <a:rPr sz="2400" spc="-25" dirty="0">
                <a:solidFill>
                  <a:srgbClr val="0F1419"/>
                </a:solidFill>
                <a:latin typeface="Arial MT"/>
                <a:cs typeface="Arial MT"/>
              </a:rPr>
              <a:t>正是这种本能</a:t>
            </a:r>
            <a:r>
              <a:rPr sz="2400" dirty="0">
                <a:solidFill>
                  <a:srgbClr val="0F1419"/>
                </a:solidFill>
                <a:latin typeface="Arial MT"/>
                <a:cs typeface="Arial MT"/>
              </a:rPr>
              <a:t>催生出了令人惊叹的复杂与美好</a:t>
            </a:r>
            <a:r>
              <a:rPr sz="2400" spc="-25" dirty="0">
                <a:solidFill>
                  <a:srgbClr val="0F1419"/>
                </a:solidFill>
                <a:latin typeface="Arial MT"/>
                <a:cs typeface="Arial MT"/>
              </a:rPr>
              <a:t>。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400" b="1" dirty="0">
                <a:solidFill>
                  <a:srgbClr val="0F1419"/>
                </a:solidFill>
                <a:latin typeface="Arial" panose="020B0604020202090204"/>
                <a:cs typeface="Arial" panose="020B0604020202090204"/>
              </a:rPr>
              <a:t>- 萨姆</a:t>
            </a:r>
            <a:r>
              <a:rPr sz="2400" b="1" spc="-10" dirty="0">
                <a:solidFill>
                  <a:srgbClr val="0F1419"/>
                </a:solidFill>
                <a:latin typeface="Arial" panose="020B0604020202090204"/>
                <a:cs typeface="Arial" panose="020B0604020202090204"/>
              </a:rPr>
              <a:t>·阿尔特曼*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1400" b="1" spc="-10" dirty="0">
                <a:solidFill>
                  <a:srgbClr val="0F1419"/>
                </a:solidFill>
                <a:latin typeface="Arial" panose="020B0604020202090204"/>
                <a:cs typeface="Arial" panose="020B0604020202090204"/>
              </a:rPr>
              <a:t>*意译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7076</Words>
  <Application>WPS 演示</Application>
  <PresentationFormat>宽屏</PresentationFormat>
  <Paragraphs>1003</Paragraphs>
  <Slides>65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65</vt:i4>
      </vt:variant>
    </vt:vector>
  </HeadingPairs>
  <TitlesOfParts>
    <vt:vector size="92" baseType="lpstr">
      <vt:lpstr>Arial</vt:lpstr>
      <vt:lpstr>宋体</vt:lpstr>
      <vt:lpstr>Wingdings</vt:lpstr>
      <vt:lpstr>Calibri</vt:lpstr>
      <vt:lpstr>Helvetica Neue</vt:lpstr>
      <vt:lpstr>Times New Roman</vt:lpstr>
      <vt:lpstr>Arial</vt:lpstr>
      <vt:lpstr>Arial MT</vt:lpstr>
      <vt:lpstr>Cambria Math</vt:lpstr>
      <vt:lpstr>Aptos</vt:lpstr>
      <vt:lpstr>宋体</vt:lpstr>
      <vt:lpstr>汉仪书宋二KW</vt:lpstr>
      <vt:lpstr>微软雅黑</vt:lpstr>
      <vt:lpstr>汉仪旗黑</vt:lpstr>
      <vt:lpstr>Arial Unicode MS</vt:lpstr>
      <vt:lpstr>Malgun Gothic</vt:lpstr>
      <vt:lpstr>Apple SD Gothic Neo</vt:lpstr>
      <vt:lpstr>Aptos Display</vt:lpstr>
      <vt:lpstr>等线</vt:lpstr>
      <vt:lpstr>汉仪中等线KW</vt:lpstr>
      <vt:lpstr>等线 Light</vt:lpstr>
      <vt:lpstr>Kingsoft Math</vt:lpstr>
      <vt:lpstr>Arial MT</vt:lpstr>
      <vt:lpstr>Times New Roman</vt:lpstr>
      <vt:lpstr>DejaVu Math TeX Gyre</vt:lpstr>
      <vt:lpstr>Office 主题​​</vt:lpstr>
      <vt:lpstr>Office Theme</vt:lpstr>
      <vt:lpstr>PowerPoint 演示文稿</vt:lpstr>
      <vt:lpstr>如何训练和微调Transformer模型</vt:lpstr>
      <vt:lpstr>如何训练和微调 Transformer 模型</vt:lpstr>
      <vt:lpstr>如何训练和微调 Transformer 模型</vt:lpstr>
      <vt:lpstr>如何训练和微调 Transformer 模型</vt:lpstr>
      <vt:lpstr>参数高效微调技术</vt:lpstr>
      <vt:lpstr>参数高效微调技术</vt:lpstr>
      <vt:lpstr>参数高效微调技术</vt:lpstr>
      <vt:lpstr>PowerPoint 演示文稿</vt:lpstr>
      <vt:lpstr>Tranformer</vt:lpstr>
      <vt:lpstr>数据模态</vt:lpstr>
      <vt:lpstr>计算机视觉</vt:lpstr>
      <vt:lpstr>计算机视觉 - token化</vt:lpstr>
      <vt:lpstr>Vision Transformer (ViT) 模型架构</vt:lpstr>
      <vt:lpstr>ViT - 模式学习</vt:lpstr>
      <vt:lpstr>ViT 性能</vt:lpstr>
      <vt:lpstr>音频</vt:lpstr>
      <vt:lpstr>多模态Transformer - UniT</vt:lpstr>
      <vt:lpstr>多模态Transformer - UniT</vt:lpstr>
      <vt:lpstr>多模态Transformer - LLaVA</vt:lpstr>
      <vt:lpstr>多模态Transformer - LLaVA</vt:lpstr>
      <vt:lpstr>PowerPoint 演示文稿</vt:lpstr>
      <vt:lpstr>Transformer，2017年年中</vt:lpstr>
      <vt:lpstr>2018年——LLM时代的开端</vt:lpstr>
      <vt:lpstr>BERT - 双向编码器</vt:lpstr>
      <vt:lpstr>PowerPoint 演示文稿</vt:lpstr>
      <vt:lpstr>BERT - 双向编码器</vt:lpstr>
      <vt:lpstr>BERT - 双向编码器</vt:lpstr>
      <vt:lpstr>BERT - 双向编码器</vt:lpstr>
      <vt:lpstr>BERT - 双向编码器</vt:lpstr>
      <vt:lpstr>BERT - 双向编码器</vt:lpstr>
      <vt:lpstr>BERT - 双向编码器</vt:lpstr>
      <vt:lpstr>BERT - 双向编码器</vt:lpstr>
      <vt:lpstr>BERT - 双向编码器</vt:lpstr>
      <vt:lpstr>BERT - 双向编码器</vt:lpstr>
      <vt:lpstr>BERT - 双向编码器</vt:lpstr>
      <vt:lpstr>BERT - 双向编码器</vt:lpstr>
      <vt:lpstr>2018年——LLM时代的开端</vt:lpstr>
      <vt:lpstr>GPT –</vt:lpstr>
      <vt:lpstr>GPT –</vt:lpstr>
      <vt:lpstr>GPT –</vt:lpstr>
      <vt:lpstr>GPT –</vt:lpstr>
      <vt:lpstr>GPT –</vt:lpstr>
      <vt:lpstr>GPT –</vt:lpstr>
      <vt:lpstr>PowerPoint 演示文稿</vt:lpstr>
      <vt:lpstr>投票 3 - @1579</vt:lpstr>
      <vt:lpstr>投票 3 - @1579</vt:lpstr>
      <vt:lpstr>大语言模型时代——机器学习范式的转变</vt:lpstr>
      <vt:lpstr>大语言模型时代——机器学习的范式转变</vt:lpstr>
      <vt:lpstr>大语言模型时代——机器学习范式的转变</vt:lpstr>
      <vt:lpstr>大语言模型时代——机器学习范式的转变</vt:lpstr>
      <vt:lpstr>大语言模型时代——机器学习范式的转变</vt:lpstr>
      <vt:lpstr>大语言模型时代——机器学习范式的转变</vt:lpstr>
      <vt:lpstr>大语言模型时代——机器学习范式的转变</vt:lpstr>
      <vt:lpstr>大语言模型时代——机器学习的范式转变</vt:lpstr>
      <vt:lpstr>大语言模型时代——机器学习的范式转变</vt:lpstr>
      <vt:lpstr>大语言模型时代——机器学习范式的转变</vt:lpstr>
      <vt:lpstr>大语言模型时代——机器学习领域的范式转变</vt:lpstr>
      <vt:lpstr>大语言模型时代——机器学习范式转变</vt:lpstr>
      <vt:lpstr>大语言模型时代——机器学习的范式转变</vt:lpstr>
      <vt:lpstr>大语言模型时代——机器学习范式的转变</vt:lpstr>
      <vt:lpstr>大语言模型时代——机器学习范式的转变</vt:lpstr>
      <vt:lpstr>大语言模型时代——机器学习范式的转变</vt:lpstr>
      <vt:lpstr>大语言模型时代——机器学习范式的转变</vt:lpstr>
      <vt:lpstr>回顾</vt:lpstr>
    </vt:vector>
  </TitlesOfParts>
  <Company>Ajou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Xiaohan Ma</dc:creator>
  <cp:keywords>, docId:C352F33E387E16C741C6ED893DC1616D</cp:keywords>
  <cp:lastModifiedBy>幽灵</cp:lastModifiedBy>
  <cp:revision>9</cp:revision>
  <dcterms:created xsi:type="dcterms:W3CDTF">2026-04-03T06:04:54Z</dcterms:created>
  <dcterms:modified xsi:type="dcterms:W3CDTF">2026-04-03T06:04:54Z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28D00F1892809A16554DCF69D2266D2A_42</vt:lpwstr>
  </property>
</Properties>
</file>